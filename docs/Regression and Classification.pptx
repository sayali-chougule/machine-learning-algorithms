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y="6858000" cx="12192000"/>
  <p:notesSz cx="6858000" cy="9144000"/>
  <p:embeddedFontLst>
    <p:embeddedFont>
      <p:font typeface="Gill Sans"/>
      <p:regular r:id="rId87"/>
      <p:bold r:id="rId8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9" roundtripDataSignature="AMtx7mjaZQy7p+n6ZLaWjRjfLY876YFE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8C4CEB-0DE2-40C8-97EE-B0444A21FD5C}">
  <a:tblStyle styleId="{728C4CEB-0DE2-40C8-97EE-B0444A21FD5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font" Target="fonts/GillSans-bold.fntdata"/><Relationship Id="rId43" Type="http://schemas.openxmlformats.org/officeDocument/2006/relationships/slide" Target="slides/slide38.xml"/><Relationship Id="rId87" Type="http://schemas.openxmlformats.org/officeDocument/2006/relationships/font" Target="fonts/GillSans-regular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customschemas.google.com/relationships/presentationmetadata" Target="meta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059293689_2_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7059293689_2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7059293689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7059293689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059293689_2_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7059293689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059293689_2_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7059293689_2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d09271f0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ad09271f0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ad09271f0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d09271f0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d09271f0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ad09271f0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92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9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3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indent="-3048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5pPr>
            <a:lvl6pPr indent="-3048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29" name="Google Shape;29;p9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0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0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0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0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38" name="Google Shape;38;p50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1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1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1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6" name="Google Shape;46;p5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2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2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52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52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52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56" name="Google Shape;56;p52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4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5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64" name="Google Shape;64;p54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55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67" name="Google Shape;67;p55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33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55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" name="Google Shape;69;p55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5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1" name="Google Shape;71;p55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55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5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75" name="Google Shape;75;p55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5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82" name="Google Shape;82;p56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7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7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5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89" name="Google Shape;89;p57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45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5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4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" name="Google Shape;15;p4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4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7" name="Google Shape;17;p45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0" y="2414705"/>
            <a:ext cx="12298680" cy="4316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065" marR="5080" rtl="0" algn="ctr">
              <a:lnSpc>
                <a:spcPct val="140800"/>
              </a:lnSpc>
              <a:spcBef>
                <a:spcPts val="95"/>
              </a:spcBef>
              <a:spcAft>
                <a:spcPts val="0"/>
              </a:spcAft>
              <a:buClr>
                <a:srgbClr val="252525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 and Classification</a:t>
            </a:r>
            <a:endParaRPr/>
          </a:p>
          <a:p>
            <a:pPr indent="0" lvl="0" marL="12065" marR="5080" rtl="0" algn="ctr">
              <a:lnSpc>
                <a:spcPct val="140800"/>
              </a:lnSpc>
              <a:spcBef>
                <a:spcPts val="95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/>
          </a:p>
          <a:p>
            <a:pPr indent="0" lvl="0" marL="12065" marR="5080" rtl="0" algn="ctr">
              <a:lnSpc>
                <a:spcPct val="140800"/>
              </a:lnSpc>
              <a:spcBef>
                <a:spcPts val="95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Mrs. Sujeeta S. Shah</a:t>
            </a:r>
            <a:endParaRPr/>
          </a:p>
          <a:p>
            <a:pPr indent="0" lvl="0" marL="12065" marR="5080" rtl="0" algn="ctr">
              <a:lnSpc>
                <a:spcPct val="140800"/>
              </a:lnSpc>
              <a:spcBef>
                <a:spcPts val="95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baseline="30000" i="0" lang="en-IN" sz="28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i="0" lang="en-IN" sz="28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Sept. 2025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29894" marR="422909" rtl="0" algn="ctr">
              <a:lnSpc>
                <a:spcPct val="1408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Engineering(AIML&amp;DS)</a:t>
            </a:r>
            <a:endParaRPr/>
          </a:p>
          <a:p>
            <a:pPr indent="0" lvl="0" marL="429894" marR="422909" rtl="0" algn="ctr">
              <a:lnSpc>
                <a:spcPct val="1408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AcademicYear - 2024-25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29894" marR="422909" rtl="0" algn="ctr">
              <a:lnSpc>
                <a:spcPct val="140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9663" y="121753"/>
            <a:ext cx="4052674" cy="1891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415600" y="2115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6"/>
              <a:buNone/>
            </a:pPr>
            <a:r>
              <a:rPr lang="en-IN"/>
              <a:t>Contents: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415600" y="828135"/>
            <a:ext cx="11360800" cy="543649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0" lvl="0" marL="1523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None/>
            </a:pPr>
            <a:r>
              <a:rPr b="1" lang="en-IN"/>
              <a:t>Regression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Simple linear regression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Multiple linear regression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Assumptions in regression analysis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Other regression techniques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Improving the accuracy of the linear regression model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Polynomial regression model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Logistic regression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Support Vector Machines</a:t>
            </a:r>
            <a:endParaRPr/>
          </a:p>
          <a:p>
            <a:pPr indent="0" lvl="0" marL="15239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None/>
            </a:pPr>
            <a:r>
              <a:rPr b="1" lang="en-IN"/>
              <a:t>Decision Trees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Definition, terminology, the need, advantages, and limitations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Constructing and understanding decision trees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Common problems with decision trees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Decision tree algorithms – ID3, Random Forest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Examples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Cross-validation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Confusion matrix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Char char="●"/>
            </a:pPr>
            <a:r>
              <a:rPr lang="en-IN"/>
              <a:t>Precision–recall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ct val="9729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0" y="238690"/>
            <a:ext cx="5885569" cy="5660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400"/>
              <a:t>1. Introduction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400"/>
              <a:t>In </a:t>
            </a:r>
            <a:r>
              <a:rPr b="1" lang="en-IN" sz="2400"/>
              <a:t>Machine Learning (ML)</a:t>
            </a:r>
            <a:r>
              <a:rPr lang="en-IN" sz="2400"/>
              <a:t>, computers learn from data and make predictions or decisions </a:t>
            </a:r>
            <a:r>
              <a:rPr b="1" lang="en-IN" sz="2400"/>
              <a:t>without being directly programmed</a:t>
            </a:r>
            <a:r>
              <a:rPr lang="en-IN" sz="2400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400"/>
              <a:t>Supervised Learning is the most common type — it uses </a:t>
            </a:r>
            <a:r>
              <a:rPr b="1" lang="en-IN" sz="2400"/>
              <a:t>input–output pairs</a:t>
            </a:r>
            <a:r>
              <a:rPr lang="en-IN" sz="2400"/>
              <a:t> to train the model.</a:t>
            </a:r>
            <a:br>
              <a:rPr lang="en-IN" sz="2400"/>
            </a:br>
            <a:r>
              <a:rPr lang="en-IN" sz="2400"/>
              <a:t>There are </a:t>
            </a:r>
            <a:r>
              <a:rPr b="1" lang="en-IN" sz="2400"/>
              <a:t>two main types</a:t>
            </a:r>
            <a:r>
              <a:rPr lang="en-IN" sz="2400"/>
              <a:t> of Supervised Learning: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400"/>
              <a:t>Regression</a:t>
            </a:r>
            <a:endParaRPr sz="24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400"/>
              <a:t>Classification</a:t>
            </a:r>
            <a:endParaRPr sz="2400"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5570" y="238690"/>
            <a:ext cx="5972133" cy="5247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 sz="4400">
                <a:solidFill>
                  <a:schemeClr val="dk1"/>
                </a:solidFill>
              </a:rPr>
              <a:t>Basic Idea</a:t>
            </a:r>
            <a:endParaRPr/>
          </a:p>
        </p:txBody>
      </p:sp>
      <p:graphicFrame>
        <p:nvGraphicFramePr>
          <p:cNvPr id="113" name="Google Shape;113;p6"/>
          <p:cNvGraphicFramePr/>
          <p:nvPr/>
        </p:nvGraphicFramePr>
        <p:xfrm>
          <a:off x="717430" y="2124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{728C4CEB-0DE2-40C8-97EE-B0444A21FD5C}</a:tableStyleId>
              </a:tblPr>
              <a:tblGrid>
                <a:gridCol w="2543350"/>
                <a:gridCol w="4623750"/>
                <a:gridCol w="4123425"/>
              </a:tblGrid>
              <a:tr h="96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Concept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Question it Answers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Type of Output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/>
                        <a:t>Regression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“How much?” or “What value?”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Continuous value (numbers)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/>
                        <a:t>Classification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“Which type?” or “Yes/No?”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/>
                        <a:t>Category or 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type="title"/>
          </p:nvPr>
        </p:nvSpPr>
        <p:spPr>
          <a:xfrm>
            <a:off x="1451579" y="342420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Regression (Prediction of Continuous Values)</a:t>
            </a:r>
            <a:endParaRPr/>
          </a:p>
        </p:txBody>
      </p:sp>
      <p:sp>
        <p:nvSpPr>
          <p:cNvPr id="119" name="Google Shape;119;p7"/>
          <p:cNvSpPr txBox="1"/>
          <p:nvPr>
            <p:ph idx="1" type="body"/>
          </p:nvPr>
        </p:nvSpPr>
        <p:spPr>
          <a:xfrm>
            <a:off x="838200" y="971168"/>
            <a:ext cx="11066253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400"/>
              <a:t>Definition: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400"/>
              <a:t>Regression is a </a:t>
            </a:r>
            <a:r>
              <a:rPr b="1" lang="en-IN" sz="2400"/>
              <a:t>supervised learning technique</a:t>
            </a:r>
            <a:r>
              <a:rPr lang="en-IN" sz="2400"/>
              <a:t> used to predict a </a:t>
            </a:r>
            <a:r>
              <a:rPr b="1" lang="en-IN" sz="2400"/>
              <a:t>continuous output variable</a:t>
            </a:r>
            <a:r>
              <a:rPr lang="en-IN" sz="2400"/>
              <a:t> (numeric value) based on one or more input variables.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400"/>
              <a:t>Example</a:t>
            </a:r>
            <a:endParaRPr/>
          </a:p>
        </p:txBody>
      </p:sp>
      <p:graphicFrame>
        <p:nvGraphicFramePr>
          <p:cNvPr id="120" name="Google Shape;120;p7"/>
          <p:cNvGraphicFramePr/>
          <p:nvPr/>
        </p:nvGraphicFramePr>
        <p:xfrm>
          <a:off x="707366" y="38121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{728C4CEB-0DE2-40C8-97EE-B0444A21FD5C}</a:tableStyleId>
              </a:tblPr>
              <a:tblGrid>
                <a:gridCol w="4295950"/>
                <a:gridCol w="3968150"/>
                <a:gridCol w="226012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Example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Input (X)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Output (Y)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IN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Predicting engine temperature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Speed, load, coolant flow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Temperature (°C)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IN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Predicting material stress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Force applied, cross-section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Stress (MPa)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Predicting fuel consumption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Engine speed, torque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Liters/hour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813225" y="411219"/>
            <a:ext cx="11108481" cy="50406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6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Example: Predicting temperature as speed increases</a:t>
            </a:r>
            <a:endParaRPr/>
          </a:p>
        </p:txBody>
      </p:sp>
      <p:pic>
        <p:nvPicPr>
          <p:cNvPr id="131" name="Google Shape;131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2970" y="1981712"/>
            <a:ext cx="4906060" cy="4039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/>
          <p:nvPr>
            <p:ph idx="1" type="body"/>
          </p:nvPr>
        </p:nvSpPr>
        <p:spPr>
          <a:xfrm>
            <a:off x="532606" y="122538"/>
            <a:ext cx="11126787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1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/>
          </a:p>
          <a:p>
            <a:pPr indent="0" lvl="0" marL="101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 Classification (Prediction of Categories)</a:t>
            </a:r>
            <a:endParaRPr/>
          </a:p>
          <a:p>
            <a:pPr indent="0" lvl="0" marL="101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 Definition: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Classification is used when the output belongs to a </a:t>
            </a:r>
            <a:r>
              <a:rPr b="1" lang="en-IN"/>
              <a:t>specific category or class</a:t>
            </a:r>
            <a:r>
              <a:rPr lang="en-IN"/>
              <a:t> — not a number.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Example</a:t>
            </a:r>
            <a:endParaRPr/>
          </a:p>
        </p:txBody>
      </p:sp>
      <p:graphicFrame>
        <p:nvGraphicFramePr>
          <p:cNvPr id="137" name="Google Shape;137;p10"/>
          <p:cNvGraphicFramePr/>
          <p:nvPr/>
        </p:nvGraphicFramePr>
        <p:xfrm>
          <a:off x="1173051" y="3792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{728C4CEB-0DE2-40C8-97EE-B0444A21FD5C}</a:tableStyleId>
              </a:tblPr>
              <a:tblGrid>
                <a:gridCol w="4197450"/>
                <a:gridCol w="3812150"/>
                <a:gridCol w="25060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Example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Input (X)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Output (Y)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Predicting machine condition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Vibration, sound, temperature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“Normal” or “Faulty”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Identifying metal quality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Composition data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“Good” or “Poor”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Safety test result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Pressure, temperature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“Pass” or “Fail”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idx="1" type="body"/>
          </p:nvPr>
        </p:nvSpPr>
        <p:spPr>
          <a:xfrm>
            <a:off x="620612" y="302843"/>
            <a:ext cx="10950776" cy="50290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33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Key Differences Between Regression &amp; Classification</a:t>
            </a:r>
            <a:endParaRPr/>
          </a:p>
        </p:txBody>
      </p:sp>
      <p:graphicFrame>
        <p:nvGraphicFramePr>
          <p:cNvPr id="148" name="Google Shape;148;p12"/>
          <p:cNvGraphicFramePr/>
          <p:nvPr/>
        </p:nvGraphicFramePr>
        <p:xfrm>
          <a:off x="521035" y="218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{728C4CEB-0DE2-40C8-97EE-B0444A21FD5C}</a:tableStyleId>
              </a:tblPr>
              <a:tblGrid>
                <a:gridCol w="1728600"/>
                <a:gridCol w="5066525"/>
                <a:gridCol w="457102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Regression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Classification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Output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Continuous (numeric)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Discrete (category)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Example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Predicting stress in a beam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Predicting beam failure (Yes/No)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Graph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Line or curve fitting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Decision boundaries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Evaluation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Mean Square Error (MSE), R²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Accuracy, Precision, Recall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Algorithms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Linear Regression, Polynomial Regression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Logistic Regression, Decision Tree, SVM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/>
          <p:nvPr/>
        </p:nvSpPr>
        <p:spPr>
          <a:xfrm>
            <a:off x="3477296" y="232955"/>
            <a:ext cx="7307259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Real-Life Applications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4" name="Google Shape;154;p13"/>
          <p:cNvGraphicFramePr/>
          <p:nvPr/>
        </p:nvGraphicFramePr>
        <p:xfrm>
          <a:off x="569179" y="1339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{728C4CEB-0DE2-40C8-97EE-B0444A21FD5C}</a:tableStyleId>
              </a:tblPr>
              <a:tblGrid>
                <a:gridCol w="3719950"/>
                <a:gridCol w="3880975"/>
                <a:gridCol w="4021900"/>
              </a:tblGrid>
              <a:tr h="59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Domain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Regression Example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Classification Example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Manufacturing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Predicting tool wear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Detecting defective parts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Thermal Systems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Predicting temperature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Detecting overheating risk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Vehicle Engineering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Predicting fuel usage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Predicting brake failure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Maintenance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Predicting machine life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IN" sz="2700" u="none" cap="none" strike="noStrike"/>
                        <a:t>Predicting failure type</a:t>
                      </a:r>
                      <a:endParaRPr/>
                    </a:p>
                  </a:txBody>
                  <a:tcPr marT="67625" marB="67625" marR="135250" marL="13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type="title"/>
          </p:nvPr>
        </p:nvSpPr>
        <p:spPr>
          <a:xfrm>
            <a:off x="1451578" y="160986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Regression</a:t>
            </a:r>
            <a:endParaRPr/>
          </a:p>
        </p:txBody>
      </p:sp>
      <p:sp>
        <p:nvSpPr>
          <p:cNvPr id="160" name="Google Shape;160;p14"/>
          <p:cNvSpPr txBox="1"/>
          <p:nvPr>
            <p:ph idx="1" type="body"/>
          </p:nvPr>
        </p:nvSpPr>
        <p:spPr>
          <a:xfrm>
            <a:off x="437882" y="682581"/>
            <a:ext cx="11754117" cy="553791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0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idx="1" type="body"/>
          </p:nvPr>
        </p:nvSpPr>
        <p:spPr>
          <a:xfrm>
            <a:off x="436015" y="392994"/>
            <a:ext cx="11319970" cy="554416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Google Shape;170;p16"/>
          <p:cNvGraphicFramePr/>
          <p:nvPr/>
        </p:nvGraphicFramePr>
        <p:xfrm>
          <a:off x="1232585" y="33935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{728C4CEB-0DE2-40C8-97EE-B0444A21FD5C}</a:tableStyleId>
              </a:tblPr>
              <a:tblGrid>
                <a:gridCol w="3833350"/>
                <a:gridCol w="383335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Engine Speed (RPM)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Fuel Consumption (L/hr)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1000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3.2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1500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4.5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2000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5.1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2500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6.0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3000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6.8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16"/>
          <p:cNvSpPr/>
          <p:nvPr/>
        </p:nvSpPr>
        <p:spPr>
          <a:xfrm>
            <a:off x="838200" y="311610"/>
            <a:ext cx="10472739" cy="2862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Predict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fuel consumption (Y)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an engine based on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 speed (X)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applying regression: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Y=1.5+0.002XY = 1.5 + 0.002XY=1.5+0.002X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Interpretation: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every 1000 RPM increase in engine speed, fuel consumption increases by approximately 2 L/hr.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277585" y="233019"/>
            <a:ext cx="1191441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The closer the data lies to the line, the better the regression model.</a:t>
            </a:r>
            <a:endParaRPr/>
          </a:p>
        </p:txBody>
      </p:sp>
      <p:pic>
        <p:nvPicPr>
          <p:cNvPr id="177" name="Google Shape;1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470" y="1161733"/>
            <a:ext cx="4725059" cy="4534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8"/>
          <p:cNvSpPr txBox="1"/>
          <p:nvPr>
            <p:ph type="title"/>
          </p:nvPr>
        </p:nvSpPr>
        <p:spPr>
          <a:xfrm>
            <a:off x="0" y="0"/>
            <a:ext cx="12192000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 sz="2800"/>
              <a:t>Example: Predicting </a:t>
            </a:r>
            <a:r>
              <a:rPr b="1" lang="en-IN" sz="2800"/>
              <a:t>fuel consumption (Y)</a:t>
            </a:r>
            <a:r>
              <a:rPr lang="en-IN" sz="2800"/>
              <a:t> based on </a:t>
            </a:r>
            <a:r>
              <a:rPr b="1" lang="en-IN" sz="2800"/>
              <a:t>engine speed (X)</a:t>
            </a:r>
            <a:r>
              <a:rPr lang="en-IN" sz="2800"/>
              <a:t>.</a:t>
            </a:r>
            <a:endParaRPr sz="2800"/>
          </a:p>
        </p:txBody>
      </p:sp>
      <p:pic>
        <p:nvPicPr>
          <p:cNvPr id="183" name="Google Shape;18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24617"/>
            <a:ext cx="8088418" cy="6333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7520" y="2238941"/>
            <a:ext cx="4334480" cy="341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Multiple Linear Regression</a:t>
            </a:r>
            <a:endParaRPr/>
          </a:p>
        </p:txBody>
      </p:sp>
      <p:sp>
        <p:nvSpPr>
          <p:cNvPr id="190" name="Google Shape;190;p59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0"/>
          <p:cNvSpPr txBox="1"/>
          <p:nvPr>
            <p:ph type="title"/>
          </p:nvPr>
        </p:nvSpPr>
        <p:spPr>
          <a:xfrm>
            <a:off x="399245" y="340880"/>
            <a:ext cx="1179275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 sz="2400"/>
              <a:t>The model calculates the effect of both temperature and speed on fuel consumption.</a:t>
            </a:r>
            <a:endParaRPr sz="2400"/>
          </a:p>
        </p:txBody>
      </p:sp>
      <p:pic>
        <p:nvPicPr>
          <p:cNvPr id="196" name="Google Shape;196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1608" y="936422"/>
            <a:ext cx="6676786" cy="5962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5290" y="0"/>
            <a:ext cx="786390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8612" y="1298505"/>
            <a:ext cx="4201111" cy="3705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" type="body"/>
          </p:nvPr>
        </p:nvSpPr>
        <p:spPr>
          <a:xfrm>
            <a:off x="749450" y="513503"/>
            <a:ext cx="11154079" cy="5119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Applications in Mechanical Engineering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Predicting </a:t>
            </a:r>
            <a:r>
              <a:rPr b="1" lang="en-IN" sz="2800"/>
              <a:t>tool wear</a:t>
            </a:r>
            <a:r>
              <a:rPr lang="en-IN" sz="2800"/>
              <a:t> based on cutting time.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Estimating </a:t>
            </a:r>
            <a:r>
              <a:rPr b="1" lang="en-IN" sz="2800"/>
              <a:t>fuel efficiency</a:t>
            </a:r>
            <a:r>
              <a:rPr lang="en-IN" sz="2800"/>
              <a:t> based on engine parameters.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Forecasting </a:t>
            </a:r>
            <a:r>
              <a:rPr b="1" lang="en-IN" sz="2800"/>
              <a:t>stress</a:t>
            </a:r>
            <a:r>
              <a:rPr lang="en-IN" sz="2800"/>
              <a:t> based on applied load.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Modeling </a:t>
            </a:r>
            <a:r>
              <a:rPr b="1" lang="en-IN" sz="2800"/>
              <a:t>temperature variation</a:t>
            </a:r>
            <a:r>
              <a:rPr lang="en-IN" sz="2800"/>
              <a:t> with time in thermal systems.</a:t>
            </a:r>
            <a:endParaRPr/>
          </a:p>
          <a:p>
            <a:pPr indent="0" lvl="0" marL="101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type="title"/>
          </p:nvPr>
        </p:nvSpPr>
        <p:spPr>
          <a:xfrm>
            <a:off x="1010707" y="1187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Polynomial Regression</a:t>
            </a:r>
            <a:endParaRPr/>
          </a:p>
        </p:txBody>
      </p:sp>
      <p:sp>
        <p:nvSpPr>
          <p:cNvPr id="213" name="Google Shape;213;p19"/>
          <p:cNvSpPr txBox="1"/>
          <p:nvPr>
            <p:ph idx="1" type="body"/>
          </p:nvPr>
        </p:nvSpPr>
        <p:spPr>
          <a:xfrm>
            <a:off x="439207" y="1052346"/>
            <a:ext cx="11366350" cy="5021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55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3529"/>
              <a:buChar char="•"/>
            </a:pPr>
            <a:r>
              <a:rPr b="1" lang="en-IN" sz="3200"/>
              <a:t>Polynomial Regression</a:t>
            </a:r>
            <a:r>
              <a:rPr lang="en-IN" sz="3200"/>
              <a:t> is a type of regression technique that models the relationship between the dependent variable (</a:t>
            </a:r>
            <a:r>
              <a:rPr b="1" lang="en-IN" sz="3200"/>
              <a:t>Y</a:t>
            </a:r>
            <a:r>
              <a:rPr lang="en-IN" sz="3200"/>
              <a:t>) and the independent variable (</a:t>
            </a:r>
            <a:r>
              <a:rPr b="1" lang="en-IN" sz="3200"/>
              <a:t>X</a:t>
            </a:r>
            <a:r>
              <a:rPr lang="en-IN" sz="3200"/>
              <a:t>) as an </a:t>
            </a:r>
            <a:r>
              <a:rPr b="1" lang="en-IN" sz="3200"/>
              <a:t>n-th degree polynomial</a:t>
            </a:r>
            <a:r>
              <a:rPr lang="en-IN" sz="3200"/>
              <a:t>.</a:t>
            </a:r>
            <a:endParaRPr/>
          </a:p>
          <a:p>
            <a:pPr indent="-228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3529"/>
              <a:buNone/>
            </a:pPr>
            <a:r>
              <a:t/>
            </a:r>
            <a:endParaRPr sz="3200"/>
          </a:p>
          <a:p>
            <a:pPr indent="-355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3529"/>
              <a:buChar char="•"/>
            </a:pPr>
            <a:r>
              <a:rPr lang="en-IN" sz="3200"/>
              <a:t>Unlike simple linear regression (which fits a straight line), polynomial regression can fit </a:t>
            </a:r>
            <a:r>
              <a:rPr b="1" lang="en-IN" sz="3200"/>
              <a:t>curved or non-linear data</a:t>
            </a:r>
            <a:r>
              <a:rPr lang="en-IN" sz="3200"/>
              <a:t> by including higher powers of X (such as X², X³, etc.).</a:t>
            </a:r>
            <a:endParaRPr/>
          </a:p>
          <a:p>
            <a:pPr indent="-228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3529"/>
              <a:buNone/>
            </a:pPr>
            <a:r>
              <a:t/>
            </a:r>
            <a:endParaRPr sz="3200"/>
          </a:p>
          <a:p>
            <a:pPr indent="-355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3529"/>
              <a:buChar char="•"/>
            </a:pPr>
            <a:r>
              <a:rPr lang="en-IN" sz="3200"/>
              <a:t>It is especially useful when the data shows </a:t>
            </a:r>
            <a:r>
              <a:rPr b="1" lang="en-IN" sz="3200"/>
              <a:t>curvature</a:t>
            </a:r>
            <a:r>
              <a:rPr lang="en-IN" sz="3200"/>
              <a:t> instead of a straight-line trend.</a:t>
            </a:r>
            <a:endParaRPr/>
          </a:p>
          <a:p>
            <a:pPr indent="-228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3529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idx="1" type="body"/>
          </p:nvPr>
        </p:nvSpPr>
        <p:spPr>
          <a:xfrm>
            <a:off x="749451" y="382875"/>
            <a:ext cx="11023449" cy="57893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8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929065" y="578818"/>
            <a:ext cx="10680549" cy="5658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How It Works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Start with a dataset showing a </a:t>
            </a:r>
            <a:r>
              <a:rPr b="1" lang="en-IN" sz="2800"/>
              <a:t>non-linear relationship</a:t>
            </a:r>
            <a:r>
              <a:rPr lang="en-IN" sz="2800"/>
              <a:t> between X and Y.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Instead of fitting a straight line, we fit a </a:t>
            </a:r>
            <a:r>
              <a:rPr b="1" lang="en-IN" sz="2800"/>
              <a:t>curve</a:t>
            </a:r>
            <a:r>
              <a:rPr lang="en-IN" sz="2800"/>
              <a:t> using higher-order powers of X.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Use the </a:t>
            </a:r>
            <a:r>
              <a:rPr b="1" lang="en-IN" sz="2800"/>
              <a:t>Least Squares Method</a:t>
            </a:r>
            <a:r>
              <a:rPr lang="en-IN" sz="2800"/>
              <a:t> to estimate coefficients </a:t>
            </a:r>
            <a:r>
              <a:rPr b="1" lang="en-IN" sz="2800"/>
              <a:t>b₀, b₁, b₂, …</a:t>
            </a:r>
            <a:r>
              <a:rPr lang="en-IN" sz="2800"/>
              <a:t> that minimize the error.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The degree of the polynomial (n) is chosen based on how curved the data is.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" name="Google Shape;228;p22"/>
          <p:cNvGraphicFramePr/>
          <p:nvPr/>
        </p:nvGraphicFramePr>
        <p:xfrm>
          <a:off x="2693187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{728C4CEB-0DE2-40C8-97EE-B0444A21FD5C}</a:tableStyleId>
              </a:tblPr>
              <a:tblGrid>
                <a:gridCol w="2408975"/>
                <a:gridCol w="240897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Engine Speed (RPM)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Fuel Consumption (L/hr)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3.0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1500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4.2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5.0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2500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6.3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3000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6.8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22"/>
          <p:cNvSpPr/>
          <p:nvPr/>
        </p:nvSpPr>
        <p:spPr>
          <a:xfrm>
            <a:off x="209550" y="1828800"/>
            <a:ext cx="11772900" cy="4247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b="0" i="0" lang="en-IN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 </a:t>
            </a: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fuel consumption (Y)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based on </a:t>
            </a: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 speed (X)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relationship between </a:t>
            </a: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speed and fuel consumption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non-linear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linear model will not fit properly.</a:t>
            </a:r>
            <a:b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use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Polynomial Regression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(say, degree 2):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gives a parabolic curve, showing that after a certain speed, the rate of increase in fuel consumption slows down.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4305" y="3952458"/>
            <a:ext cx="4867954" cy="126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486" y="559565"/>
            <a:ext cx="5229955" cy="426779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802823" y="833611"/>
            <a:ext cx="6100762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Graphical Representation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regression curve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be a </a:t>
            </a: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parabola (degree 2)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cubic curve (degree 3)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higher order.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captures bends and turns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data, unlike linear regression which is just a straight line.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Example: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 → straight line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Polynomial Regression → smooth curved line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86547"/>
            <a:ext cx="7853083" cy="5966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4994" y="1239983"/>
            <a:ext cx="4670460" cy="362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type="title"/>
          </p:nvPr>
        </p:nvSpPr>
        <p:spPr>
          <a:xfrm>
            <a:off x="699713" y="248038"/>
            <a:ext cx="7063721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Estimation of Coefficients</a:t>
            </a:r>
            <a:endParaRPr/>
          </a:p>
        </p:txBody>
      </p:sp>
      <p:pic>
        <p:nvPicPr>
          <p:cNvPr id="248" name="Google Shape;248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225" y="2776429"/>
            <a:ext cx="11327549" cy="2831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/>
          <p:nvPr>
            <p:ph idx="1" type="body"/>
          </p:nvPr>
        </p:nvSpPr>
        <p:spPr>
          <a:xfrm>
            <a:off x="348920" y="0"/>
            <a:ext cx="11843079" cy="5971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Advantages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Can model </a:t>
            </a:r>
            <a:r>
              <a:rPr b="1" lang="en-IN" sz="2800"/>
              <a:t>non-linear</a:t>
            </a:r>
            <a:r>
              <a:rPr lang="en-IN" sz="2800"/>
              <a:t> and </a:t>
            </a:r>
            <a:r>
              <a:rPr b="1" lang="en-IN" sz="2800"/>
              <a:t>curved relationships</a:t>
            </a:r>
            <a:r>
              <a:rPr lang="en-IN" sz="2800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Provides </a:t>
            </a:r>
            <a:r>
              <a:rPr b="1" lang="en-IN" sz="2800"/>
              <a:t>better fit</a:t>
            </a:r>
            <a:r>
              <a:rPr lang="en-IN" sz="2800"/>
              <a:t> for real-world data where trends are not straight lines.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Easy to implement and interpret for small datasets.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Limitations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High-degree polynomials can </a:t>
            </a:r>
            <a:r>
              <a:rPr b="1" lang="en-IN" sz="2800"/>
              <a:t>overfit</a:t>
            </a:r>
            <a:r>
              <a:rPr lang="en-IN" sz="2800"/>
              <a:t> the data (fit noise instead of the pattern).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Extrapolation (predicting outside the dataset) can be </a:t>
            </a:r>
            <a:r>
              <a:rPr b="1" lang="en-IN" sz="2800"/>
              <a:t>unreliable</a:t>
            </a:r>
            <a:r>
              <a:rPr lang="en-IN" sz="2800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Requires careful </a:t>
            </a:r>
            <a:r>
              <a:rPr b="1" lang="en-IN" sz="2800"/>
              <a:t>choice of polynomial degree</a:t>
            </a:r>
            <a:r>
              <a:rPr lang="en-IN" sz="2800"/>
              <a:t>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806120" y="671026"/>
            <a:ext cx="11385880" cy="4815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Applications in Mechanical Engineering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Predicting </a:t>
            </a:r>
            <a:r>
              <a:rPr b="1" lang="en-IN" sz="2800"/>
              <a:t>engine efficiency</a:t>
            </a:r>
            <a:r>
              <a:rPr lang="en-IN" sz="2800"/>
              <a:t> with respect to </a:t>
            </a:r>
            <a:r>
              <a:rPr b="1" lang="en-IN" sz="2800"/>
              <a:t>speed or load</a:t>
            </a:r>
            <a:r>
              <a:rPr lang="en-IN" sz="2800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Modeling </a:t>
            </a:r>
            <a:r>
              <a:rPr b="1" lang="en-IN" sz="2800"/>
              <a:t>stress-strain relationships</a:t>
            </a:r>
            <a:r>
              <a:rPr lang="en-IN" sz="2800"/>
              <a:t> in materials (non-linear).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Estimating </a:t>
            </a:r>
            <a:r>
              <a:rPr b="1" lang="en-IN" sz="2800"/>
              <a:t>temperature variation</a:t>
            </a:r>
            <a:r>
              <a:rPr lang="en-IN" sz="2800"/>
              <a:t> with time in a heating process.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Curve fitting for </a:t>
            </a:r>
            <a:r>
              <a:rPr b="1" lang="en-IN" sz="2800"/>
              <a:t>experimental data</a:t>
            </a:r>
            <a:r>
              <a:rPr lang="en-IN" sz="2800"/>
              <a:t> in thermodynamics and fluid mechanics.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Logistic Regression</a:t>
            </a:r>
            <a:endParaRPr/>
          </a:p>
        </p:txBody>
      </p:sp>
      <p:sp>
        <p:nvSpPr>
          <p:cNvPr id="264" name="Google Shape;264;p27"/>
          <p:cNvSpPr txBox="1"/>
          <p:nvPr>
            <p:ph idx="1" type="body"/>
          </p:nvPr>
        </p:nvSpPr>
        <p:spPr>
          <a:xfrm>
            <a:off x="620486" y="2015732"/>
            <a:ext cx="11299371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400"/>
              <a:t>Logistic Regression</a:t>
            </a:r>
            <a:r>
              <a:rPr lang="en-IN" sz="2400"/>
              <a:t> is a </a:t>
            </a:r>
            <a:r>
              <a:rPr b="1" lang="en-IN" sz="2400"/>
              <a:t>classification algorithm</a:t>
            </a:r>
            <a:r>
              <a:rPr lang="en-IN" sz="2400"/>
              <a:t> used when the </a:t>
            </a:r>
            <a:r>
              <a:rPr b="1" lang="en-IN" sz="2400"/>
              <a:t>output (dependent variable)</a:t>
            </a:r>
            <a:r>
              <a:rPr lang="en-IN" sz="2400"/>
              <a:t> is </a:t>
            </a:r>
            <a:r>
              <a:rPr b="1" lang="en-IN" sz="2400"/>
              <a:t>categorical</a:t>
            </a:r>
            <a:r>
              <a:rPr lang="en-IN" sz="2400"/>
              <a:t>, not continuous.</a:t>
            </a:r>
            <a:br>
              <a:rPr lang="en-IN" sz="2400"/>
            </a:br>
            <a:r>
              <a:rPr lang="en-IN" sz="2400"/>
              <a:t>It predicts the </a:t>
            </a:r>
            <a:r>
              <a:rPr b="1" lang="en-IN" sz="2400"/>
              <a:t>probability of an event</a:t>
            </a:r>
            <a:r>
              <a:rPr lang="en-IN" sz="2400"/>
              <a:t> occurring — usually for </a:t>
            </a:r>
            <a:r>
              <a:rPr b="1" lang="en-IN" sz="2400"/>
              <a:t>binary outcomes</a:t>
            </a:r>
            <a:r>
              <a:rPr lang="en-IN" sz="2400"/>
              <a:t> such as </a:t>
            </a:r>
            <a:r>
              <a:rPr i="1" lang="en-IN" sz="2400"/>
              <a:t>Yes/No</a:t>
            </a:r>
            <a:r>
              <a:rPr lang="en-IN" sz="2400"/>
              <a:t>, </a:t>
            </a:r>
            <a:r>
              <a:rPr i="1" lang="en-IN" sz="2400"/>
              <a:t>Pass/Fail</a:t>
            </a:r>
            <a:r>
              <a:rPr lang="en-IN" sz="2400"/>
              <a:t>, </a:t>
            </a:r>
            <a:r>
              <a:rPr i="1" lang="en-IN" sz="2400"/>
              <a:t>Defective/Non-Defective</a:t>
            </a:r>
            <a:r>
              <a:rPr lang="en-IN" sz="2400"/>
              <a:t>, etc.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400"/>
              <a:t>Although its name includes “regression,” it is actually used for </a:t>
            </a:r>
            <a:r>
              <a:rPr b="1" lang="en-IN" sz="2400"/>
              <a:t>classification tasks</a:t>
            </a:r>
            <a:r>
              <a:rPr lang="en-IN" sz="2400"/>
              <a:t>, not for predicting continuous numbers.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>
            <p:ph idx="1" type="body"/>
          </p:nvPr>
        </p:nvSpPr>
        <p:spPr>
          <a:xfrm>
            <a:off x="847422" y="709446"/>
            <a:ext cx="9603275" cy="34506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29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270" name="Google Shape;270;p28"/>
          <p:cNvSpPr txBox="1"/>
          <p:nvPr/>
        </p:nvSpPr>
        <p:spPr>
          <a:xfrm>
            <a:off x="2595617" y="4743097"/>
            <a:ext cx="6106884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909" l="-1596" r="0" t="-514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/>
          <p:nvPr>
            <p:ph idx="1" type="body"/>
          </p:nvPr>
        </p:nvSpPr>
        <p:spPr>
          <a:xfrm>
            <a:off x="228600" y="644132"/>
            <a:ext cx="11478986" cy="46463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1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>
            <p:ph idx="1" type="body"/>
          </p:nvPr>
        </p:nvSpPr>
        <p:spPr>
          <a:xfrm>
            <a:off x="310243" y="359229"/>
            <a:ext cx="11881757" cy="591094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0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5" name="Google Shape;285;p31"/>
          <p:cNvGraphicFramePr/>
          <p:nvPr/>
        </p:nvGraphicFramePr>
        <p:xfrm>
          <a:off x="412954" y="1693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{728C4CEB-0DE2-40C8-97EE-B0444A21FD5C}</a:tableStyleId>
              </a:tblPr>
              <a:tblGrid>
                <a:gridCol w="2841525"/>
                <a:gridCol w="284152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Temperature (°C)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Failure (1 = Yes, 0 = No)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60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70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80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90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6" name="Google Shape;286;p31"/>
          <p:cNvSpPr/>
          <p:nvPr/>
        </p:nvSpPr>
        <p:spPr>
          <a:xfrm>
            <a:off x="6368143" y="192665"/>
            <a:ext cx="520029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Predict whether a machine will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fail (1)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fail (0)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based on its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temperature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1"/>
          <p:cNvSpPr txBox="1"/>
          <p:nvPr/>
        </p:nvSpPr>
        <p:spPr>
          <a:xfrm>
            <a:off x="412954" y="1894390"/>
            <a:ext cx="12029417" cy="403649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11" l="-557" r="0" t="-75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"/>
          <p:cNvSpPr txBox="1"/>
          <p:nvPr>
            <p:ph idx="1" type="body"/>
          </p:nvPr>
        </p:nvSpPr>
        <p:spPr>
          <a:xfrm>
            <a:off x="1" y="179614"/>
            <a:ext cx="12017828" cy="5286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Decision Boundary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IN"/>
              <a:t>In logistic regression, we define a </a:t>
            </a:r>
            <a:r>
              <a:rPr b="1" lang="en-IN"/>
              <a:t>cutoff (threshold)</a:t>
            </a:r>
            <a:r>
              <a:rPr lang="en-IN"/>
              <a:t> to classify outcomes: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If probability ≥ 0.5 → Class = 1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If probability &lt; 0.5 → Class = 0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IN"/>
              <a:t>This creates a </a:t>
            </a:r>
            <a:r>
              <a:rPr b="1" lang="en-IN"/>
              <a:t>decision boundary</a:t>
            </a:r>
            <a:r>
              <a:rPr lang="en-IN"/>
              <a:t> separating the two classes.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Estimation of Coefficients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IN"/>
              <a:t>Unlike linear regression, logistic regression coefficients are estimated using: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en-IN"/>
              <a:t>Maximum Likelihood Estimation (MLE)</a:t>
            </a:r>
            <a:br>
              <a:rPr lang="en-IN"/>
            </a:br>
            <a:r>
              <a:rPr lang="en-IN"/>
              <a:t>This method finds the best coefficients (b₀, b₁, …) that maximize the probability of correctly predicting the observed data.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90" y="0"/>
            <a:ext cx="10402495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63"/>
          <p:cNvSpPr txBox="1"/>
          <p:nvPr/>
        </p:nvSpPr>
        <p:spPr>
          <a:xfrm>
            <a:off x="733590" y="5260666"/>
            <a:ext cx="987878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Explanation:</a:t>
            </a:r>
            <a:b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classifies whether the machine will fail or not based on input temperature.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/>
          <p:nvPr>
            <p:ph idx="1" type="body"/>
          </p:nvPr>
        </p:nvSpPr>
        <p:spPr>
          <a:xfrm>
            <a:off x="0" y="415532"/>
            <a:ext cx="12192000" cy="5838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Char char="•"/>
            </a:pPr>
            <a:r>
              <a:rPr b="1" lang="en-IN" sz="2800"/>
              <a:t>Advantages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Char char="•"/>
            </a:pPr>
            <a:r>
              <a:rPr lang="en-IN" sz="2800"/>
              <a:t>Works well for </a:t>
            </a:r>
            <a:r>
              <a:rPr b="1" lang="en-IN" sz="2800"/>
              <a:t>binary classification</a:t>
            </a:r>
            <a:r>
              <a:rPr lang="en-IN" sz="2800"/>
              <a:t> problems.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Char char="•"/>
            </a:pPr>
            <a:r>
              <a:rPr lang="en-IN" sz="2800"/>
              <a:t>Outputs </a:t>
            </a:r>
            <a:r>
              <a:rPr b="1" lang="en-IN" sz="2800"/>
              <a:t>probabilities</a:t>
            </a:r>
            <a:r>
              <a:rPr lang="en-IN" sz="2800"/>
              <a:t>, which provide more information than simple yes/no.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Char char="•"/>
            </a:pPr>
            <a:r>
              <a:rPr lang="en-IN" sz="2800"/>
              <a:t>Computationally efficient and interpretable.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None/>
            </a:pPr>
            <a:r>
              <a:t/>
            </a:r>
            <a:endParaRPr sz="28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Char char="•"/>
            </a:pPr>
            <a:r>
              <a:rPr b="1" lang="en-IN" sz="2800"/>
              <a:t>Limitations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Char char="•"/>
            </a:pPr>
            <a:r>
              <a:rPr lang="en-IN" sz="2800"/>
              <a:t>Can only handle </a:t>
            </a:r>
            <a:r>
              <a:rPr b="1" lang="en-IN" sz="2800"/>
              <a:t>linear relationships</a:t>
            </a:r>
            <a:r>
              <a:rPr lang="en-IN" sz="2800"/>
              <a:t> between independent variables and log-odds of outcome.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Char char="•"/>
            </a:pPr>
            <a:r>
              <a:rPr lang="en-IN" sz="2800"/>
              <a:t>Not suitable for </a:t>
            </a:r>
            <a:r>
              <a:rPr b="1" lang="en-IN" sz="2800"/>
              <a:t>highly complex non-linear</a:t>
            </a:r>
            <a:r>
              <a:rPr lang="en-IN" sz="2800"/>
              <a:t> data.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Char char="•"/>
            </a:pPr>
            <a:r>
              <a:rPr lang="en-IN" sz="2800"/>
              <a:t>Requires a large dataset for accurate estimation.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722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 txBox="1"/>
          <p:nvPr>
            <p:ph idx="1" type="body"/>
          </p:nvPr>
        </p:nvSpPr>
        <p:spPr>
          <a:xfrm>
            <a:off x="277586" y="186932"/>
            <a:ext cx="11914414" cy="6377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3200"/>
              <a:t>Applications in Mechanical Engineering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3200"/>
              <a:t>Predicting whether a </a:t>
            </a:r>
            <a:r>
              <a:rPr b="1" lang="en-IN" sz="3200"/>
              <a:t>component will fail</a:t>
            </a:r>
            <a:r>
              <a:rPr lang="en-IN" sz="3200"/>
              <a:t> under given stress/load conditions.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3200"/>
              <a:t>Classifying products as </a:t>
            </a:r>
            <a:r>
              <a:rPr b="1" lang="en-IN" sz="3200"/>
              <a:t>defective or non-defective</a:t>
            </a:r>
            <a:r>
              <a:rPr lang="en-IN" sz="3200"/>
              <a:t> based on sensor data.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3200"/>
              <a:t>Predicting </a:t>
            </a:r>
            <a:r>
              <a:rPr b="1" lang="en-IN" sz="3200"/>
              <a:t>maintenance requirement</a:t>
            </a:r>
            <a:r>
              <a:rPr lang="en-IN" sz="3200"/>
              <a:t> (Yes/No) for machines.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3200"/>
              <a:t>Estimating </a:t>
            </a:r>
            <a:r>
              <a:rPr b="1" lang="en-IN" sz="3200"/>
              <a:t>tool wear</a:t>
            </a:r>
            <a:r>
              <a:rPr lang="en-IN" sz="3200"/>
              <a:t> (Acceptable / Replace) in machining operations.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/>
          <p:nvPr>
            <p:ph type="title"/>
          </p:nvPr>
        </p:nvSpPr>
        <p:spPr>
          <a:xfrm>
            <a:off x="2430882" y="30554"/>
            <a:ext cx="6174275" cy="769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Support Vector Machines (SVM)</a:t>
            </a:r>
            <a:endParaRPr/>
          </a:p>
        </p:txBody>
      </p:sp>
      <p:sp>
        <p:nvSpPr>
          <p:cNvPr id="314" name="Google Shape;314;p35"/>
          <p:cNvSpPr txBox="1"/>
          <p:nvPr>
            <p:ph idx="1" type="body"/>
          </p:nvPr>
        </p:nvSpPr>
        <p:spPr>
          <a:xfrm>
            <a:off x="157843" y="800100"/>
            <a:ext cx="11876314" cy="5502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55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90090"/>
              <a:buChar char="•"/>
            </a:pPr>
            <a:r>
              <a:rPr lang="en-IN" sz="2400"/>
              <a:t>A </a:t>
            </a:r>
            <a:r>
              <a:rPr b="1" lang="en-IN" sz="2400"/>
              <a:t>Support Vector Machine (SVM)</a:t>
            </a:r>
            <a:r>
              <a:rPr lang="en-IN" sz="2400"/>
              <a:t> is a </a:t>
            </a:r>
            <a:r>
              <a:rPr b="1" lang="en-IN" sz="2400"/>
              <a:t>supervised learning algorithm</a:t>
            </a:r>
            <a:r>
              <a:rPr lang="en-IN" sz="2400"/>
              <a:t> used for </a:t>
            </a:r>
            <a:r>
              <a:rPr b="1" lang="en-IN" sz="2400"/>
              <a:t>classification</a:t>
            </a:r>
            <a:r>
              <a:rPr lang="en-IN" sz="2400"/>
              <a:t> and sometimes </a:t>
            </a:r>
            <a:r>
              <a:rPr b="1" lang="en-IN" sz="2400"/>
              <a:t>regression</a:t>
            </a:r>
            <a:r>
              <a:rPr lang="en-IN" sz="2400"/>
              <a:t> problems. that separates data into classes using a </a:t>
            </a:r>
            <a:r>
              <a:rPr b="1" lang="en-IN" sz="2400"/>
              <a:t>boundary line (hyperplane)</a:t>
            </a:r>
            <a:r>
              <a:rPr lang="en-IN" sz="2400"/>
              <a:t>.</a:t>
            </a:r>
            <a:endParaRPr/>
          </a:p>
          <a:p>
            <a:pPr indent="-355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90090"/>
              <a:buChar char="•"/>
            </a:pPr>
            <a:r>
              <a:rPr lang="en-IN" sz="2400"/>
              <a:t>Example: Classify </a:t>
            </a:r>
            <a:r>
              <a:rPr b="1" lang="en-IN" sz="2400"/>
              <a:t>defective (1)</a:t>
            </a:r>
            <a:r>
              <a:rPr lang="en-IN" sz="2400"/>
              <a:t> vs </a:t>
            </a:r>
            <a:r>
              <a:rPr b="1" lang="en-IN" sz="2400"/>
              <a:t>non-defective (0)</a:t>
            </a:r>
            <a:r>
              <a:rPr lang="en-IN" sz="2400"/>
              <a:t> parts.</a:t>
            </a:r>
            <a:endParaRPr/>
          </a:p>
          <a:p>
            <a:pPr indent="-355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90090"/>
              <a:buNone/>
            </a:pPr>
            <a:br>
              <a:rPr lang="en-IN" sz="2400"/>
            </a:br>
            <a:r>
              <a:rPr lang="en-IN" sz="2400"/>
              <a:t>It works by finding the </a:t>
            </a:r>
            <a:r>
              <a:rPr b="1" lang="en-IN" sz="2400"/>
              <a:t>best possible boundary (called a hyperplane)</a:t>
            </a:r>
            <a:r>
              <a:rPr lang="en-IN" sz="2400"/>
              <a:t> that separates data points of different classes.</a:t>
            </a:r>
            <a:endParaRPr/>
          </a:p>
          <a:p>
            <a:pPr indent="-355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90090"/>
              <a:buNone/>
            </a:pPr>
            <a:r>
              <a:t/>
            </a:r>
            <a:endParaRPr sz="2400"/>
          </a:p>
          <a:p>
            <a:pPr indent="-355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90090"/>
              <a:buNone/>
            </a:pPr>
            <a:r>
              <a:rPr lang="en-IN" sz="2400"/>
              <a:t>     SVM aims to </a:t>
            </a:r>
            <a:r>
              <a:rPr b="1" lang="en-IN" sz="2400"/>
              <a:t>maximize the margin</a:t>
            </a:r>
            <a:r>
              <a:rPr lang="en-IN" sz="2400"/>
              <a:t> — the distance between the hyperplane and the nearest data points from each class.</a:t>
            </a:r>
            <a:endParaRPr/>
          </a:p>
          <a:p>
            <a:pPr indent="-355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90090"/>
              <a:buNone/>
            </a:pPr>
            <a:br>
              <a:rPr lang="en-IN" sz="2400"/>
            </a:br>
            <a:r>
              <a:rPr lang="en-IN" sz="2400"/>
              <a:t>These closest data points are called </a:t>
            </a:r>
            <a:r>
              <a:rPr b="1" lang="en-IN" sz="2400"/>
              <a:t>Support Vectors</a:t>
            </a:r>
            <a:r>
              <a:rPr lang="en-IN" sz="2400"/>
              <a:t>.</a:t>
            </a:r>
            <a:endParaRPr/>
          </a:p>
          <a:p>
            <a:pPr indent="-228600" lvl="0" marL="4572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9009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idx="1" type="body"/>
          </p:nvPr>
        </p:nvSpPr>
        <p:spPr>
          <a:xfrm>
            <a:off x="228600" y="0"/>
            <a:ext cx="11462657" cy="66783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"/>
          <p:cNvSpPr txBox="1"/>
          <p:nvPr>
            <p:ph idx="1" type="body"/>
          </p:nvPr>
        </p:nvSpPr>
        <p:spPr>
          <a:xfrm>
            <a:off x="553508" y="235918"/>
            <a:ext cx="11056106" cy="58872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95" r="-209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985" y="698176"/>
            <a:ext cx="4410467" cy="467776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1"/>
          <p:cNvSpPr txBox="1"/>
          <p:nvPr/>
        </p:nvSpPr>
        <p:spPr>
          <a:xfrm>
            <a:off x="4840453" y="1408056"/>
            <a:ext cx="719370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hyperplane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separates two classes with </a:t>
            </a: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maximum margin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points closest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 hyperplane are </a:t>
            </a:r>
            <a:r>
              <a:rPr b="1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Vectors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 txBox="1"/>
          <p:nvPr>
            <p:ph idx="1" type="body"/>
          </p:nvPr>
        </p:nvSpPr>
        <p:spPr>
          <a:xfrm>
            <a:off x="415600" y="522514"/>
            <a:ext cx="11360800" cy="55693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57188" lvl="0" marL="60958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IN" sz="2800"/>
              <a:t>What is a Margin?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IN" sz="2800"/>
              <a:t>The </a:t>
            </a:r>
            <a:r>
              <a:rPr b="1" lang="en-IN" sz="2800"/>
              <a:t>margin</a:t>
            </a:r>
            <a:r>
              <a:rPr lang="en-IN" sz="2800"/>
              <a:t> is the </a:t>
            </a:r>
            <a:r>
              <a:rPr b="1" lang="en-IN" sz="2800"/>
              <a:t>distance</a:t>
            </a:r>
            <a:r>
              <a:rPr lang="en-IN" sz="2800"/>
              <a:t> between the hyperplane and the nearest data points (support vectors).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-IN" sz="2800"/>
              <a:t>Wider margins</a:t>
            </a:r>
            <a:r>
              <a:rPr lang="en-IN" sz="2800"/>
              <a:t> lead to better classification and </a:t>
            </a:r>
            <a:r>
              <a:rPr b="1" lang="en-IN" sz="2800"/>
              <a:t>less overfitting</a:t>
            </a:r>
            <a:r>
              <a:rPr lang="en-IN" sz="2800"/>
              <a:t>.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IN" sz="2800"/>
              <a:t>Support Vectors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IN" sz="2800"/>
              <a:t>Support Vectors are the </a:t>
            </a:r>
            <a:r>
              <a:rPr b="1" lang="en-IN" sz="2800"/>
              <a:t>most critical data points</a:t>
            </a:r>
            <a:r>
              <a:rPr lang="en-IN" sz="2800"/>
              <a:t> that are closest to the decision boundary.</a:t>
            </a:r>
            <a:br>
              <a:rPr lang="en-IN" sz="2800"/>
            </a:br>
            <a:r>
              <a:rPr lang="en-IN" sz="2800"/>
              <a:t>They determine the </a:t>
            </a:r>
            <a:r>
              <a:rPr b="1" lang="en-IN" sz="2800"/>
              <a:t>position and orientation</a:t>
            </a:r>
            <a:r>
              <a:rPr lang="en-IN" sz="2800"/>
              <a:t> of the hyperplane.</a:t>
            </a:r>
            <a:endParaRPr/>
          </a:p>
          <a:p>
            <a:pPr indent="-457188" lvl="0" marL="60958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IN" sz="2800"/>
              <a:t>If any support vector is removed, the </a:t>
            </a:r>
            <a:r>
              <a:rPr b="1" lang="en-IN" sz="2800"/>
              <a:t>hyperplane changes</a:t>
            </a:r>
            <a:r>
              <a:rPr lang="en-IN" sz="2800"/>
              <a:t> — that’s why they are “supporting” vectors.</a:t>
            </a:r>
            <a:endParaRPr/>
          </a:p>
          <a:p>
            <a:pPr indent="-342888" lvl="0" marL="60958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/>
          </a:p>
          <a:p>
            <a:pPr indent="-342888" lvl="0" marL="609585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41" name="Google Shape;341;p64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342" name="Google Shape;34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6562166" cy="6802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1106" y="403412"/>
            <a:ext cx="5360894" cy="5650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9"/>
          <p:cNvSpPr txBox="1"/>
          <p:nvPr>
            <p:ph idx="1" type="body"/>
          </p:nvPr>
        </p:nvSpPr>
        <p:spPr>
          <a:xfrm>
            <a:off x="1" y="0"/>
            <a:ext cx="11994776" cy="632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Example (Mechanical Engineering Context)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Imagine you are classifying </a:t>
            </a:r>
            <a:r>
              <a:rPr b="1" lang="en-IN" sz="2800"/>
              <a:t>metal parts</a:t>
            </a:r>
            <a:r>
              <a:rPr lang="en-IN" sz="2800"/>
              <a:t> as </a:t>
            </a:r>
            <a:r>
              <a:rPr b="1" lang="en-IN" sz="2800"/>
              <a:t>Defective (1)</a:t>
            </a:r>
            <a:r>
              <a:rPr lang="en-IN" sz="2800"/>
              <a:t> or </a:t>
            </a:r>
            <a:r>
              <a:rPr b="1" lang="en-IN" sz="2800"/>
              <a:t>Non-Defective (0)</a:t>
            </a:r>
            <a:r>
              <a:rPr lang="en-IN" sz="2800"/>
              <a:t> based on two parameters: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Surface Roughness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Hardness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SVM will plot these points on a graph and find the </a:t>
            </a:r>
            <a:r>
              <a:rPr b="1" lang="en-IN" sz="2800"/>
              <a:t>best straight line (or hyperplane)</a:t>
            </a:r>
            <a:r>
              <a:rPr lang="en-IN" sz="2800"/>
              <a:t> that separates the two groups clearly.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If the data are well separated, it’s called a </a:t>
            </a:r>
            <a:r>
              <a:rPr b="1" lang="en-IN" sz="2800"/>
              <a:t>Linear SVM</a:t>
            </a:r>
            <a:r>
              <a:rPr lang="en-IN" sz="2800"/>
              <a:t>.</a:t>
            </a:r>
            <a:br>
              <a:rPr lang="en-IN" sz="2800"/>
            </a:br>
            <a:r>
              <a:rPr lang="en-IN" sz="2800"/>
              <a:t>If not, SVM can transform the data using </a:t>
            </a:r>
            <a:r>
              <a:rPr b="1" lang="en-IN" sz="2800"/>
              <a:t>Kernels</a:t>
            </a:r>
            <a:r>
              <a:rPr lang="en-IN" sz="2800"/>
              <a:t> to find a </a:t>
            </a:r>
            <a:r>
              <a:rPr b="1" lang="en-IN" sz="2800"/>
              <a:t>non-linear boundary</a:t>
            </a:r>
            <a:r>
              <a:rPr lang="en-IN" sz="2800"/>
              <a:t>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7059293689_2_30"/>
          <p:cNvSpPr txBox="1"/>
          <p:nvPr>
            <p:ph idx="1" type="body"/>
          </p:nvPr>
        </p:nvSpPr>
        <p:spPr>
          <a:xfrm>
            <a:off x="448235" y="215153"/>
            <a:ext cx="11295529" cy="5809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3200"/>
              <a:t>Types of SVM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3200"/>
              <a:t>Linear SVM</a:t>
            </a:r>
            <a:endParaRPr sz="3200"/>
          </a:p>
          <a:p>
            <a:pPr indent="-3429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 sz="2800"/>
              <a:t>Used when data is </a:t>
            </a:r>
            <a:r>
              <a:rPr b="1" lang="en-IN" sz="2800"/>
              <a:t>linearly separable</a:t>
            </a:r>
            <a:r>
              <a:rPr lang="en-IN" sz="2800"/>
              <a:t>.</a:t>
            </a:r>
            <a:endParaRPr/>
          </a:p>
          <a:p>
            <a:pPr indent="-3429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 sz="2800"/>
              <a:t>Decision boundary is a straight line (in 2D) or plane (in 3D).</a:t>
            </a:r>
            <a:endParaRPr/>
          </a:p>
          <a:p>
            <a:pPr indent="-2286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3200"/>
              <a:t>Non-Linear SVM</a:t>
            </a:r>
            <a:endParaRPr sz="3200"/>
          </a:p>
          <a:p>
            <a:pPr indent="-3429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 sz="2800"/>
              <a:t>Used when data </a:t>
            </a:r>
            <a:r>
              <a:rPr b="1" lang="en-IN" sz="2800"/>
              <a:t>cannot be separated linearly</a:t>
            </a:r>
            <a:r>
              <a:rPr lang="en-IN" sz="2800"/>
              <a:t>.</a:t>
            </a:r>
            <a:endParaRPr/>
          </a:p>
          <a:p>
            <a:pPr indent="-3429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 sz="2800"/>
              <a:t>SVM uses </a:t>
            </a:r>
            <a:r>
              <a:rPr b="1" lang="en-IN" sz="2800"/>
              <a:t>Kernel Functions</a:t>
            </a:r>
            <a:r>
              <a:rPr lang="en-IN" sz="2800"/>
              <a:t> to transform data into higher dimensions to make separation possible.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3200"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>
            <p:ph idx="1" type="body"/>
          </p:nvPr>
        </p:nvSpPr>
        <p:spPr>
          <a:xfrm>
            <a:off x="282196" y="-163286"/>
            <a:ext cx="11627607" cy="3053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 sz="1600"/>
              <a:t>Applications (Mechanical Engineering)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600"/>
              <a:t>Predicting whether a </a:t>
            </a:r>
            <a:r>
              <a:rPr b="1" lang="en-IN" sz="1600"/>
              <a:t>machine part will fail or not</a:t>
            </a:r>
            <a:r>
              <a:rPr lang="en-IN" sz="1600"/>
              <a:t> based on operational data.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600"/>
              <a:t>Classifying </a:t>
            </a:r>
            <a:r>
              <a:rPr b="1" lang="en-IN" sz="1600"/>
              <a:t>materials</a:t>
            </a:r>
            <a:r>
              <a:rPr lang="en-IN" sz="1600"/>
              <a:t> based on tensile strength and hardness.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600"/>
              <a:t>Sorting </a:t>
            </a:r>
            <a:r>
              <a:rPr b="1" lang="en-IN" sz="1600"/>
              <a:t>products</a:t>
            </a:r>
            <a:r>
              <a:rPr lang="en-IN" sz="1600"/>
              <a:t> as defective or non-defective from sensor readings.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600"/>
              <a:t>Identifying </a:t>
            </a:r>
            <a:r>
              <a:rPr b="1" lang="en-IN" sz="1600"/>
              <a:t>machine vibration patterns</a:t>
            </a:r>
            <a:r>
              <a:rPr lang="en-IN" sz="1600"/>
              <a:t> as normal or abnormal.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br>
              <a:rPr lang="en-IN" sz="1600"/>
            </a:br>
            <a:r>
              <a:rPr b="1" lang="en-IN" sz="1600"/>
              <a:t> Advantages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600"/>
              <a:t>Works well for </a:t>
            </a:r>
            <a:r>
              <a:rPr b="1" lang="en-IN" sz="1600"/>
              <a:t>high-dimensional</a:t>
            </a:r>
            <a:r>
              <a:rPr lang="en-IN" sz="1600"/>
              <a:t> data.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600"/>
              <a:t>Performs effectively when there’s a clear margin of separation.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en-IN" sz="1600"/>
              <a:t>Robust to overfitting</a:t>
            </a:r>
            <a:r>
              <a:rPr lang="en-IN" sz="1600"/>
              <a:t> (especially with regularization).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600"/>
              <a:t>Supports </a:t>
            </a:r>
            <a:r>
              <a:rPr b="1" lang="en-IN" sz="1600"/>
              <a:t>non-linear classification</a:t>
            </a:r>
            <a:r>
              <a:rPr lang="en-IN" sz="1600"/>
              <a:t> with kernel functions.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 sz="1600"/>
              <a:t> Limitations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600"/>
              <a:t>Performance drops when dataset has </a:t>
            </a:r>
            <a:r>
              <a:rPr b="1" lang="en-IN" sz="1600"/>
              <a:t>overlapping classes</a:t>
            </a:r>
            <a:r>
              <a:rPr lang="en-IN" sz="1600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en-IN" sz="1600"/>
              <a:t>Training time</a:t>
            </a:r>
            <a:r>
              <a:rPr lang="en-IN" sz="1600"/>
              <a:t> is longer for large datasets.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600"/>
              <a:t>Requires careful selection of </a:t>
            </a:r>
            <a:r>
              <a:rPr b="1" lang="en-IN" sz="1600"/>
              <a:t>kernel</a:t>
            </a:r>
            <a:r>
              <a:rPr lang="en-IN" sz="1600"/>
              <a:t> and </a:t>
            </a:r>
            <a:r>
              <a:rPr b="1" lang="en-IN" sz="1600"/>
              <a:t>parameters</a:t>
            </a:r>
            <a:r>
              <a:rPr lang="en-IN" sz="1600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600"/>
              <a:t>Difficult to interpret compared to simple models like logistic regression.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/>
          <p:nvPr>
            <p:ph type="title"/>
          </p:nvPr>
        </p:nvSpPr>
        <p:spPr>
          <a:xfrm>
            <a:off x="798437" y="216690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Decision Trees</a:t>
            </a:r>
            <a:endParaRPr/>
          </a:p>
        </p:txBody>
      </p:sp>
      <p:sp>
        <p:nvSpPr>
          <p:cNvPr id="364" name="Google Shape;364;p43"/>
          <p:cNvSpPr txBox="1"/>
          <p:nvPr>
            <p:ph idx="1" type="body"/>
          </p:nvPr>
        </p:nvSpPr>
        <p:spPr>
          <a:xfrm>
            <a:off x="342901" y="1083207"/>
            <a:ext cx="11849099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Definition:</a:t>
            </a:r>
            <a:br>
              <a:rPr lang="en-IN" sz="2800"/>
            </a:br>
            <a:r>
              <a:rPr lang="en-IN" sz="2800"/>
              <a:t>Decision Trees are flowchart-like structures used for both </a:t>
            </a:r>
            <a:r>
              <a:rPr b="1" lang="en-IN" sz="2800"/>
              <a:t>classification</a:t>
            </a:r>
            <a:r>
              <a:rPr lang="en-IN" sz="2800"/>
              <a:t> and </a:t>
            </a:r>
            <a:r>
              <a:rPr b="1" lang="en-IN" sz="2800"/>
              <a:t>regression</a:t>
            </a:r>
            <a:r>
              <a:rPr lang="en-IN" sz="2800"/>
              <a:t> tasks.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br>
              <a:rPr lang="en-IN" sz="2800"/>
            </a:br>
            <a:r>
              <a:rPr lang="en-IN" sz="2800"/>
              <a:t>They divide the dataset into smaller subsets based on </a:t>
            </a:r>
            <a:r>
              <a:rPr b="1" lang="en-IN" sz="2800"/>
              <a:t>feature values</a:t>
            </a:r>
            <a:r>
              <a:rPr lang="en-IN" sz="2800"/>
              <a:t> and make decisions at each node.</a:t>
            </a:r>
            <a:endParaRPr sz="2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42900" y="562490"/>
            <a:ext cx="11723914" cy="5364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400"/>
              <a:t>Working Principle:</a:t>
            </a:r>
            <a:endParaRPr sz="24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400"/>
              <a:t>The tree starts with a </a:t>
            </a:r>
            <a:r>
              <a:rPr b="1" lang="en-IN" sz="2400"/>
              <a:t>root node</a:t>
            </a:r>
            <a:r>
              <a:rPr lang="en-IN" sz="2400"/>
              <a:t> representing the entire dataset.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400"/>
              <a:t>At each internal node, data is </a:t>
            </a:r>
            <a:r>
              <a:rPr b="1" lang="en-IN" sz="2400"/>
              <a:t>split</a:t>
            </a:r>
            <a:r>
              <a:rPr lang="en-IN" sz="2400"/>
              <a:t> based on the feature that gives the </a:t>
            </a:r>
            <a:r>
              <a:rPr b="1" lang="en-IN" sz="2400"/>
              <a:t>best separation</a:t>
            </a:r>
            <a:r>
              <a:rPr lang="en-IN" sz="2400"/>
              <a:t> (using metrics like </a:t>
            </a:r>
            <a:r>
              <a:rPr i="1" lang="en-IN" sz="2400"/>
              <a:t>Gini Index</a:t>
            </a:r>
            <a:r>
              <a:rPr lang="en-IN" sz="2400"/>
              <a:t>, </a:t>
            </a:r>
            <a:r>
              <a:rPr i="1" lang="en-IN" sz="2400"/>
              <a:t>Entropy</a:t>
            </a:r>
            <a:r>
              <a:rPr lang="en-IN" sz="2400"/>
              <a:t>, or </a:t>
            </a:r>
            <a:r>
              <a:rPr i="1" lang="en-IN" sz="2400"/>
              <a:t>Information Gain</a:t>
            </a:r>
            <a:r>
              <a:rPr lang="en-IN" sz="2400"/>
              <a:t>).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400"/>
              <a:t>The process continues recursively until a </a:t>
            </a:r>
            <a:r>
              <a:rPr b="1" lang="en-IN" sz="2400"/>
              <a:t>stopping condition</a:t>
            </a:r>
            <a:r>
              <a:rPr lang="en-IN" sz="2400"/>
              <a:t> is reached.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400"/>
              <a:t>Leaf nodes</a:t>
            </a:r>
            <a:r>
              <a:rPr lang="en-IN" sz="2400"/>
              <a:t> represent the final decision or output value.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7059293689_2_0"/>
          <p:cNvSpPr txBox="1"/>
          <p:nvPr>
            <p:ph idx="1" type="body"/>
          </p:nvPr>
        </p:nvSpPr>
        <p:spPr>
          <a:xfrm>
            <a:off x="702129" y="0"/>
            <a:ext cx="11364685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/>
              <a:t>Advantages: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Easy to </a:t>
            </a:r>
            <a:r>
              <a:rPr b="1" lang="en-IN"/>
              <a:t>understand and visualize</a:t>
            </a:r>
            <a:r>
              <a:rPr lang="en-IN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Works for both </a:t>
            </a:r>
            <a:r>
              <a:rPr b="1" lang="en-IN"/>
              <a:t>numerical and categorical data</a:t>
            </a:r>
            <a:r>
              <a:rPr lang="en-IN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Requires </a:t>
            </a:r>
            <a:r>
              <a:rPr b="1" lang="en-IN"/>
              <a:t>less data preprocessing</a:t>
            </a:r>
            <a:r>
              <a:rPr lang="en-IN"/>
              <a:t> (no need for feature scaling).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/>
              <a:t>Disadvantages: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Can easily </a:t>
            </a:r>
            <a:r>
              <a:rPr b="1" lang="en-IN"/>
              <a:t>overfit</a:t>
            </a:r>
            <a:r>
              <a:rPr lang="en-IN"/>
              <a:t> the data if not pruned properly.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Small changes in data can lead to a </a:t>
            </a:r>
            <a:r>
              <a:rPr b="1" lang="en-IN"/>
              <a:t>different tree structure</a:t>
            </a:r>
            <a:r>
              <a:rPr lang="en-IN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/>
              <a:t>Example:</a:t>
            </a:r>
            <a:br>
              <a:rPr lang="en-IN"/>
            </a:br>
            <a:r>
              <a:rPr lang="en-IN"/>
              <a:t>Predicting whether a customer will purchase a product based on </a:t>
            </a:r>
            <a:r>
              <a:rPr b="1" lang="en-IN"/>
              <a:t>income</a:t>
            </a:r>
            <a:r>
              <a:rPr lang="en-IN"/>
              <a:t> and </a:t>
            </a:r>
            <a:r>
              <a:rPr b="1" lang="en-IN"/>
              <a:t>age</a:t>
            </a:r>
            <a:r>
              <a:rPr lang="en-IN"/>
              <a:t>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059293689_2_10"/>
          <p:cNvSpPr txBox="1"/>
          <p:nvPr>
            <p:ph type="title"/>
          </p:nvPr>
        </p:nvSpPr>
        <p:spPr>
          <a:xfrm>
            <a:off x="1294361" y="0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Important Terms in Decision Trees</a:t>
            </a:r>
            <a:endParaRPr/>
          </a:p>
        </p:txBody>
      </p:sp>
      <p:sp>
        <p:nvSpPr>
          <p:cNvPr id="380" name="Google Shape;380;g37059293689_2_10"/>
          <p:cNvSpPr txBox="1"/>
          <p:nvPr>
            <p:ph idx="1" type="body"/>
          </p:nvPr>
        </p:nvSpPr>
        <p:spPr>
          <a:xfrm>
            <a:off x="195943" y="524617"/>
            <a:ext cx="11996057" cy="6694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 sz="1800"/>
              <a:t>1. Root Node:</a:t>
            </a:r>
            <a:endParaRPr sz="18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800"/>
              <a:t>Represents the </a:t>
            </a:r>
            <a:r>
              <a:rPr b="1" lang="en-IN" sz="1800"/>
              <a:t>entire dataset</a:t>
            </a:r>
            <a:r>
              <a:rPr lang="en-IN" sz="1800"/>
              <a:t>.It is the </a:t>
            </a:r>
            <a:r>
              <a:rPr b="1" lang="en-IN" sz="1800"/>
              <a:t>starting point</a:t>
            </a:r>
            <a:r>
              <a:rPr lang="en-IN" sz="1800"/>
              <a:t> of the decision tree.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800"/>
              <a:t>The dataset is split from this node based on the </a:t>
            </a:r>
            <a:r>
              <a:rPr b="1" lang="en-IN" sz="1800"/>
              <a:t>most significant attribute</a:t>
            </a:r>
            <a:r>
              <a:rPr lang="en-IN" sz="1800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 sz="1800"/>
              <a:t>2. Branch:</a:t>
            </a:r>
            <a:endParaRPr sz="18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800"/>
              <a:t>Each </a:t>
            </a:r>
            <a:r>
              <a:rPr b="1" lang="en-IN" sz="1800"/>
              <a:t>branch</a:t>
            </a:r>
            <a:r>
              <a:rPr lang="en-IN" sz="1800"/>
              <a:t> represents the </a:t>
            </a:r>
            <a:r>
              <a:rPr b="1" lang="en-IN" sz="1800"/>
              <a:t>outcome of a decision</a:t>
            </a:r>
            <a:r>
              <a:rPr lang="en-IN" sz="1800"/>
              <a:t> or </a:t>
            </a:r>
            <a:r>
              <a:rPr b="1" lang="en-IN" sz="1800"/>
              <a:t>test condition</a:t>
            </a:r>
            <a:r>
              <a:rPr lang="en-IN" sz="1800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800"/>
              <a:t>It connects nodes and shows the </a:t>
            </a:r>
            <a:r>
              <a:rPr b="1" lang="en-IN" sz="1800"/>
              <a:t>path</a:t>
            </a:r>
            <a:r>
              <a:rPr lang="en-IN" sz="1800"/>
              <a:t> taken for classification or regression.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 sz="1800"/>
              <a:t>3. Leaf Node (Terminal Node):</a:t>
            </a:r>
            <a:endParaRPr sz="18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800"/>
              <a:t>Represents the </a:t>
            </a:r>
            <a:r>
              <a:rPr b="1" lang="en-IN" sz="1800"/>
              <a:t>final decision or prediction</a:t>
            </a:r>
            <a:r>
              <a:rPr lang="en-IN" sz="1800"/>
              <a:t>.No further splitting occurs from this node.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800"/>
              <a:t>Each leaf corresponds to a </a:t>
            </a:r>
            <a:r>
              <a:rPr b="1" lang="en-IN" sz="1800"/>
              <a:t>class label</a:t>
            </a:r>
            <a:r>
              <a:rPr lang="en-IN" sz="1800"/>
              <a:t> (for classification) or a </a:t>
            </a:r>
            <a:r>
              <a:rPr b="1" lang="en-IN" sz="1800"/>
              <a:t>numerical value</a:t>
            </a:r>
            <a:r>
              <a:rPr lang="en-IN" sz="1800"/>
              <a:t> (for regression).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 sz="1800"/>
              <a:t>4. Splitting:</a:t>
            </a:r>
            <a:endParaRPr sz="1800"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800"/>
              <a:t>The process of </a:t>
            </a:r>
            <a:r>
              <a:rPr b="1" lang="en-IN" sz="1800"/>
              <a:t>dividing the dataset</a:t>
            </a:r>
            <a:r>
              <a:rPr lang="en-IN" sz="1800"/>
              <a:t> into smaller subsets based on a </a:t>
            </a:r>
            <a:r>
              <a:rPr b="1" lang="en-IN" sz="1800"/>
              <a:t>condition or feature value</a:t>
            </a:r>
            <a:r>
              <a:rPr lang="en-IN" sz="1800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 sz="1800"/>
              <a:t>Splitting continues recursively until a </a:t>
            </a:r>
            <a:r>
              <a:rPr b="1" lang="en-IN" sz="1800"/>
              <a:t>stopping criterion</a:t>
            </a:r>
            <a:r>
              <a:rPr lang="en-IN" sz="1800"/>
              <a:t> (like minimum samples or maximum depth) is reached.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059293689_2_19"/>
          <p:cNvSpPr txBox="1"/>
          <p:nvPr>
            <p:ph type="title"/>
          </p:nvPr>
        </p:nvSpPr>
        <p:spPr>
          <a:xfrm>
            <a:off x="2588725" y="-32657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Entropy and Information Gain</a:t>
            </a:r>
            <a:endParaRPr/>
          </a:p>
        </p:txBody>
      </p:sp>
      <p:sp>
        <p:nvSpPr>
          <p:cNvPr id="386" name="Google Shape;386;g37059293689_2_19"/>
          <p:cNvSpPr txBox="1"/>
          <p:nvPr>
            <p:ph idx="1" type="body"/>
          </p:nvPr>
        </p:nvSpPr>
        <p:spPr>
          <a:xfrm>
            <a:off x="342900" y="375557"/>
            <a:ext cx="11963400" cy="61068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5"/>
          <p:cNvSpPr txBox="1"/>
          <p:nvPr>
            <p:ph idx="1" type="body"/>
          </p:nvPr>
        </p:nvSpPr>
        <p:spPr>
          <a:xfrm>
            <a:off x="212271" y="244929"/>
            <a:ext cx="11979729" cy="60742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9671" y="0"/>
            <a:ext cx="7533953" cy="6647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Decision Tree Algorithms</a:t>
            </a:r>
            <a:endParaRPr/>
          </a:p>
        </p:txBody>
      </p:sp>
      <p:sp>
        <p:nvSpPr>
          <p:cNvPr id="402" name="Google Shape;402;p67"/>
          <p:cNvSpPr txBox="1"/>
          <p:nvPr>
            <p:ph idx="1" type="body"/>
          </p:nvPr>
        </p:nvSpPr>
        <p:spPr>
          <a:xfrm>
            <a:off x="553507" y="1447959"/>
            <a:ext cx="11638493" cy="5083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Decision Tree algorithms are methods used to </a:t>
            </a:r>
            <a:r>
              <a:rPr b="1" lang="en-IN"/>
              <a:t>build decision trees</a:t>
            </a:r>
            <a:r>
              <a:rPr lang="en-IN"/>
              <a:t> automatically from data.</a:t>
            </a:r>
            <a:br>
              <a:rPr lang="en-IN"/>
            </a:br>
            <a:r>
              <a:rPr lang="en-IN"/>
              <a:t>They decide </a:t>
            </a:r>
            <a:r>
              <a:rPr b="1" lang="en-IN"/>
              <a:t>which features</a:t>
            </a:r>
            <a:r>
              <a:rPr lang="en-IN"/>
              <a:t> to split and </a:t>
            </a:r>
            <a:r>
              <a:rPr b="1" lang="en-IN"/>
              <a:t>how deep</a:t>
            </a:r>
            <a:r>
              <a:rPr lang="en-IN"/>
              <a:t> the tree should go, using mathematical measures like </a:t>
            </a:r>
            <a:r>
              <a:rPr b="1" lang="en-IN"/>
              <a:t>Information Gain</a:t>
            </a:r>
            <a:r>
              <a:rPr lang="en-IN"/>
              <a:t> or </a:t>
            </a:r>
            <a:r>
              <a:rPr b="1" lang="en-IN"/>
              <a:t>Gini Index</a:t>
            </a:r>
            <a:r>
              <a:rPr lang="en-IN"/>
              <a:t>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Two popular Decision Tree algorithms are </a:t>
            </a:r>
            <a:r>
              <a:rPr b="1" lang="en-IN"/>
              <a:t>ID3</a:t>
            </a:r>
            <a:r>
              <a:rPr lang="en-IN"/>
              <a:t> and </a:t>
            </a:r>
            <a:r>
              <a:rPr b="1" lang="en-IN"/>
              <a:t>Random Forest</a:t>
            </a:r>
            <a:r>
              <a:rPr lang="en-IN"/>
              <a:t>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8"/>
          <p:cNvSpPr txBox="1"/>
          <p:nvPr>
            <p:ph idx="1" type="body"/>
          </p:nvPr>
        </p:nvSpPr>
        <p:spPr>
          <a:xfrm>
            <a:off x="553507" y="137947"/>
            <a:ext cx="11872536" cy="608323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0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9"/>
          <p:cNvSpPr txBox="1"/>
          <p:nvPr>
            <p:ph idx="1" type="body"/>
          </p:nvPr>
        </p:nvSpPr>
        <p:spPr>
          <a:xfrm>
            <a:off x="1451579" y="0"/>
            <a:ext cx="960327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Advantages: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Simple and easy to understand.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Fast for small datasets.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Limitations: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Works best with </a:t>
            </a:r>
            <a:r>
              <a:rPr b="1" lang="en-IN"/>
              <a:t>categorical data only</a:t>
            </a:r>
            <a:r>
              <a:rPr lang="en-IN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Can </a:t>
            </a:r>
            <a:r>
              <a:rPr b="1" lang="en-IN"/>
              <a:t>overfit</a:t>
            </a:r>
            <a:r>
              <a:rPr lang="en-IN"/>
              <a:t> (become too specific) if not controlled.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Example (Mechanical Context):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IN"/>
              <a:t>Predicting whether a </a:t>
            </a:r>
            <a:r>
              <a:rPr b="1" lang="en-IN"/>
              <a:t>machine needs maintenance</a:t>
            </a:r>
            <a:r>
              <a:rPr lang="en-IN"/>
              <a:t> based on: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Vibration Level (Low/High)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Temperature (Normal/High)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Noise (Low/High)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IN"/>
              <a:t>The ID3 algorithm selects the attribute giving </a:t>
            </a:r>
            <a:r>
              <a:rPr b="1" lang="en-IN"/>
              <a:t>maximum Information Gain</a:t>
            </a:r>
            <a:r>
              <a:rPr lang="en-IN"/>
              <a:t> at each split.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0"/>
          <p:cNvSpPr txBox="1"/>
          <p:nvPr>
            <p:ph idx="1" type="body"/>
          </p:nvPr>
        </p:nvSpPr>
        <p:spPr>
          <a:xfrm>
            <a:off x="1451579" y="114300"/>
            <a:ext cx="9603275" cy="56170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b="1" lang="en-IN"/>
              <a:t>Random Forest Algorithm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b="1" lang="en-IN"/>
              <a:t>Definition:</a:t>
            </a:r>
            <a:br>
              <a:rPr lang="en-IN"/>
            </a:br>
            <a:r>
              <a:rPr lang="en-IN"/>
              <a:t>Random Forest is an </a:t>
            </a:r>
            <a:r>
              <a:rPr b="1" lang="en-IN"/>
              <a:t>ensemble method</a:t>
            </a:r>
            <a:r>
              <a:rPr lang="en-IN"/>
              <a:t> that combines </a:t>
            </a:r>
            <a:r>
              <a:rPr b="1" lang="en-IN"/>
              <a:t>multiple decision trees</a:t>
            </a:r>
            <a:r>
              <a:rPr lang="en-IN"/>
              <a:t> to improve prediction accuracy.</a:t>
            </a:r>
            <a:br>
              <a:rPr lang="en-IN"/>
            </a:br>
            <a:r>
              <a:rPr lang="en-IN"/>
              <a:t>It is used for both </a:t>
            </a:r>
            <a:r>
              <a:rPr b="1" lang="en-IN"/>
              <a:t>classification and regression</a:t>
            </a:r>
            <a:r>
              <a:rPr lang="en-IN"/>
              <a:t> tasks.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b="1" lang="en-IN"/>
              <a:t>Concept:</a:t>
            </a:r>
            <a:br>
              <a:rPr lang="en-IN"/>
            </a:br>
            <a:r>
              <a:rPr lang="en-IN"/>
              <a:t>Instead of using one tree, Random Forest builds </a:t>
            </a:r>
            <a:r>
              <a:rPr b="1" lang="en-IN"/>
              <a:t>many trees</a:t>
            </a:r>
            <a:r>
              <a:rPr lang="en-IN"/>
              <a:t> using random subsets of data and features.</a:t>
            </a:r>
            <a:br>
              <a:rPr lang="en-IN"/>
            </a:br>
            <a:r>
              <a:rPr lang="en-IN"/>
              <a:t>The final prediction is made by </a:t>
            </a:r>
            <a:r>
              <a:rPr b="1" lang="en-IN"/>
              <a:t>majority voting</a:t>
            </a:r>
            <a:r>
              <a:rPr lang="en-IN"/>
              <a:t> (for classification) or </a:t>
            </a:r>
            <a:r>
              <a:rPr b="1" lang="en-IN"/>
              <a:t>average prediction</a:t>
            </a:r>
            <a:r>
              <a:rPr lang="en-IN"/>
              <a:t> (for regression).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b="1" lang="en-IN"/>
              <a:t>Steps: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7"/>
              <a:buFont typeface="Arial"/>
              <a:buAutoNum type="arabicPeriod"/>
            </a:pPr>
            <a:r>
              <a:rPr lang="en-IN"/>
              <a:t>Select random samples from the dataset.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7"/>
              <a:buFont typeface="Arial"/>
              <a:buAutoNum type="arabicPeriod"/>
            </a:pPr>
            <a:r>
              <a:rPr lang="en-IN"/>
              <a:t>Build a </a:t>
            </a:r>
            <a:r>
              <a:rPr b="1" lang="en-IN"/>
              <a:t>decision tree</a:t>
            </a:r>
            <a:r>
              <a:rPr lang="en-IN"/>
              <a:t> for each sample.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7"/>
              <a:buFont typeface="Arial"/>
              <a:buAutoNum type="arabicPeriod"/>
            </a:pPr>
            <a:r>
              <a:rPr lang="en-IN"/>
              <a:t>Repeat the process to create many trees (e.g., 100 trees).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7"/>
              <a:buFont typeface="Arial"/>
              <a:buAutoNum type="arabicPeriod"/>
            </a:pPr>
            <a:r>
              <a:rPr lang="en-IN"/>
              <a:t>Combine all tree outputs: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AutoNum type="arabicPeriod"/>
            </a:pPr>
            <a:r>
              <a:rPr b="1" lang="en-IN"/>
              <a:t>Classification:</a:t>
            </a:r>
            <a:r>
              <a:rPr lang="en-IN"/>
              <a:t> Take the </a:t>
            </a:r>
            <a:r>
              <a:rPr b="1" lang="en-IN"/>
              <a:t>majority vote</a:t>
            </a:r>
            <a:r>
              <a:rPr lang="en-IN"/>
              <a:t>.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AutoNum type="arabicPeriod"/>
            </a:pPr>
            <a:r>
              <a:rPr b="1" lang="en-IN"/>
              <a:t>Regression:</a:t>
            </a:r>
            <a:r>
              <a:rPr lang="en-IN"/>
              <a:t> Take the </a:t>
            </a:r>
            <a:r>
              <a:rPr b="1" lang="en-IN"/>
              <a:t>average</a:t>
            </a:r>
            <a:r>
              <a:rPr lang="en-IN"/>
              <a:t> of all predictions.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1"/>
          <p:cNvSpPr txBox="1"/>
          <p:nvPr>
            <p:ph idx="1" type="body"/>
          </p:nvPr>
        </p:nvSpPr>
        <p:spPr>
          <a:xfrm>
            <a:off x="651479" y="317561"/>
            <a:ext cx="11540521" cy="5740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Advantages: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Reduces </a:t>
            </a:r>
            <a:r>
              <a:rPr b="1" lang="en-IN"/>
              <a:t>overfitting</a:t>
            </a:r>
            <a:r>
              <a:rPr lang="en-IN"/>
              <a:t> compared to a single decision tree.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Works well with </a:t>
            </a:r>
            <a:r>
              <a:rPr b="1" lang="en-IN"/>
              <a:t>large datasets</a:t>
            </a:r>
            <a:r>
              <a:rPr lang="en-IN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Handles </a:t>
            </a:r>
            <a:r>
              <a:rPr b="1" lang="en-IN"/>
              <a:t>missing values</a:t>
            </a:r>
            <a:r>
              <a:rPr lang="en-IN"/>
              <a:t> effectively.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Disadvantages: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Slower than a single decision tree.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More complex to interpret.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Example 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IN"/>
              <a:t>Predicting </a:t>
            </a:r>
            <a:r>
              <a:rPr b="1" lang="en-IN"/>
              <a:t>tool wear level</a:t>
            </a:r>
            <a:r>
              <a:rPr lang="en-IN"/>
              <a:t> using multiple factors — temperature, vibration, spindle speed, and feed rate.</a:t>
            </a:r>
            <a:br>
              <a:rPr lang="en-IN"/>
            </a:br>
            <a:r>
              <a:rPr lang="en-IN"/>
              <a:t>Random Forest combines multiple trees to make a more reliable prediction.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Evaluation Metrics</a:t>
            </a:r>
            <a:endParaRPr/>
          </a:p>
        </p:txBody>
      </p:sp>
      <p:sp>
        <p:nvSpPr>
          <p:cNvPr id="428" name="Google Shape;428;p72"/>
          <p:cNvSpPr txBox="1"/>
          <p:nvPr>
            <p:ph idx="1" type="body"/>
          </p:nvPr>
        </p:nvSpPr>
        <p:spPr>
          <a:xfrm>
            <a:off x="1137146" y="1553634"/>
            <a:ext cx="10782711" cy="4177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In </a:t>
            </a:r>
            <a:r>
              <a:rPr b="1" lang="en-IN"/>
              <a:t>Machine Learning classification models</a:t>
            </a:r>
            <a:r>
              <a:rPr lang="en-IN"/>
              <a:t>, we use various </a:t>
            </a:r>
            <a:r>
              <a:rPr b="1" lang="en-IN"/>
              <a:t>evaluation metrics</a:t>
            </a:r>
            <a:r>
              <a:rPr lang="en-IN"/>
              <a:t> to check how well the model performs on unseen data.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br>
              <a:rPr lang="en-IN"/>
            </a:br>
            <a:r>
              <a:rPr lang="en-IN"/>
              <a:t>These metrics help measure how accurately the model predicts the correct class labels (for example — </a:t>
            </a:r>
            <a:r>
              <a:rPr i="1" lang="en-IN"/>
              <a:t>Pass/Fail, Defective/Non-defective, Yes/No</a:t>
            </a:r>
            <a:r>
              <a:rPr lang="en-IN"/>
              <a:t>).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3" name="Google Shape;433;p73"/>
          <p:cNvGraphicFramePr/>
          <p:nvPr/>
        </p:nvGraphicFramePr>
        <p:xfrm>
          <a:off x="838200" y="6046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{728C4CEB-0DE2-40C8-97EE-B0444A21FD5C}</a:tableStyleId>
              </a:tblPr>
              <a:tblGrid>
                <a:gridCol w="3505200"/>
                <a:gridCol w="3505200"/>
                <a:gridCol w="350520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Actual \ Predicted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Positive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Negative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/>
                        <a:t>Positive</a:t>
                      </a:r>
                      <a:endParaRPr sz="2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True Positive (TP)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False Negative (FN)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/>
                        <a:t>Negative</a:t>
                      </a:r>
                      <a:endParaRPr sz="2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False Positive (FP)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True Negative (TN)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4" name="Google Shape;434;p73"/>
          <p:cNvSpPr/>
          <p:nvPr/>
        </p:nvSpPr>
        <p:spPr>
          <a:xfrm>
            <a:off x="658587" y="2364940"/>
            <a:ext cx="106952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understanding the metrics, we must know the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summarizes the prediction results.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TP (True Positive):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correctly predicts the positive class.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TN (True Negative):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correctly predicts the negative class.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(False Positive):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predicts positive when it’s actually negative (Type I error).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FN (False Negative):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predicts negative when it’s actually positive (Type II error).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4"/>
          <p:cNvSpPr txBox="1"/>
          <p:nvPr>
            <p:ph idx="1" type="body"/>
          </p:nvPr>
        </p:nvSpPr>
        <p:spPr>
          <a:xfrm>
            <a:off x="1451579" y="669472"/>
            <a:ext cx="9603275" cy="47968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5"/>
          <p:cNvSpPr txBox="1"/>
          <p:nvPr>
            <p:ph idx="1" type="body"/>
          </p:nvPr>
        </p:nvSpPr>
        <p:spPr>
          <a:xfrm>
            <a:off x="1451579" y="277586"/>
            <a:ext cx="9603275" cy="518875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6"/>
          <p:cNvSpPr txBox="1"/>
          <p:nvPr>
            <p:ph idx="1" type="body"/>
          </p:nvPr>
        </p:nvSpPr>
        <p:spPr>
          <a:xfrm>
            <a:off x="1451579" y="522514"/>
            <a:ext cx="9603275" cy="49438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7"/>
          <p:cNvSpPr txBox="1"/>
          <p:nvPr>
            <p:ph idx="1" type="body"/>
          </p:nvPr>
        </p:nvSpPr>
        <p:spPr>
          <a:xfrm>
            <a:off x="1451579" y="310244"/>
            <a:ext cx="9603275" cy="515610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Summary</a:t>
            </a:r>
            <a:endParaRPr/>
          </a:p>
        </p:txBody>
      </p:sp>
      <p:graphicFrame>
        <p:nvGraphicFramePr>
          <p:cNvPr id="460" name="Google Shape;460;p78"/>
          <p:cNvGraphicFramePr/>
          <p:nvPr/>
        </p:nvGraphicFramePr>
        <p:xfrm>
          <a:off x="838199" y="13226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{728C4CEB-0DE2-40C8-97EE-B0444A21FD5C}</a:tableStyleId>
              </a:tblPr>
              <a:tblGrid>
                <a:gridCol w="2799000"/>
                <a:gridCol w="2799000"/>
                <a:gridCol w="2799000"/>
                <a:gridCol w="2799000"/>
              </a:tblGrid>
              <a:tr h="47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Metric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Formula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Interpretation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Ideal 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Accuracy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(TP + TN) / (TP + TN + FP + FN)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Overall correctness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Precision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TP / (TP + FP)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Correctness of positive predictions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Recall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TP / (TP + FN)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Ability to find all positive cases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F1-Score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 × (Precision × Recall) / (Precision + Recall)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Balance between precision &amp; recall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9"/>
          <p:cNvSpPr txBox="1"/>
          <p:nvPr>
            <p:ph idx="1" type="body"/>
          </p:nvPr>
        </p:nvSpPr>
        <p:spPr>
          <a:xfrm>
            <a:off x="1451579" y="489858"/>
            <a:ext cx="9603275" cy="4976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Mechanical Example Recap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In a </a:t>
            </a:r>
            <a:r>
              <a:rPr b="1" lang="en-IN" sz="2800"/>
              <a:t>machine fault classification system</a:t>
            </a:r>
            <a:r>
              <a:rPr lang="en-IN" sz="2800"/>
              <a:t>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Precision</a:t>
            </a:r>
            <a:r>
              <a:rPr lang="en-IN" sz="2800"/>
              <a:t> tells how many detected faults are real.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Recall</a:t>
            </a:r>
            <a:r>
              <a:rPr lang="en-IN" sz="2800"/>
              <a:t> tells how many actual faults are detected.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Accuracy</a:t>
            </a:r>
            <a:r>
              <a:rPr lang="en-IN" sz="2800"/>
              <a:t> shows overall correctness.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F1-score</a:t>
            </a:r>
            <a:r>
              <a:rPr lang="en-IN" sz="2800"/>
              <a:t> provides a balanced view of performance.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471" name="Google Shape;471;p80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472" name="Google Shape;472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034" y="143797"/>
            <a:ext cx="10623177" cy="6531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81"/>
          <p:cNvSpPr txBox="1"/>
          <p:nvPr>
            <p:ph type="title"/>
          </p:nvPr>
        </p:nvSpPr>
        <p:spPr>
          <a:xfrm>
            <a:off x="1294362" y="114300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/>
              <a:t>Cross Validation</a:t>
            </a:r>
            <a:endParaRPr/>
          </a:p>
        </p:txBody>
      </p:sp>
      <p:sp>
        <p:nvSpPr>
          <p:cNvPr id="478" name="Google Shape;478;p81"/>
          <p:cNvSpPr txBox="1"/>
          <p:nvPr>
            <p:ph idx="1" type="body"/>
          </p:nvPr>
        </p:nvSpPr>
        <p:spPr>
          <a:xfrm>
            <a:off x="193221" y="906236"/>
            <a:ext cx="11805556" cy="504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Cross-validation is used to </a:t>
            </a:r>
            <a:r>
              <a:rPr b="1" lang="en-IN" sz="2800"/>
              <a:t>test the performance</a:t>
            </a:r>
            <a:r>
              <a:rPr lang="en-IN" sz="2800"/>
              <a:t> of a model by splitting the data into multiple parts (folds).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In Machine Learning, after training a model, we must check </a:t>
            </a:r>
            <a:r>
              <a:rPr b="1" lang="en-IN" sz="2800"/>
              <a:t>how well it performs on unseen data</a:t>
            </a:r>
            <a:r>
              <a:rPr lang="en-IN" sz="2800"/>
              <a:t>.</a:t>
            </a:r>
            <a:br>
              <a:rPr lang="en-IN" sz="2800"/>
            </a:br>
            <a:r>
              <a:rPr lang="en-IN" sz="2800"/>
              <a:t>If we train and test on the same data, the model may </a:t>
            </a:r>
            <a:r>
              <a:rPr b="1" lang="en-IN" sz="2800"/>
              <a:t>memorize</a:t>
            </a:r>
            <a:r>
              <a:rPr lang="en-IN" sz="2800"/>
              <a:t> instead of learning — this problem is called </a:t>
            </a:r>
            <a:r>
              <a:rPr b="1" lang="en-IN" sz="2800"/>
              <a:t>overfitting</a:t>
            </a:r>
            <a:r>
              <a:rPr lang="en-IN" sz="2800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To solve this, we use </a:t>
            </a:r>
            <a:r>
              <a:rPr b="1" lang="en-IN" sz="2800"/>
              <a:t>Cross Validation</a:t>
            </a:r>
            <a:r>
              <a:rPr lang="en-IN" sz="2800"/>
              <a:t> — a </a:t>
            </a:r>
            <a:r>
              <a:rPr b="1" lang="en-IN" sz="2800"/>
              <a:t>statistical method</a:t>
            </a:r>
            <a:r>
              <a:rPr lang="en-IN" sz="2800"/>
              <a:t> to test the performance and reliability of a model.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2"/>
          <p:cNvSpPr txBox="1"/>
          <p:nvPr>
            <p:ph idx="1" type="body"/>
          </p:nvPr>
        </p:nvSpPr>
        <p:spPr>
          <a:xfrm>
            <a:off x="506187" y="424544"/>
            <a:ext cx="11430000" cy="609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Definition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2800"/>
              <a:t>Cross Validation</a:t>
            </a:r>
            <a:r>
              <a:rPr lang="en-IN" sz="2800"/>
              <a:t> is a technique used to </a:t>
            </a:r>
            <a:r>
              <a:rPr b="1" lang="en-IN" sz="2800"/>
              <a:t>evaluate a machine learning model’s performance</a:t>
            </a:r>
            <a:r>
              <a:rPr lang="en-IN" sz="2800"/>
              <a:t> by splitting the data into multiple parts and testing the model on different subsets.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It helps ensure that the model: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Performs well on unseen data,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Is not overfitted or underfitted,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2800"/>
              <a:t>Gives stable and accurate predictions.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3"/>
          <p:cNvSpPr txBox="1"/>
          <p:nvPr>
            <p:ph idx="1" type="body"/>
          </p:nvPr>
        </p:nvSpPr>
        <p:spPr>
          <a:xfrm>
            <a:off x="669471" y="440871"/>
            <a:ext cx="10385383" cy="6172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IN" sz="3200"/>
              <a:t>Working Principle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3200"/>
              <a:t>Divide the entire dataset into two parts:</a:t>
            </a:r>
            <a:endParaRPr/>
          </a:p>
          <a:p>
            <a:pPr indent="-3429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en-IN" sz="2800"/>
              <a:t>Training Set</a:t>
            </a:r>
            <a:r>
              <a:rPr lang="en-IN" sz="2800"/>
              <a:t> → used to train the model.</a:t>
            </a:r>
            <a:endParaRPr/>
          </a:p>
          <a:p>
            <a:pPr indent="-3429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1" lang="en-IN" sz="2800"/>
              <a:t>Testing Set</a:t>
            </a:r>
            <a:r>
              <a:rPr lang="en-IN" sz="2800"/>
              <a:t> → used to check model performance.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3200"/>
              <a:t>Cross-validation repeats this process </a:t>
            </a:r>
            <a:r>
              <a:rPr b="1" lang="en-IN" sz="3200"/>
              <a:t>multiple times</a:t>
            </a:r>
            <a:r>
              <a:rPr lang="en-IN" sz="3200"/>
              <a:t> with different splits to ensure reliable results.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4"/>
          <p:cNvSpPr txBox="1"/>
          <p:nvPr>
            <p:ph idx="1" type="body"/>
          </p:nvPr>
        </p:nvSpPr>
        <p:spPr>
          <a:xfrm>
            <a:off x="326571" y="0"/>
            <a:ext cx="11865429" cy="61068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5"/>
          <p:cNvSpPr txBox="1"/>
          <p:nvPr>
            <p:ph idx="1" type="body"/>
          </p:nvPr>
        </p:nvSpPr>
        <p:spPr>
          <a:xfrm>
            <a:off x="342900" y="0"/>
            <a:ext cx="11576957" cy="6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K-Fold Cross Validation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IN"/>
              <a:t>It is the </a:t>
            </a:r>
            <a:r>
              <a:rPr b="1" lang="en-IN"/>
              <a:t>most common type</a:t>
            </a:r>
            <a:r>
              <a:rPr lang="en-IN"/>
              <a:t> of cross-validation.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Step-by-step process: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IN"/>
              <a:t>Split the dataset into </a:t>
            </a:r>
            <a:r>
              <a:rPr b="1" lang="en-IN"/>
              <a:t>K equal parts (folds)</a:t>
            </a:r>
            <a:r>
              <a:rPr lang="en-IN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IN"/>
              <a:t>For each iteration: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IN"/>
              <a:t>Use </a:t>
            </a:r>
            <a:r>
              <a:rPr b="1" lang="en-IN"/>
              <a:t>K−1 folds</a:t>
            </a:r>
            <a:r>
              <a:rPr lang="en-IN"/>
              <a:t> for training.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IN"/>
              <a:t>Use </a:t>
            </a:r>
            <a:r>
              <a:rPr b="1" lang="en-IN"/>
              <a:t>1 fold</a:t>
            </a:r>
            <a:r>
              <a:rPr lang="en-IN"/>
              <a:t> for testing.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IN"/>
              <a:t>Repeat this </a:t>
            </a:r>
            <a:r>
              <a:rPr b="1" lang="en-IN"/>
              <a:t>K times</a:t>
            </a:r>
            <a:r>
              <a:rPr lang="en-IN"/>
              <a:t>, changing the test fold each time.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IN"/>
              <a:t>Finally, take the </a:t>
            </a:r>
            <a:r>
              <a:rPr b="1" lang="en-IN"/>
              <a:t>average accuracy</a:t>
            </a:r>
            <a:r>
              <a:rPr lang="en-IN"/>
              <a:t> from all K tests — this gives the final performance score.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504" name="Google Shape;504;p86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505" name="Google Shape;50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146" y="381864"/>
            <a:ext cx="10292854" cy="6095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7"/>
          <p:cNvSpPr txBox="1"/>
          <p:nvPr>
            <p:ph idx="1" type="body"/>
          </p:nvPr>
        </p:nvSpPr>
        <p:spPr>
          <a:xfrm>
            <a:off x="-163286" y="0"/>
            <a:ext cx="12034157" cy="6645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Advantages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Gives a </a:t>
            </a:r>
            <a:r>
              <a:rPr b="1" lang="en-IN"/>
              <a:t>more accurate estimate</a:t>
            </a:r>
            <a:r>
              <a:rPr lang="en-IN"/>
              <a:t> of model performance.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Reduces the risk of </a:t>
            </a:r>
            <a:r>
              <a:rPr b="1" lang="en-IN"/>
              <a:t>overfitting</a:t>
            </a:r>
            <a:r>
              <a:rPr lang="en-IN"/>
              <a:t>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Makes use of the </a:t>
            </a:r>
            <a:r>
              <a:rPr b="1" lang="en-IN"/>
              <a:t>entire dataset</a:t>
            </a:r>
            <a:r>
              <a:rPr lang="en-IN"/>
              <a:t> for both training and testing.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 Limitations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Increases </a:t>
            </a:r>
            <a:r>
              <a:rPr b="1" lang="en-IN"/>
              <a:t>computational cost</a:t>
            </a:r>
            <a:r>
              <a:rPr lang="en-IN"/>
              <a:t> (model trains multiple times).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IN"/>
              <a:t>Not suitable for </a:t>
            </a:r>
            <a:r>
              <a:rPr b="1" lang="en-IN"/>
              <a:t>very large datasets</a:t>
            </a:r>
            <a:r>
              <a:rPr lang="en-IN"/>
              <a:t> if computation power is limited.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 Types of Cross Validation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1" lang="en-IN"/>
              <a:t>K-Fold Cross Validation</a:t>
            </a:r>
            <a:r>
              <a:rPr lang="en-IN"/>
              <a:t> → Most commonly used.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1" lang="en-IN"/>
              <a:t>Leave-One-Out (LOOCV)</a:t>
            </a:r>
            <a:r>
              <a:rPr lang="en-IN"/>
              <a:t> → Each data point is tested once; very accurate but slow.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1" lang="en-IN"/>
              <a:t>Stratified K-Fold</a:t>
            </a:r>
            <a:r>
              <a:rPr lang="en-IN"/>
              <a:t> → Keeps class proportions same in all folds (useful for classification).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1" lang="en-IN"/>
              <a:t>Repeated K-Fold</a:t>
            </a:r>
            <a:r>
              <a:rPr lang="en-IN"/>
              <a:t> → Repeats K-fold multiple times for better reliability.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8"/>
          <p:cNvSpPr txBox="1"/>
          <p:nvPr>
            <p:ph idx="1" type="body"/>
          </p:nvPr>
        </p:nvSpPr>
        <p:spPr>
          <a:xfrm>
            <a:off x="1451579" y="0"/>
            <a:ext cx="9603275" cy="6547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1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/>
              <a:t>Example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 sz="3200"/>
              <a:t>Suppose we build a </a:t>
            </a:r>
            <a:r>
              <a:rPr b="1" lang="en-IN" sz="3200"/>
              <a:t>regression model</a:t>
            </a:r>
            <a:r>
              <a:rPr lang="en-IN" sz="3200"/>
              <a:t> to predict </a:t>
            </a:r>
            <a:r>
              <a:rPr b="1" lang="en-IN" sz="3200"/>
              <a:t>engine fuel consumption</a:t>
            </a:r>
            <a:r>
              <a:rPr lang="en-IN" sz="3200"/>
              <a:t> based on speed, temperature, and load.</a:t>
            </a:r>
            <a:br>
              <a:rPr lang="en-IN" sz="3200"/>
            </a:br>
            <a:r>
              <a:rPr lang="en-IN" sz="3200"/>
              <a:t>By applying </a:t>
            </a:r>
            <a:r>
              <a:rPr b="1" lang="en-IN" sz="3200"/>
              <a:t>5-Fold Cross Validation</a:t>
            </a:r>
            <a:r>
              <a:rPr lang="en-IN" sz="3200"/>
              <a:t>, we train and test the model five times using different subsets of data.</a:t>
            </a:r>
            <a:br>
              <a:rPr lang="en-IN" sz="3200"/>
            </a:br>
            <a:r>
              <a:rPr lang="en-IN" sz="3200"/>
              <a:t>If all rounds show similar accuracy, it means the model is </a:t>
            </a:r>
            <a:r>
              <a:rPr b="1" lang="en-IN" sz="3200"/>
              <a:t>stable and reliable</a:t>
            </a:r>
            <a:r>
              <a:rPr lang="en-IN" sz="3200"/>
              <a:t>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9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IN" sz="3400">
                <a:solidFill>
                  <a:srgbClr val="FFFFFF"/>
                </a:solidFill>
              </a:rPr>
              <a:t>Key Differences Between Regression and Classification</a:t>
            </a:r>
            <a:endParaRPr sz="3400">
              <a:solidFill>
                <a:srgbClr val="FFFFFF"/>
              </a:solidFill>
            </a:endParaRPr>
          </a:p>
        </p:txBody>
      </p:sp>
      <p:graphicFrame>
        <p:nvGraphicFramePr>
          <p:cNvPr id="521" name="Google Shape;521;p89"/>
          <p:cNvGraphicFramePr/>
          <p:nvPr/>
        </p:nvGraphicFramePr>
        <p:xfrm>
          <a:off x="732365" y="1332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{728C4CEB-0DE2-40C8-97EE-B0444A21FD5C}</a:tableStyleId>
              </a:tblPr>
              <a:tblGrid>
                <a:gridCol w="3764500"/>
                <a:gridCol w="3764500"/>
                <a:gridCol w="3789125"/>
              </a:tblGrid>
              <a:tr h="43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Regression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Classification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Output Type</a:t>
                      </a:r>
                      <a:endParaRPr b="0" i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Continuous numeric value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Categorical value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Examples</a:t>
                      </a:r>
                      <a:endParaRPr b="0" i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temperature, pressure, cost, speed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machine fault type, material quality, pass/fail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Algorithms Used</a:t>
                      </a:r>
                      <a:endParaRPr b="0" i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Regression, Polynomial Regression, Decision Tree Regression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 Regression, SVM, Decision Trees, Random Forest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Error Measure</a:t>
                      </a:r>
                      <a:endParaRPr b="0" i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Mean Squared Error (MSE), RMSE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Accuracy, Precision, Recall, F1-score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Graph Output</a:t>
                      </a:r>
                      <a:endParaRPr b="0" i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Line or curve fit through data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 boundary between classes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 in Mechanical Engg.</a:t>
                      </a:r>
                      <a:endParaRPr b="0" i="0"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Predicting torque, stress, or performance efficiency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IN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Classifying defect type, fault detection, quality grading</a:t>
                      </a:r>
                      <a:endParaRPr/>
                    </a:p>
                  </a:txBody>
                  <a:tcPr marT="42950" marB="42950" marR="85925" marL="85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90"/>
          <p:cNvSpPr txBox="1"/>
          <p:nvPr>
            <p:ph idx="1" type="body"/>
          </p:nvPr>
        </p:nvSpPr>
        <p:spPr>
          <a:xfrm>
            <a:off x="602493" y="382875"/>
            <a:ext cx="11170407" cy="59852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lang="en-IN" sz="2800"/>
              <a:t>Real-Life Mechanical Examples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1" lang="en-IN" sz="2800"/>
              <a:t>Regression Example:</a:t>
            </a:r>
            <a:endParaRPr sz="2800"/>
          </a:p>
          <a:p>
            <a:pPr indent="-285750" lvl="1" marL="7429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IN" sz="2400"/>
              <a:t>Problem: Predict </a:t>
            </a:r>
            <a:r>
              <a:rPr b="1" lang="en-IN" sz="2400"/>
              <a:t>fuel consumption (L/hr)</a:t>
            </a:r>
            <a:r>
              <a:rPr lang="en-IN" sz="2400"/>
              <a:t> of an engine based on </a:t>
            </a:r>
            <a:r>
              <a:rPr b="1" lang="en-IN" sz="2400"/>
              <a:t>speed (RPM)</a:t>
            </a:r>
            <a:r>
              <a:rPr lang="en-IN" sz="2400"/>
              <a:t> and </a:t>
            </a:r>
            <a:r>
              <a:rPr b="1" lang="en-IN" sz="2400"/>
              <a:t>load (kg)</a:t>
            </a:r>
            <a:r>
              <a:rPr lang="en-IN" sz="2400"/>
              <a:t>.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IN" sz="2400"/>
              <a:t>Output: A numeric value → e.g., 5.4 L/hr.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1" lang="en-IN" sz="2800"/>
              <a:t>Classification Example:</a:t>
            </a:r>
            <a:endParaRPr sz="2800"/>
          </a:p>
          <a:p>
            <a:pPr indent="-285750" lvl="1" marL="7429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IN" sz="2400"/>
              <a:t>Problem: Predict whether a </a:t>
            </a:r>
            <a:r>
              <a:rPr b="1" lang="en-IN" sz="2400"/>
              <a:t>gearbox</a:t>
            </a:r>
            <a:r>
              <a:rPr lang="en-IN" sz="2400"/>
              <a:t> is </a:t>
            </a:r>
            <a:r>
              <a:rPr b="1" lang="en-IN" sz="2400"/>
              <a:t>normal (0)</a:t>
            </a:r>
            <a:r>
              <a:rPr lang="en-IN" sz="2400"/>
              <a:t> or </a:t>
            </a:r>
            <a:r>
              <a:rPr b="1" lang="en-IN" sz="2400"/>
              <a:t>faulty (1)</a:t>
            </a:r>
            <a:r>
              <a:rPr lang="en-IN" sz="2400"/>
              <a:t> based on </a:t>
            </a:r>
            <a:r>
              <a:rPr b="1" lang="en-IN" sz="2400"/>
              <a:t>vibration</a:t>
            </a:r>
            <a:r>
              <a:rPr lang="en-IN" sz="2400"/>
              <a:t> and </a:t>
            </a:r>
            <a:r>
              <a:rPr b="1" lang="en-IN" sz="2400"/>
              <a:t>temperature data</a:t>
            </a:r>
            <a:r>
              <a:rPr lang="en-IN" sz="2400"/>
              <a:t>.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IN" sz="2400"/>
              <a:t>Output: A class label → “Faulty” or “Normal.”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ad09271f0e_0_0"/>
          <p:cNvSpPr txBox="1"/>
          <p:nvPr>
            <p:ph type="title"/>
          </p:nvPr>
        </p:nvSpPr>
        <p:spPr>
          <a:xfrm>
            <a:off x="1571179" y="-6"/>
            <a:ext cx="9603300" cy="104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Question Bank-Unit-5</a:t>
            </a:r>
            <a:endParaRPr/>
          </a:p>
        </p:txBody>
      </p:sp>
      <p:sp>
        <p:nvSpPr>
          <p:cNvPr id="533" name="Google Shape;533;g3ad09271f0e_0_0"/>
          <p:cNvSpPr txBox="1"/>
          <p:nvPr>
            <p:ph idx="1" type="body"/>
          </p:nvPr>
        </p:nvSpPr>
        <p:spPr>
          <a:xfrm>
            <a:off x="893375" y="799650"/>
            <a:ext cx="10869000" cy="51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8612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75"/>
              <a:buAutoNum type="arabicPeriod"/>
            </a:pPr>
            <a:r>
              <a:rPr lang="en-IN" sz="1575">
                <a:latin typeface="Arial"/>
                <a:ea typeface="Arial"/>
                <a:cs typeface="Arial"/>
                <a:sym typeface="Arial"/>
              </a:rPr>
              <a:t>Explain simple and multiple linear regression and discuss how they can be applied to predict mechanical parameters like material strength or fuel consumption.</a:t>
            </a:r>
            <a:endParaRPr sz="157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AutoNum type="arabicPeriod"/>
            </a:pPr>
            <a:r>
              <a:rPr lang="en-IN" sz="1575">
                <a:latin typeface="Arial"/>
                <a:ea typeface="Arial"/>
                <a:cs typeface="Arial"/>
                <a:sym typeface="Arial"/>
              </a:rPr>
              <a:t>Describe the assumptions of linear regression and analyze how violating these assumptions affects prediction accuracy in mechanical datasets.</a:t>
            </a:r>
            <a:endParaRPr sz="157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AutoNum type="arabicPeriod"/>
            </a:pPr>
            <a:r>
              <a:rPr lang="en-IN" sz="1575"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IN" sz="1575">
                <a:latin typeface="Arial"/>
                <a:ea typeface="Arial"/>
                <a:cs typeface="Arial"/>
                <a:sym typeface="Arial"/>
              </a:rPr>
              <a:t>xplain decision trees with relevant terminology and discuss their advantages, limitations, and applications in mechanical fault diagnosis.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AutoNum type="arabicPeriod"/>
            </a:pPr>
            <a:r>
              <a:rPr lang="en-IN" sz="1575">
                <a:latin typeface="Arial"/>
                <a:ea typeface="Arial"/>
                <a:cs typeface="Arial"/>
                <a:sym typeface="Arial"/>
              </a:rPr>
              <a:t>Compare logistic regression and SVM for classification tasks such as equipment failure prediction in mechanical systems.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AutoNum type="arabicPeriod"/>
            </a:pPr>
            <a:r>
              <a:rPr lang="en-IN" sz="1575">
                <a:latin typeface="Arial"/>
                <a:ea typeface="Arial"/>
                <a:cs typeface="Arial"/>
                <a:sym typeface="Arial"/>
              </a:rPr>
              <a:t>Describe Random Forest and evaluate how cross-validation improves the reliability of machine-learning models in mechanical eng</a:t>
            </a:r>
            <a:r>
              <a:rPr lang="en-IN" sz="1575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IN" sz="1575">
                <a:latin typeface="Arial"/>
                <a:ea typeface="Arial"/>
                <a:cs typeface="Arial"/>
                <a:sym typeface="Arial"/>
              </a:rPr>
              <a:t>neering applications.</a:t>
            </a:r>
            <a:endParaRPr sz="157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AutoNum type="arabicPeriod"/>
            </a:pPr>
            <a:r>
              <a:rPr lang="en-IN" sz="1575">
                <a:latin typeface="Arial"/>
                <a:ea typeface="Arial"/>
                <a:cs typeface="Arial"/>
                <a:sym typeface="Arial"/>
              </a:rPr>
              <a:t>What is polynomial regression? Explain how it can model nonlinear mechanical relationships such as stress–strain behaviour.</a:t>
            </a:r>
            <a:endParaRPr sz="157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AutoNum type="arabicPeriod"/>
            </a:pPr>
            <a:r>
              <a:rPr lang="en-IN" sz="1575">
                <a:latin typeface="Arial"/>
                <a:ea typeface="Arial"/>
                <a:cs typeface="Arial"/>
                <a:sym typeface="Arial"/>
              </a:rPr>
              <a:t>Define a confusion matrix and explain how precision and recall help assess the performance of fault detection models.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AutoNum type="arabicPeriod"/>
            </a:pPr>
            <a:r>
              <a:rPr lang="en-IN" sz="1575">
                <a:latin typeface="Arial"/>
                <a:ea typeface="Arial"/>
                <a:cs typeface="Arial"/>
                <a:sym typeface="Arial"/>
              </a:rPr>
              <a:t>Briefly explain decision tree algorithms like ID3 and Random Forest and give one mechanical application.</a:t>
            </a:r>
            <a:endParaRPr sz="157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AutoNum type="arabicPeriod"/>
            </a:pPr>
            <a:r>
              <a:rPr lang="en-IN" sz="1575">
                <a:latin typeface="Arial"/>
                <a:ea typeface="Arial"/>
                <a:cs typeface="Arial"/>
                <a:sym typeface="Arial"/>
              </a:rPr>
              <a:t>What are the common problems in decision trees? Mention how they affect prediction quality.</a:t>
            </a:r>
            <a:endParaRPr sz="157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AutoNum type="arabicPeriod"/>
            </a:pPr>
            <a:r>
              <a:rPr lang="en-IN" sz="1575">
                <a:latin typeface="Arial"/>
                <a:ea typeface="Arial"/>
                <a:cs typeface="Arial"/>
                <a:sym typeface="Arial"/>
              </a:rPr>
              <a:t>Explain how logistic regression works and give one example of its use in mechanical system classification.</a:t>
            </a:r>
            <a:endParaRPr sz="15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ad09271f0e_0_7"/>
          <p:cNvSpPr txBox="1"/>
          <p:nvPr>
            <p:ph type="title"/>
          </p:nvPr>
        </p:nvSpPr>
        <p:spPr>
          <a:xfrm>
            <a:off x="913329" y="86819"/>
            <a:ext cx="9603300" cy="104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Question Bank-Unit-6</a:t>
            </a:r>
            <a:endParaRPr/>
          </a:p>
        </p:txBody>
      </p:sp>
      <p:sp>
        <p:nvSpPr>
          <p:cNvPr id="540" name="Google Shape;540;g3ad09271f0e_0_7"/>
          <p:cNvSpPr txBox="1"/>
          <p:nvPr>
            <p:ph idx="1" type="body"/>
          </p:nvPr>
        </p:nvSpPr>
        <p:spPr>
          <a:xfrm>
            <a:off x="454774" y="1278100"/>
            <a:ext cx="10908900" cy="345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8612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75"/>
              <a:buFont typeface="Arial"/>
              <a:buAutoNum type="arabicPeriod"/>
            </a:pPr>
            <a:r>
              <a:rPr b="1" lang="en-IN" sz="1575">
                <a:latin typeface="Arial"/>
                <a:ea typeface="Arial"/>
                <a:cs typeface="Arial"/>
                <a:sym typeface="Arial"/>
              </a:rPr>
              <a:t>Explain how machine learning can be used for predictive maintenance in mechanical systems such as motors, pumps, or turbines.</a:t>
            </a:r>
            <a:endParaRPr b="1" sz="157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Font typeface="Arial"/>
              <a:buAutoNum type="arabicPeriod"/>
            </a:pPr>
            <a:r>
              <a:rPr b="1" lang="en-IN" sz="1575">
                <a:latin typeface="Arial"/>
                <a:ea typeface="Arial"/>
                <a:cs typeface="Arial"/>
                <a:sym typeface="Arial"/>
              </a:rPr>
              <a:t>Describe the role of machine learning in automated quality control and defect detection in manufacturing processes.</a:t>
            </a:r>
            <a:endParaRPr b="1" sz="157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Font typeface="Arial"/>
              <a:buAutoNum type="arabicPeriod"/>
            </a:pPr>
            <a:r>
              <a:rPr b="1" lang="en-IN" sz="1575">
                <a:latin typeface="Arial"/>
                <a:ea typeface="Arial"/>
                <a:cs typeface="Arial"/>
                <a:sym typeface="Arial"/>
              </a:rPr>
              <a:t>“How can machine learning assist in optimizing mechanical design parameters (e.g., weight reduction, material selection)?</a:t>
            </a:r>
            <a:endParaRPr b="1" sz="157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Font typeface="Arial"/>
              <a:buAutoNum type="arabicPeriod"/>
            </a:pPr>
            <a:r>
              <a:rPr b="1" lang="en-IN" sz="1575">
                <a:latin typeface="Arial"/>
                <a:ea typeface="Arial"/>
                <a:cs typeface="Arial"/>
                <a:sym typeface="Arial"/>
              </a:rPr>
              <a:t>Discuss how machine learning enhances robotics and automation in mechanical engineering applications such as assembly lines.</a:t>
            </a:r>
            <a:endParaRPr b="1" sz="1575">
              <a:latin typeface="Arial"/>
              <a:ea typeface="Arial"/>
              <a:cs typeface="Arial"/>
              <a:sym typeface="Arial"/>
            </a:endParaRPr>
          </a:p>
          <a:p>
            <a:pPr indent="-32861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Font typeface="Arial"/>
              <a:buAutoNum type="arabicPeriod"/>
            </a:pPr>
            <a:r>
              <a:rPr b="1" lang="en-IN" sz="1575">
                <a:latin typeface="Arial"/>
                <a:ea typeface="Arial"/>
                <a:cs typeface="Arial"/>
                <a:sym typeface="Arial"/>
              </a:rPr>
              <a:t>Summarize one real-world research application where machine learning is used in mechanical engineering (e.g., vibration analysis, heat transfer prediction).</a:t>
            </a:r>
            <a:endParaRPr b="1" sz="15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15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15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1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1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IN"/>
              <a:t>https://kitcoek.webex.com/meet/shah.sujeeta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2025-04-03T06:06:54Z</dcterms:created>
  <dc:creator>Sujeeta Shah</dc:creator>
</cp:coreProperties>
</file>