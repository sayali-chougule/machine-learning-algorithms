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0"/>
  </p:notesMasterIdLst>
  <p:sldIdLst>
    <p:sldId id="256" r:id="rId2"/>
    <p:sldId id="257" r:id="rId3"/>
    <p:sldId id="258" r:id="rId4"/>
    <p:sldId id="259" r:id="rId5"/>
    <p:sldId id="260" r:id="rId6"/>
    <p:sldId id="328" r:id="rId7"/>
    <p:sldId id="329" r:id="rId8"/>
    <p:sldId id="330" r:id="rId9"/>
    <p:sldId id="325" r:id="rId10"/>
    <p:sldId id="326" r:id="rId11"/>
    <p:sldId id="327" r:id="rId12"/>
    <p:sldId id="331" r:id="rId13"/>
    <p:sldId id="332" r:id="rId14"/>
    <p:sldId id="333" r:id="rId15"/>
    <p:sldId id="334"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335" r:id="rId30"/>
    <p:sldId id="336" r:id="rId31"/>
    <p:sldId id="337" r:id="rId32"/>
    <p:sldId id="338" r:id="rId33"/>
    <p:sldId id="339" r:id="rId34"/>
    <p:sldId id="340" r:id="rId35"/>
    <p:sldId id="341" r:id="rId36"/>
    <p:sldId id="343" r:id="rId37"/>
    <p:sldId id="344" r:id="rId38"/>
    <p:sldId id="345" r:id="rId39"/>
    <p:sldId id="346" r:id="rId40"/>
    <p:sldId id="347" r:id="rId41"/>
    <p:sldId id="348" r:id="rId42"/>
    <p:sldId id="349" r:id="rId43"/>
    <p:sldId id="350" r:id="rId44"/>
    <p:sldId id="351" r:id="rId45"/>
    <p:sldId id="352" r:id="rId46"/>
    <p:sldId id="353" r:id="rId47"/>
    <p:sldId id="354" r:id="rId48"/>
    <p:sldId id="355" r:id="rId49"/>
    <p:sldId id="356" r:id="rId50"/>
    <p:sldId id="357" r:id="rId51"/>
    <p:sldId id="358" r:id="rId52"/>
    <p:sldId id="359" r:id="rId53"/>
    <p:sldId id="360" r:id="rId54"/>
    <p:sldId id="361" r:id="rId55"/>
    <p:sldId id="362" r:id="rId56"/>
    <p:sldId id="363" r:id="rId57"/>
    <p:sldId id="364" r:id="rId58"/>
    <p:sldId id="365" r:id="rId59"/>
    <p:sldId id="366" r:id="rId60"/>
    <p:sldId id="280" r:id="rId61"/>
    <p:sldId id="367" r:id="rId62"/>
    <p:sldId id="368" r:id="rId63"/>
    <p:sldId id="369" r:id="rId64"/>
    <p:sldId id="370" r:id="rId65"/>
    <p:sldId id="371" r:id="rId66"/>
    <p:sldId id="372" r:id="rId67"/>
    <p:sldId id="373" r:id="rId68"/>
    <p:sldId id="374" r:id="rId69"/>
    <p:sldId id="375" r:id="rId70"/>
    <p:sldId id="376" r:id="rId71"/>
    <p:sldId id="377" r:id="rId72"/>
    <p:sldId id="378" r:id="rId73"/>
    <p:sldId id="379" r:id="rId74"/>
    <p:sldId id="380" r:id="rId75"/>
    <p:sldId id="381" r:id="rId76"/>
    <p:sldId id="382" r:id="rId77"/>
    <p:sldId id="383" r:id="rId78"/>
    <p:sldId id="384" r:id="rId7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858"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16747BB-2981-48EC-A87A-1D8F4C7D37E8}" type="datetimeFigureOut">
              <a:rPr lang="en-IN" smtClean="0"/>
              <a:t>28-10-2025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2173329B-B7BF-44AE-BC97-09007319131E}" type="slidenum">
              <a:rPr lang="en-IN" smtClean="0"/>
              <a:t>‹#›</a:t>
            </a:fld>
            <a:endParaRPr lang="en-IN"/>
          </a:p>
        </p:txBody>
      </p:sp>
    </p:spTree>
    <p:extLst>
      <p:ext uri="{BB962C8B-B14F-4D97-AF65-F5344CB8AC3E}">
        <p14:creationId xmlns:p14="http://schemas.microsoft.com/office/powerpoint/2010/main" val="1950534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6939" y="1103503"/>
            <a:ext cx="9198991" cy="1589405"/>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905635" y="3579367"/>
            <a:ext cx="8380729" cy="1050289"/>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Prepared</a:t>
            </a:r>
            <a:r>
              <a:rPr spc="-40" dirty="0"/>
              <a:t> </a:t>
            </a:r>
            <a:r>
              <a:rPr dirty="0"/>
              <a:t>by</a:t>
            </a:r>
            <a:r>
              <a:rPr spc="-25" dirty="0"/>
              <a:t> </a:t>
            </a:r>
            <a:r>
              <a:rPr dirty="0"/>
              <a:t>Mrs.</a:t>
            </a:r>
            <a:r>
              <a:rPr spc="-5" dirty="0"/>
              <a:t> </a:t>
            </a:r>
            <a:r>
              <a:rPr dirty="0"/>
              <a:t>Shah</a:t>
            </a:r>
            <a:r>
              <a:rPr spc="-15" dirty="0"/>
              <a:t> </a:t>
            </a:r>
            <a:r>
              <a:rPr dirty="0"/>
              <a:t>S.</a:t>
            </a:r>
            <a:r>
              <a:rPr spc="-5" dirty="0"/>
              <a:t> </a:t>
            </a:r>
            <a:r>
              <a:rPr spc="-25" dirty="0"/>
              <a:t>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E7FE034-928C-43E2-B77B-C548C640C6DF}" type="datetime1">
              <a:rPr lang="en-US" smtClean="0"/>
              <a:t>10/28/2025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Prepared</a:t>
            </a:r>
            <a:r>
              <a:rPr spc="-40" dirty="0"/>
              <a:t> </a:t>
            </a:r>
            <a:r>
              <a:rPr dirty="0"/>
              <a:t>by</a:t>
            </a:r>
            <a:r>
              <a:rPr spc="-25" dirty="0"/>
              <a:t> </a:t>
            </a:r>
            <a:r>
              <a:rPr dirty="0"/>
              <a:t>Mrs.</a:t>
            </a:r>
            <a:r>
              <a:rPr spc="-5" dirty="0"/>
              <a:t> </a:t>
            </a:r>
            <a:r>
              <a:rPr dirty="0"/>
              <a:t>Shah</a:t>
            </a:r>
            <a:r>
              <a:rPr spc="-15" dirty="0"/>
              <a:t> </a:t>
            </a:r>
            <a:r>
              <a:rPr dirty="0"/>
              <a:t>S.</a:t>
            </a:r>
            <a:r>
              <a:rPr spc="-5" dirty="0"/>
              <a:t> </a:t>
            </a:r>
            <a:r>
              <a:rPr spc="-25" dirty="0"/>
              <a:t>S.</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E9109A95-E54E-47D0-B03C-CBCB9118691C}" type="datetime1">
              <a:rPr lang="en-US" smtClean="0"/>
              <a:t>10/28/2025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Prepared</a:t>
            </a:r>
            <a:r>
              <a:rPr spc="-40" dirty="0"/>
              <a:t> </a:t>
            </a:r>
            <a:r>
              <a:rPr dirty="0"/>
              <a:t>by</a:t>
            </a:r>
            <a:r>
              <a:rPr spc="-25" dirty="0"/>
              <a:t> </a:t>
            </a:r>
            <a:r>
              <a:rPr dirty="0"/>
              <a:t>Mrs.</a:t>
            </a:r>
            <a:r>
              <a:rPr spc="-5" dirty="0"/>
              <a:t> </a:t>
            </a:r>
            <a:r>
              <a:rPr dirty="0"/>
              <a:t>Shah</a:t>
            </a:r>
            <a:r>
              <a:rPr spc="-15" dirty="0"/>
              <a:t> </a:t>
            </a:r>
            <a:r>
              <a:rPr dirty="0"/>
              <a:t>S.</a:t>
            </a:r>
            <a:r>
              <a:rPr spc="-5" dirty="0"/>
              <a:t> </a:t>
            </a:r>
            <a:r>
              <a:rPr spc="-25" dirty="0"/>
              <a:t>S.</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9ED6C44B-EF89-42AF-A58A-B0C9B7EAC63C}" type="datetime1">
              <a:rPr lang="en-US" smtClean="0"/>
              <a:t>10/28/2025</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Prepared</a:t>
            </a:r>
            <a:r>
              <a:rPr spc="-40" dirty="0"/>
              <a:t> </a:t>
            </a:r>
            <a:r>
              <a:rPr dirty="0"/>
              <a:t>by</a:t>
            </a:r>
            <a:r>
              <a:rPr spc="-25" dirty="0"/>
              <a:t> </a:t>
            </a:r>
            <a:r>
              <a:rPr dirty="0"/>
              <a:t>Mrs.</a:t>
            </a:r>
            <a:r>
              <a:rPr spc="-5" dirty="0"/>
              <a:t> </a:t>
            </a:r>
            <a:r>
              <a:rPr dirty="0"/>
              <a:t>Shah</a:t>
            </a:r>
            <a:r>
              <a:rPr spc="-15" dirty="0"/>
              <a:t> </a:t>
            </a:r>
            <a:r>
              <a:rPr dirty="0"/>
              <a:t>S.</a:t>
            </a:r>
            <a:r>
              <a:rPr spc="-5" dirty="0"/>
              <a:t> </a:t>
            </a:r>
            <a:r>
              <a:rPr spc="-25" dirty="0"/>
              <a:t>S.</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736F6412-5293-4876-AAE1-374D455C5944}" type="datetime1">
              <a:rPr lang="en-US" smtClean="0"/>
              <a:t>10/28/2025</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Prepared</a:t>
            </a:r>
            <a:r>
              <a:rPr spc="-40" dirty="0"/>
              <a:t> </a:t>
            </a:r>
            <a:r>
              <a:rPr dirty="0"/>
              <a:t>by</a:t>
            </a:r>
            <a:r>
              <a:rPr spc="-25" dirty="0"/>
              <a:t> </a:t>
            </a:r>
            <a:r>
              <a:rPr dirty="0"/>
              <a:t>Mrs.</a:t>
            </a:r>
            <a:r>
              <a:rPr spc="-5" dirty="0"/>
              <a:t> </a:t>
            </a:r>
            <a:r>
              <a:rPr dirty="0"/>
              <a:t>Shah</a:t>
            </a:r>
            <a:r>
              <a:rPr spc="-15" dirty="0"/>
              <a:t> </a:t>
            </a:r>
            <a:r>
              <a:rPr dirty="0"/>
              <a:t>S.</a:t>
            </a:r>
            <a:r>
              <a:rPr spc="-5" dirty="0"/>
              <a:t> </a:t>
            </a:r>
            <a:r>
              <a:rPr spc="-25" dirty="0"/>
              <a:t>S.</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80EFE951-7C57-4991-B88C-C89A2217115D}" type="datetime1">
              <a:rPr lang="en-US" smtClean="0"/>
              <a:t>10/28/2025</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39" y="99441"/>
            <a:ext cx="9994900" cy="1183640"/>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5035" y="1718548"/>
            <a:ext cx="10361929" cy="4201795"/>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5241797" y="6464680"/>
            <a:ext cx="1707515"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spc="-10" dirty="0"/>
              <a:t>Prepared</a:t>
            </a:r>
            <a:r>
              <a:rPr spc="-40" dirty="0"/>
              <a:t> </a:t>
            </a:r>
            <a:r>
              <a:rPr dirty="0"/>
              <a:t>by</a:t>
            </a:r>
            <a:r>
              <a:rPr spc="-25" dirty="0"/>
              <a:t> </a:t>
            </a:r>
            <a:r>
              <a:rPr dirty="0"/>
              <a:t>Mrs.</a:t>
            </a:r>
            <a:r>
              <a:rPr spc="-5" dirty="0"/>
              <a:t> </a:t>
            </a:r>
            <a:r>
              <a:rPr dirty="0"/>
              <a:t>Shah</a:t>
            </a:r>
            <a:r>
              <a:rPr spc="-15" dirty="0"/>
              <a:t> </a:t>
            </a:r>
            <a:r>
              <a:rPr dirty="0"/>
              <a:t>S.</a:t>
            </a:r>
            <a:r>
              <a:rPr spc="-5" dirty="0"/>
              <a:t> </a:t>
            </a:r>
            <a:r>
              <a:rPr spc="-25" dirty="0"/>
              <a:t>S.</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744C3643-C22A-4A00-A543-F92FEB845859}" type="datetime1">
              <a:rPr lang="en-US" smtClean="0"/>
              <a:t>10/28/2025</a:t>
            </a:fld>
            <a:endParaRPr lang="en-US"/>
          </a:p>
        </p:txBody>
      </p:sp>
      <p:sp>
        <p:nvSpPr>
          <p:cNvPr id="6" name="Holder 6"/>
          <p:cNvSpPr>
            <a:spLocks noGrp="1"/>
          </p:cNvSpPr>
          <p:nvPr>
            <p:ph type="sldNum" sz="quarter" idx="7"/>
          </p:nvPr>
        </p:nvSpPr>
        <p:spPr>
          <a:xfrm>
            <a:off x="11068811" y="6464680"/>
            <a:ext cx="244475" cy="1784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ts val="124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watch?v=G7fPB4OHkys" TargetMode="External"/><Relationship Id="rId2" Type="http://schemas.openxmlformats.org/officeDocument/2006/relationships/hyperlink" Target="https://www.youtube.com/watch?v=ukzFI9rgwf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geeksforgeeks.org/machine-learning/understanding-logistic-regression/" TargetMode="External"/><Relationship Id="rId2" Type="http://schemas.openxmlformats.org/officeDocument/2006/relationships/hyperlink" Target="https://www.geeksforgeeks.org/machine-learning/ml-linear-regression/" TargetMode="External"/><Relationship Id="rId1" Type="http://schemas.openxmlformats.org/officeDocument/2006/relationships/slideLayout" Target="../slideLayouts/slideLayout2.xml"/><Relationship Id="rId4" Type="http://schemas.openxmlformats.org/officeDocument/2006/relationships/hyperlink" Target="https://www.geeksforgeeks.org/machine-learning/decision-tree/"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www.geeksforgeeks.org/machine-learning/support-vector-machine-algorithm/" TargetMode="External"/><Relationship Id="rId2" Type="http://schemas.openxmlformats.org/officeDocument/2006/relationships/hyperlink" Target="https://www.geeksforgeeks.org/machine-learning/random-forest-regression-in-python/" TargetMode="External"/><Relationship Id="rId1" Type="http://schemas.openxmlformats.org/officeDocument/2006/relationships/slideLayout" Target="../slideLayouts/slideLayout2.xml"/><Relationship Id="rId4" Type="http://schemas.openxmlformats.org/officeDocument/2006/relationships/hyperlink" Target="https://www.geeksforgeeks.org/machine-learning/k-nearest-neighbours/"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www.geeksforgeeks.org/machine-learning/naive-bayes-classifiers/" TargetMode="External"/><Relationship Id="rId2" Type="http://schemas.openxmlformats.org/officeDocument/2006/relationships/hyperlink" Target="https://www.geeksforgeeks.org/machine-learning/ml-gradient-boosting/"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www.geeksforgeeks.org/machine-learning/hierarchical-clustering/" TargetMode="External"/><Relationship Id="rId2" Type="http://schemas.openxmlformats.org/officeDocument/2006/relationships/hyperlink" Target="https://www.geeksforgeeks.org/machine-learning/k-means-clustering-introduction/" TargetMode="External"/><Relationship Id="rId1" Type="http://schemas.openxmlformats.org/officeDocument/2006/relationships/slideLayout" Target="../slideLayouts/slideLayout2.xml"/><Relationship Id="rId6" Type="http://schemas.openxmlformats.org/officeDocument/2006/relationships/hyperlink" Target="https://www.geeksforgeeks.org/machine-learning/ml-spectral-clustering/" TargetMode="External"/><Relationship Id="rId5" Type="http://schemas.openxmlformats.org/officeDocument/2006/relationships/hyperlink" Target="https://www.geeksforgeeks.org/machine-learning/ml-mean-shift-clustering/" TargetMode="External"/><Relationship Id="rId4" Type="http://schemas.openxmlformats.org/officeDocument/2006/relationships/hyperlink" Target="https://www.geeksforgeeks.org/machine-learning/dbscan-clustering-in-ml-density-based-clustering/"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www.geeksforgeeks.org/machine-learning/frequent-pattern-growth-algorithm/" TargetMode="External"/><Relationship Id="rId2" Type="http://schemas.openxmlformats.org/officeDocument/2006/relationships/hyperlink" Target="https://www.geeksforgeeks.org/machine-learning/apriori-algorithm/" TargetMode="External"/><Relationship Id="rId1" Type="http://schemas.openxmlformats.org/officeDocument/2006/relationships/slideLayout" Target="../slideLayouts/slideLayout2.xml"/><Relationship Id="rId5" Type="http://schemas.openxmlformats.org/officeDocument/2006/relationships/hyperlink" Target="https://www.geeksforgeeks.org/dsa/introduction-to-tree-data-structure/" TargetMode="External"/><Relationship Id="rId4" Type="http://schemas.openxmlformats.org/officeDocument/2006/relationships/hyperlink" Target="https://www.geeksforgeeks.org/machine-learning/ml-eclat-algorithm/"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www.geeksforgeeks.org/machine-learning/ml-linear-discriminant-analysis/" TargetMode="External"/><Relationship Id="rId2" Type="http://schemas.openxmlformats.org/officeDocument/2006/relationships/hyperlink" Target="https://www.geeksforgeeks.org/data-analysis/principal-component-analysis-pca/" TargetMode="External"/><Relationship Id="rId1" Type="http://schemas.openxmlformats.org/officeDocument/2006/relationships/slideLayout" Target="../slideLayouts/slideLayout2.xml"/><Relationship Id="rId6" Type="http://schemas.openxmlformats.org/officeDocument/2006/relationships/hyperlink" Target="https://www.geeksforgeeks.org/machine-learning/isomap-a-non-linear-dimensionality-reduction-technique/" TargetMode="External"/><Relationship Id="rId5" Type="http://schemas.openxmlformats.org/officeDocument/2006/relationships/hyperlink" Target="https://www.geeksforgeeks.org/machine-learning/locally-linear-embedding-in-machine-learning/" TargetMode="External"/><Relationship Id="rId4" Type="http://schemas.openxmlformats.org/officeDocument/2006/relationships/hyperlink" Target="https://www.geeksforgeeks.org/machine-learning/non-negative-matrix-factorization/" TargetMode="External"/></Relationships>
</file>

<file path=ppt/slides/_rels/slide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700" rIns="0" bIns="0" rtlCol="0">
            <a:spAutoFit/>
          </a:bodyPr>
          <a:lstStyle/>
          <a:p>
            <a:pPr marL="1164590" algn="ctr">
              <a:lnSpc>
                <a:spcPts val="6155"/>
              </a:lnSpc>
              <a:spcBef>
                <a:spcPts val="100"/>
              </a:spcBef>
            </a:pPr>
            <a:r>
              <a:rPr sz="5400" spc="-50" dirty="0"/>
              <a:t>Unit-4</a:t>
            </a:r>
            <a:endParaRPr sz="5400" dirty="0"/>
          </a:p>
          <a:p>
            <a:pPr marL="1163320" algn="ctr">
              <a:lnSpc>
                <a:spcPts val="6155"/>
              </a:lnSpc>
            </a:pPr>
            <a:r>
              <a:rPr sz="5400" spc="-40" dirty="0"/>
              <a:t>MACHINE</a:t>
            </a:r>
            <a:r>
              <a:rPr sz="5400" spc="-210" dirty="0"/>
              <a:t> </a:t>
            </a:r>
            <a:r>
              <a:rPr sz="5400" spc="-45" dirty="0"/>
              <a:t>LEARNING:</a:t>
            </a:r>
            <a:r>
              <a:rPr sz="5400" spc="-160" dirty="0"/>
              <a:t> </a:t>
            </a:r>
            <a:r>
              <a:rPr sz="5400" dirty="0"/>
              <a:t>6</a:t>
            </a:r>
            <a:r>
              <a:rPr sz="5400" spc="-160" dirty="0"/>
              <a:t> </a:t>
            </a:r>
            <a:r>
              <a:rPr sz="5400" spc="-10" dirty="0"/>
              <a:t>Hours</a:t>
            </a:r>
            <a:endParaRPr sz="5400" dirty="0"/>
          </a:p>
        </p:txBody>
      </p:sp>
      <p:sp>
        <p:nvSpPr>
          <p:cNvPr id="3" name="object 3"/>
          <p:cNvSpPr txBox="1">
            <a:spLocks noGrp="1"/>
          </p:cNvSpPr>
          <p:nvPr>
            <p:ph type="subTitle" idx="4"/>
          </p:nvPr>
        </p:nvSpPr>
        <p:spPr>
          <a:xfrm>
            <a:off x="609600" y="2679770"/>
            <a:ext cx="11125200" cy="2702406"/>
          </a:xfrm>
          <a:prstGeom prst="rect">
            <a:avLst/>
          </a:prstGeom>
        </p:spPr>
        <p:txBody>
          <a:bodyPr vert="horz" wrap="square" lIns="0" tIns="48895" rIns="0" bIns="0" rtlCol="0">
            <a:spAutoFit/>
          </a:bodyPr>
          <a:lstStyle/>
          <a:p>
            <a:r>
              <a:rPr lang="en-US" dirty="0"/>
              <a:t>Introduction to machine learning – definition, terminology. Types of machine learning –   supervised learning, unsupervised learning, semi-supervised learning, reinforcement learning. Machine learning process. Performance metric in machine learning. Tools and frameworks.</a:t>
            </a:r>
            <a:endParaRPr lang="en-IN" sz="2400" spc="-10" dirty="0"/>
          </a:p>
          <a:p>
            <a:pPr marL="12700" marR="5080" algn="ctr">
              <a:lnSpc>
                <a:spcPct val="90000"/>
              </a:lnSpc>
              <a:spcBef>
                <a:spcPts val="385"/>
              </a:spcBef>
            </a:pPr>
            <a:r>
              <a:rPr lang="en-US" sz="1600" dirty="0">
                <a:hlinkClick r:id="rId2"/>
              </a:rPr>
              <a:t>Machine Learning | What Is Machine Learning? | Introduction To Machine Learning | 2024 | Simplilearn</a:t>
            </a:r>
            <a:endParaRPr lang="en-IN" sz="2400" spc="-10" dirty="0"/>
          </a:p>
          <a:p>
            <a:pPr marL="12700" marR="5080" algn="ctr">
              <a:lnSpc>
                <a:spcPct val="90000"/>
              </a:lnSpc>
              <a:spcBef>
                <a:spcPts val="385"/>
              </a:spcBef>
            </a:pPr>
            <a:endParaRPr lang="en-IN" sz="2400" spc="-10" dirty="0"/>
          </a:p>
          <a:p>
            <a:pPr marL="12700" marR="5080" algn="ctr">
              <a:lnSpc>
                <a:spcPct val="90000"/>
              </a:lnSpc>
              <a:spcBef>
                <a:spcPts val="385"/>
              </a:spcBef>
            </a:pPr>
            <a:r>
              <a:rPr lang="en-US" sz="1600" dirty="0">
                <a:hlinkClick r:id="rId3"/>
              </a:rPr>
              <a:t>Machine Learning Tutorial | Machine Learning Basics | Machine Learning Algorithms | Simplilearn - YouTube</a:t>
            </a:r>
            <a:endParaRPr sz="240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08228"/>
            <a:ext cx="5758180" cy="696595"/>
          </a:xfrm>
          <a:prstGeom prst="rect">
            <a:avLst/>
          </a:prstGeom>
        </p:spPr>
        <p:txBody>
          <a:bodyPr vert="horz" wrap="square" lIns="0" tIns="12700" rIns="0" bIns="0" rtlCol="0">
            <a:spAutoFit/>
          </a:bodyPr>
          <a:lstStyle/>
          <a:p>
            <a:pPr marL="12700">
              <a:lnSpc>
                <a:spcPct val="100000"/>
              </a:lnSpc>
              <a:spcBef>
                <a:spcPts val="100"/>
              </a:spcBef>
            </a:pPr>
            <a:r>
              <a:rPr spc="-20" dirty="0"/>
              <a:t>What</a:t>
            </a:r>
            <a:r>
              <a:rPr spc="-165" dirty="0"/>
              <a:t> </a:t>
            </a:r>
            <a:r>
              <a:rPr dirty="0"/>
              <a:t>is</a:t>
            </a:r>
            <a:r>
              <a:rPr spc="-145" dirty="0"/>
              <a:t> </a:t>
            </a:r>
            <a:r>
              <a:rPr spc="-25" dirty="0"/>
              <a:t>Machine</a:t>
            </a:r>
            <a:r>
              <a:rPr spc="-175" dirty="0"/>
              <a:t> </a:t>
            </a:r>
            <a:r>
              <a:rPr spc="-10" dirty="0"/>
              <a:t>Learning</a:t>
            </a:r>
          </a:p>
        </p:txBody>
      </p:sp>
      <p:graphicFrame>
        <p:nvGraphicFramePr>
          <p:cNvPr id="3" name="object 3"/>
          <p:cNvGraphicFramePr>
            <a:graphicFrameLocks noGrp="1"/>
          </p:cNvGraphicFramePr>
          <p:nvPr/>
        </p:nvGraphicFramePr>
        <p:xfrm>
          <a:off x="1583944" y="3347720"/>
          <a:ext cx="5351144" cy="738505"/>
        </p:xfrm>
        <a:graphic>
          <a:graphicData uri="http://schemas.openxmlformats.org/drawingml/2006/table">
            <a:tbl>
              <a:tblPr firstRow="1" bandRow="1">
                <a:tableStyleId>{2D5ABB26-0587-4C30-8999-92F81FD0307C}</a:tableStyleId>
              </a:tblPr>
              <a:tblGrid>
                <a:gridCol w="1301750">
                  <a:extLst>
                    <a:ext uri="{9D8B030D-6E8A-4147-A177-3AD203B41FA5}">
                      <a16:colId xmlns:a16="http://schemas.microsoft.com/office/drawing/2014/main" val="20000"/>
                    </a:ext>
                  </a:extLst>
                </a:gridCol>
                <a:gridCol w="2245360">
                  <a:extLst>
                    <a:ext uri="{9D8B030D-6E8A-4147-A177-3AD203B41FA5}">
                      <a16:colId xmlns:a16="http://schemas.microsoft.com/office/drawing/2014/main" val="20001"/>
                    </a:ext>
                  </a:extLst>
                </a:gridCol>
                <a:gridCol w="961389">
                  <a:extLst>
                    <a:ext uri="{9D8B030D-6E8A-4147-A177-3AD203B41FA5}">
                      <a16:colId xmlns:a16="http://schemas.microsoft.com/office/drawing/2014/main" val="20002"/>
                    </a:ext>
                  </a:extLst>
                </a:gridCol>
                <a:gridCol w="842645">
                  <a:extLst>
                    <a:ext uri="{9D8B030D-6E8A-4147-A177-3AD203B41FA5}">
                      <a16:colId xmlns:a16="http://schemas.microsoft.com/office/drawing/2014/main" val="20003"/>
                    </a:ext>
                  </a:extLst>
                </a:gridCol>
              </a:tblGrid>
              <a:tr h="368935">
                <a:tc>
                  <a:txBody>
                    <a:bodyPr/>
                    <a:lstStyle/>
                    <a:p>
                      <a:pPr marL="31750">
                        <a:lnSpc>
                          <a:spcPts val="2655"/>
                        </a:lnSpc>
                      </a:pPr>
                      <a:r>
                        <a:rPr sz="2800" spc="-10" dirty="0">
                          <a:latin typeface="Calibri"/>
                          <a:cs typeface="Calibri"/>
                        </a:rPr>
                        <a:t>Artificial</a:t>
                      </a:r>
                      <a:endParaRPr sz="2800" dirty="0">
                        <a:latin typeface="Calibri"/>
                        <a:cs typeface="Calibri"/>
                      </a:endParaRPr>
                    </a:p>
                  </a:txBody>
                  <a:tcPr marL="0" marR="0" marT="0" marB="0"/>
                </a:tc>
                <a:tc>
                  <a:txBody>
                    <a:bodyPr/>
                    <a:lstStyle/>
                    <a:p>
                      <a:pPr marL="372745">
                        <a:lnSpc>
                          <a:spcPts val="2655"/>
                        </a:lnSpc>
                      </a:pPr>
                      <a:r>
                        <a:rPr sz="2800" spc="-10" dirty="0">
                          <a:latin typeface="Calibri"/>
                          <a:cs typeface="Calibri"/>
                        </a:rPr>
                        <a:t>Intelligence</a:t>
                      </a:r>
                      <a:endParaRPr sz="2800" dirty="0">
                        <a:latin typeface="Calibri"/>
                        <a:cs typeface="Calibri"/>
                      </a:endParaRPr>
                    </a:p>
                  </a:txBody>
                  <a:tcPr marL="0" marR="0" marT="0" marB="0"/>
                </a:tc>
                <a:tc>
                  <a:txBody>
                    <a:bodyPr/>
                    <a:lstStyle/>
                    <a:p>
                      <a:pPr marL="7620" algn="ctr">
                        <a:lnSpc>
                          <a:spcPts val="2655"/>
                        </a:lnSpc>
                      </a:pPr>
                      <a:r>
                        <a:rPr sz="2800" spc="-20" dirty="0">
                          <a:latin typeface="Calibri"/>
                          <a:cs typeface="Calibri"/>
                        </a:rPr>
                        <a:t>(AI)</a:t>
                      </a:r>
                      <a:endParaRPr sz="2800" dirty="0">
                        <a:latin typeface="Calibri"/>
                        <a:cs typeface="Calibri"/>
                      </a:endParaRPr>
                    </a:p>
                  </a:txBody>
                  <a:tcPr marL="0" marR="0" marT="0" marB="0"/>
                </a:tc>
                <a:tc>
                  <a:txBody>
                    <a:bodyPr/>
                    <a:lstStyle/>
                    <a:p>
                      <a:pPr marR="24130" algn="r">
                        <a:lnSpc>
                          <a:spcPts val="2655"/>
                        </a:lnSpc>
                      </a:pPr>
                      <a:r>
                        <a:rPr sz="2800" spc="-20" dirty="0">
                          <a:latin typeface="Calibri"/>
                          <a:cs typeface="Calibri"/>
                        </a:rPr>
                        <a:t>that</a:t>
                      </a:r>
                      <a:endParaRPr sz="2800" dirty="0">
                        <a:latin typeface="Calibri"/>
                        <a:cs typeface="Calibri"/>
                      </a:endParaRPr>
                    </a:p>
                  </a:txBody>
                  <a:tcPr marL="0" marR="0" marT="0" marB="0"/>
                </a:tc>
                <a:extLst>
                  <a:ext uri="{0D108BD9-81ED-4DB2-BD59-A6C34878D82A}">
                    <a16:rowId xmlns:a16="http://schemas.microsoft.com/office/drawing/2014/main" val="10000"/>
                  </a:ext>
                </a:extLst>
              </a:tr>
              <a:tr h="369570">
                <a:tc>
                  <a:txBody>
                    <a:bodyPr/>
                    <a:lstStyle/>
                    <a:p>
                      <a:pPr marL="31750">
                        <a:lnSpc>
                          <a:spcPts val="2770"/>
                        </a:lnSpc>
                      </a:pPr>
                      <a:r>
                        <a:rPr sz="2800" spc="-10" dirty="0">
                          <a:latin typeface="Calibri"/>
                          <a:cs typeface="Calibri"/>
                        </a:rPr>
                        <a:t>enables</a:t>
                      </a:r>
                      <a:endParaRPr sz="2800" dirty="0">
                        <a:latin typeface="Calibri"/>
                        <a:cs typeface="Calibri"/>
                      </a:endParaRPr>
                    </a:p>
                  </a:txBody>
                  <a:tcPr marL="0" marR="0" marT="0" marB="0"/>
                </a:tc>
                <a:tc>
                  <a:txBody>
                    <a:bodyPr/>
                    <a:lstStyle/>
                    <a:p>
                      <a:pPr marL="67945">
                        <a:lnSpc>
                          <a:spcPts val="2770"/>
                        </a:lnSpc>
                        <a:tabLst>
                          <a:tab pos="1832610" algn="l"/>
                        </a:tabLst>
                      </a:pPr>
                      <a:r>
                        <a:rPr sz="2800" spc="-10" dirty="0">
                          <a:latin typeface="Calibri"/>
                          <a:cs typeface="Calibri"/>
                        </a:rPr>
                        <a:t>computers</a:t>
                      </a:r>
                      <a:r>
                        <a:rPr sz="2800" dirty="0">
                          <a:latin typeface="Calibri"/>
                          <a:cs typeface="Calibri"/>
                        </a:rPr>
                        <a:t>	</a:t>
                      </a:r>
                      <a:r>
                        <a:rPr sz="2800" spc="-25" dirty="0">
                          <a:latin typeface="Calibri"/>
                          <a:cs typeface="Calibri"/>
                        </a:rPr>
                        <a:t>to</a:t>
                      </a:r>
                      <a:endParaRPr sz="2800" dirty="0">
                        <a:latin typeface="Calibri"/>
                        <a:cs typeface="Calibri"/>
                      </a:endParaRPr>
                    </a:p>
                  </a:txBody>
                  <a:tcPr marL="0" marR="0" marT="0" marB="0"/>
                </a:tc>
                <a:tc>
                  <a:txBody>
                    <a:bodyPr/>
                    <a:lstStyle/>
                    <a:p>
                      <a:pPr marL="635" algn="ctr">
                        <a:lnSpc>
                          <a:spcPts val="2770"/>
                        </a:lnSpc>
                      </a:pPr>
                      <a:r>
                        <a:rPr sz="2800" spc="-10" dirty="0">
                          <a:latin typeface="Calibri"/>
                          <a:cs typeface="Calibri"/>
                        </a:rPr>
                        <a:t>learn</a:t>
                      </a:r>
                      <a:endParaRPr sz="2800" dirty="0">
                        <a:latin typeface="Calibri"/>
                        <a:cs typeface="Calibri"/>
                      </a:endParaRPr>
                    </a:p>
                  </a:txBody>
                  <a:tcPr marL="0" marR="0" marT="0" marB="0"/>
                </a:tc>
                <a:tc>
                  <a:txBody>
                    <a:bodyPr/>
                    <a:lstStyle/>
                    <a:p>
                      <a:pPr marR="25400" algn="r">
                        <a:lnSpc>
                          <a:spcPts val="2770"/>
                        </a:lnSpc>
                      </a:pPr>
                      <a:r>
                        <a:rPr sz="2800" spc="-20" dirty="0">
                          <a:latin typeface="Calibri"/>
                          <a:cs typeface="Calibri"/>
                        </a:rPr>
                        <a:t>from</a:t>
                      </a:r>
                      <a:endParaRPr sz="2800" dirty="0">
                        <a:latin typeface="Calibri"/>
                        <a:cs typeface="Calibri"/>
                      </a:endParaRPr>
                    </a:p>
                  </a:txBody>
                  <a:tcPr marL="0" marR="0" marT="0" marB="0"/>
                </a:tc>
                <a:extLst>
                  <a:ext uri="{0D108BD9-81ED-4DB2-BD59-A6C34878D82A}">
                    <a16:rowId xmlns:a16="http://schemas.microsoft.com/office/drawing/2014/main" val="10001"/>
                  </a:ext>
                </a:extLst>
              </a:tr>
            </a:tbl>
          </a:graphicData>
        </a:graphic>
      </p:graphicFrame>
      <p:sp>
        <p:nvSpPr>
          <p:cNvPr id="4" name="object 4"/>
          <p:cNvSpPr txBox="1"/>
          <p:nvPr/>
        </p:nvSpPr>
        <p:spPr>
          <a:xfrm>
            <a:off x="916939" y="1707598"/>
            <a:ext cx="6000750" cy="3869054"/>
          </a:xfrm>
          <a:prstGeom prst="rect">
            <a:avLst/>
          </a:prstGeom>
        </p:spPr>
        <p:txBody>
          <a:bodyPr vert="horz" wrap="square" lIns="0" tIns="89535" rIns="0" bIns="0" rtlCol="0">
            <a:spAutoFit/>
          </a:bodyPr>
          <a:lstStyle/>
          <a:p>
            <a:pPr marL="240665" indent="-227965">
              <a:lnSpc>
                <a:spcPct val="100000"/>
              </a:lnSpc>
              <a:spcBef>
                <a:spcPts val="705"/>
              </a:spcBef>
              <a:buFont typeface="Arial MT"/>
              <a:buChar char="•"/>
              <a:tabLst>
                <a:tab pos="240665" algn="l"/>
              </a:tabLst>
            </a:pPr>
            <a:r>
              <a:rPr sz="3200" b="1" dirty="0">
                <a:latin typeface="Calibri"/>
                <a:cs typeface="Calibri"/>
              </a:rPr>
              <a:t>What</a:t>
            </a:r>
            <a:r>
              <a:rPr sz="3200" b="1" spc="-50" dirty="0">
                <a:latin typeface="Calibri"/>
                <a:cs typeface="Calibri"/>
              </a:rPr>
              <a:t> </a:t>
            </a:r>
            <a:r>
              <a:rPr sz="3200" b="1" dirty="0">
                <a:latin typeface="Calibri"/>
                <a:cs typeface="Calibri"/>
              </a:rPr>
              <a:t>is</a:t>
            </a:r>
            <a:r>
              <a:rPr sz="3200" b="1" spc="-20" dirty="0">
                <a:latin typeface="Calibri"/>
                <a:cs typeface="Calibri"/>
              </a:rPr>
              <a:t> </a:t>
            </a:r>
            <a:r>
              <a:rPr sz="3200" b="1" dirty="0">
                <a:latin typeface="Calibri"/>
                <a:cs typeface="Calibri"/>
              </a:rPr>
              <a:t>Machine</a:t>
            </a:r>
            <a:r>
              <a:rPr sz="3200" b="1" spc="-50" dirty="0">
                <a:latin typeface="Calibri"/>
                <a:cs typeface="Calibri"/>
              </a:rPr>
              <a:t> </a:t>
            </a:r>
            <a:r>
              <a:rPr sz="3200" b="1" spc="-10" dirty="0">
                <a:latin typeface="Calibri"/>
                <a:cs typeface="Calibri"/>
              </a:rPr>
              <a:t>Learning?</a:t>
            </a:r>
            <a:endParaRPr sz="3200" dirty="0">
              <a:latin typeface="Calibri"/>
              <a:cs typeface="Calibri"/>
            </a:endParaRPr>
          </a:p>
          <a:p>
            <a:pPr marL="241300" indent="-228600">
              <a:lnSpc>
                <a:spcPct val="100000"/>
              </a:lnSpc>
              <a:spcBef>
                <a:spcPts val="615"/>
              </a:spcBef>
              <a:buFont typeface="Arial MT"/>
              <a:buChar char="•"/>
              <a:tabLst>
                <a:tab pos="241300" algn="l"/>
              </a:tabLst>
            </a:pPr>
            <a:r>
              <a:rPr sz="3200" b="1" spc="-10" dirty="0">
                <a:latin typeface="Calibri"/>
                <a:cs typeface="Calibri"/>
              </a:rPr>
              <a:t>Definition:</a:t>
            </a:r>
            <a:endParaRPr sz="3200" dirty="0">
              <a:latin typeface="Calibri"/>
              <a:cs typeface="Calibri"/>
            </a:endParaRPr>
          </a:p>
          <a:p>
            <a:pPr marL="697230" lvl="1" indent="-227329">
              <a:lnSpc>
                <a:spcPct val="100000"/>
              </a:lnSpc>
              <a:spcBef>
                <a:spcPts val="185"/>
              </a:spcBef>
              <a:buFont typeface="Arial MT"/>
              <a:buChar char="•"/>
              <a:tabLst>
                <a:tab pos="697230" algn="l"/>
              </a:tabLst>
            </a:pPr>
            <a:r>
              <a:rPr sz="2800" dirty="0">
                <a:latin typeface="Calibri"/>
                <a:cs typeface="Calibri"/>
              </a:rPr>
              <a:t>Machine</a:t>
            </a:r>
            <a:r>
              <a:rPr sz="2800" spc="-60" dirty="0">
                <a:latin typeface="Calibri"/>
                <a:cs typeface="Calibri"/>
              </a:rPr>
              <a:t> </a:t>
            </a:r>
            <a:r>
              <a:rPr sz="2800" dirty="0">
                <a:latin typeface="Calibri"/>
                <a:cs typeface="Calibri"/>
              </a:rPr>
              <a:t>Learning</a:t>
            </a:r>
            <a:r>
              <a:rPr sz="2800" spc="-45" dirty="0">
                <a:latin typeface="Calibri"/>
                <a:cs typeface="Calibri"/>
              </a:rPr>
              <a:t> </a:t>
            </a:r>
            <a:r>
              <a:rPr sz="2800" dirty="0">
                <a:latin typeface="Calibri"/>
                <a:cs typeface="Calibri"/>
              </a:rPr>
              <a:t>(ML)</a:t>
            </a:r>
            <a:r>
              <a:rPr sz="2800" spc="-40" dirty="0">
                <a:latin typeface="Calibri"/>
                <a:cs typeface="Calibri"/>
              </a:rPr>
              <a:t> </a:t>
            </a:r>
            <a:r>
              <a:rPr sz="2800" dirty="0">
                <a:latin typeface="Calibri"/>
                <a:cs typeface="Calibri"/>
              </a:rPr>
              <a:t>is</a:t>
            </a:r>
            <a:r>
              <a:rPr sz="2800" spc="-45" dirty="0">
                <a:latin typeface="Calibri"/>
                <a:cs typeface="Calibri"/>
              </a:rPr>
              <a:t> </a:t>
            </a:r>
            <a:r>
              <a:rPr sz="2800" dirty="0">
                <a:latin typeface="Calibri"/>
                <a:cs typeface="Calibri"/>
              </a:rPr>
              <a:t>a</a:t>
            </a:r>
            <a:r>
              <a:rPr sz="2800" spc="-45" dirty="0">
                <a:latin typeface="Calibri"/>
                <a:cs typeface="Calibri"/>
              </a:rPr>
              <a:t> </a:t>
            </a:r>
            <a:r>
              <a:rPr sz="2800" dirty="0">
                <a:latin typeface="Calibri"/>
                <a:cs typeface="Calibri"/>
              </a:rPr>
              <a:t>subset</a:t>
            </a:r>
            <a:r>
              <a:rPr sz="2800" spc="-45" dirty="0">
                <a:latin typeface="Calibri"/>
                <a:cs typeface="Calibri"/>
              </a:rPr>
              <a:t> </a:t>
            </a:r>
            <a:r>
              <a:rPr sz="2800" spc="-25" dirty="0">
                <a:latin typeface="Calibri"/>
                <a:cs typeface="Calibri"/>
              </a:rPr>
              <a:t>of</a:t>
            </a:r>
            <a:endParaRPr sz="2800" dirty="0">
              <a:latin typeface="Calibri"/>
              <a:cs typeface="Calibri"/>
            </a:endParaRPr>
          </a:p>
          <a:p>
            <a:pPr lvl="1">
              <a:lnSpc>
                <a:spcPct val="100000"/>
              </a:lnSpc>
              <a:spcBef>
                <a:spcPts val="2670"/>
              </a:spcBef>
              <a:buFont typeface="Arial MT"/>
              <a:buChar char="•"/>
            </a:pPr>
            <a:endParaRPr sz="2800" dirty="0">
              <a:latin typeface="Calibri"/>
              <a:cs typeface="Calibri"/>
            </a:endParaRPr>
          </a:p>
          <a:p>
            <a:pPr marL="698500" marR="6350">
              <a:lnSpc>
                <a:spcPts val="3030"/>
              </a:lnSpc>
              <a:tabLst>
                <a:tab pos="1495425" algn="l"/>
                <a:tab pos="2197735" algn="l"/>
                <a:tab pos="2967990" algn="l"/>
                <a:tab pos="4848860" algn="l"/>
              </a:tabLst>
            </a:pPr>
            <a:r>
              <a:rPr sz="2800" spc="-20" dirty="0">
                <a:latin typeface="Calibri"/>
                <a:cs typeface="Calibri"/>
              </a:rPr>
              <a:t>data</a:t>
            </a:r>
            <a:r>
              <a:rPr sz="2800" dirty="0">
                <a:latin typeface="Calibri"/>
                <a:cs typeface="Calibri"/>
              </a:rPr>
              <a:t>	</a:t>
            </a:r>
            <a:r>
              <a:rPr sz="2800" spc="-25" dirty="0">
                <a:latin typeface="Calibri"/>
                <a:cs typeface="Calibri"/>
              </a:rPr>
              <a:t>and</a:t>
            </a:r>
            <a:r>
              <a:rPr sz="2800" dirty="0">
                <a:latin typeface="Calibri"/>
                <a:cs typeface="Calibri"/>
              </a:rPr>
              <a:t>	</a:t>
            </a:r>
            <a:r>
              <a:rPr sz="2800" spc="-20" dirty="0">
                <a:latin typeface="Calibri"/>
                <a:cs typeface="Calibri"/>
              </a:rPr>
              <a:t>past</a:t>
            </a:r>
            <a:r>
              <a:rPr sz="2800" dirty="0">
                <a:latin typeface="Calibri"/>
                <a:cs typeface="Calibri"/>
              </a:rPr>
              <a:t>	</a:t>
            </a:r>
            <a:r>
              <a:rPr sz="2800" spc="-10" dirty="0">
                <a:latin typeface="Calibri"/>
                <a:cs typeface="Calibri"/>
              </a:rPr>
              <a:t>experiences</a:t>
            </a:r>
            <a:r>
              <a:rPr sz="2800" dirty="0">
                <a:latin typeface="Calibri"/>
                <a:cs typeface="Calibri"/>
              </a:rPr>
              <a:t>	</a:t>
            </a:r>
            <a:r>
              <a:rPr sz="2800" spc="-10" dirty="0">
                <a:latin typeface="Calibri"/>
                <a:cs typeface="Calibri"/>
              </a:rPr>
              <a:t>without </a:t>
            </a:r>
            <a:r>
              <a:rPr sz="2800" dirty="0">
                <a:latin typeface="Calibri"/>
                <a:cs typeface="Calibri"/>
              </a:rPr>
              <a:t>explicit</a:t>
            </a:r>
            <a:r>
              <a:rPr sz="2800" spc="-100" dirty="0">
                <a:latin typeface="Calibri"/>
                <a:cs typeface="Calibri"/>
              </a:rPr>
              <a:t> </a:t>
            </a:r>
            <a:r>
              <a:rPr sz="2800" spc="-10" dirty="0">
                <a:latin typeface="Calibri"/>
                <a:cs typeface="Calibri"/>
              </a:rPr>
              <a:t>programming.</a:t>
            </a:r>
            <a:endParaRPr sz="2800" dirty="0">
              <a:latin typeface="Calibri"/>
              <a:cs typeface="Calibri"/>
            </a:endParaRPr>
          </a:p>
          <a:p>
            <a:pPr marL="697230" marR="5080" lvl="1" indent="-227329">
              <a:lnSpc>
                <a:spcPts val="2590"/>
              </a:lnSpc>
              <a:spcBef>
                <a:spcPts val="525"/>
              </a:spcBef>
              <a:buFont typeface="Arial MT"/>
              <a:buChar char="•"/>
              <a:tabLst>
                <a:tab pos="698500" algn="l"/>
                <a:tab pos="1335405" algn="l"/>
                <a:tab pos="2113915" algn="l"/>
                <a:tab pos="3505835" algn="l"/>
                <a:tab pos="4848860" algn="l"/>
                <a:tab pos="5504180" algn="l"/>
              </a:tabLst>
            </a:pPr>
            <a:r>
              <a:rPr sz="2400" spc="-25" dirty="0">
                <a:latin typeface="Calibri"/>
                <a:cs typeface="Calibri"/>
              </a:rPr>
              <a:t>The</a:t>
            </a:r>
            <a:r>
              <a:rPr sz="2400" dirty="0">
                <a:latin typeface="Calibri"/>
                <a:cs typeface="Calibri"/>
              </a:rPr>
              <a:t>	</a:t>
            </a:r>
            <a:r>
              <a:rPr sz="2400" spc="-20" dirty="0">
                <a:latin typeface="Calibri"/>
                <a:cs typeface="Calibri"/>
              </a:rPr>
              <a:t>term</a:t>
            </a:r>
            <a:r>
              <a:rPr sz="2400" dirty="0">
                <a:latin typeface="Calibri"/>
                <a:cs typeface="Calibri"/>
              </a:rPr>
              <a:t>	</a:t>
            </a:r>
            <a:r>
              <a:rPr sz="2400" b="1" spc="-10" dirty="0">
                <a:latin typeface="Calibri"/>
                <a:cs typeface="Calibri"/>
              </a:rPr>
              <a:t>"machine</a:t>
            </a:r>
            <a:r>
              <a:rPr sz="2400" b="1" dirty="0">
                <a:latin typeface="Calibri"/>
                <a:cs typeface="Calibri"/>
              </a:rPr>
              <a:t>	</a:t>
            </a:r>
            <a:r>
              <a:rPr sz="2400" b="1" spc="-10" dirty="0">
                <a:latin typeface="Calibri"/>
                <a:cs typeface="Calibri"/>
              </a:rPr>
              <a:t>learning"</a:t>
            </a:r>
            <a:r>
              <a:rPr sz="2400" b="1" dirty="0">
                <a:latin typeface="Calibri"/>
                <a:cs typeface="Calibri"/>
              </a:rPr>
              <a:t>	</a:t>
            </a:r>
            <a:r>
              <a:rPr sz="2400" spc="-25" dirty="0">
                <a:latin typeface="Calibri"/>
                <a:cs typeface="Calibri"/>
              </a:rPr>
              <a:t>was</a:t>
            </a:r>
            <a:r>
              <a:rPr sz="2400" dirty="0">
                <a:latin typeface="Calibri"/>
                <a:cs typeface="Calibri"/>
              </a:rPr>
              <a:t>	</a:t>
            </a:r>
            <a:r>
              <a:rPr sz="2400" spc="-25" dirty="0">
                <a:latin typeface="Calibri"/>
                <a:cs typeface="Calibri"/>
              </a:rPr>
              <a:t>first 	</a:t>
            </a:r>
            <a:r>
              <a:rPr sz="2400" spc="-10" dirty="0">
                <a:latin typeface="Calibri"/>
                <a:cs typeface="Calibri"/>
              </a:rPr>
              <a:t>introduced</a:t>
            </a:r>
            <a:r>
              <a:rPr sz="2400" spc="-50" dirty="0">
                <a:latin typeface="Calibri"/>
                <a:cs typeface="Calibri"/>
              </a:rPr>
              <a:t> </a:t>
            </a:r>
            <a:r>
              <a:rPr sz="2400" dirty="0">
                <a:latin typeface="Calibri"/>
                <a:cs typeface="Calibri"/>
              </a:rPr>
              <a:t>by</a:t>
            </a:r>
            <a:r>
              <a:rPr sz="2400" spc="-35" dirty="0">
                <a:latin typeface="Calibri"/>
                <a:cs typeface="Calibri"/>
              </a:rPr>
              <a:t> </a:t>
            </a:r>
            <a:r>
              <a:rPr sz="2400" b="1" dirty="0">
                <a:latin typeface="Calibri"/>
                <a:cs typeface="Calibri"/>
              </a:rPr>
              <a:t>Arthur</a:t>
            </a:r>
            <a:r>
              <a:rPr sz="2400" b="1" spc="-40" dirty="0">
                <a:latin typeface="Calibri"/>
                <a:cs typeface="Calibri"/>
              </a:rPr>
              <a:t> </a:t>
            </a:r>
            <a:r>
              <a:rPr sz="2400" b="1" dirty="0">
                <a:latin typeface="Calibri"/>
                <a:cs typeface="Calibri"/>
              </a:rPr>
              <a:t>Samuel</a:t>
            </a:r>
            <a:r>
              <a:rPr sz="2400" b="1" spc="-50" dirty="0">
                <a:latin typeface="Calibri"/>
                <a:cs typeface="Calibri"/>
              </a:rPr>
              <a:t> </a:t>
            </a:r>
            <a:r>
              <a:rPr sz="2400" dirty="0">
                <a:latin typeface="Calibri"/>
                <a:cs typeface="Calibri"/>
              </a:rPr>
              <a:t>in</a:t>
            </a:r>
            <a:r>
              <a:rPr sz="2400" spc="-45" dirty="0">
                <a:latin typeface="Calibri"/>
                <a:cs typeface="Calibri"/>
              </a:rPr>
              <a:t> </a:t>
            </a:r>
            <a:r>
              <a:rPr sz="2400" b="1" spc="-10" dirty="0">
                <a:latin typeface="Calibri"/>
                <a:cs typeface="Calibri"/>
              </a:rPr>
              <a:t>1959</a:t>
            </a:r>
            <a:r>
              <a:rPr sz="2400" spc="-10" dirty="0">
                <a:latin typeface="Calibri"/>
                <a:cs typeface="Calibri"/>
              </a:rPr>
              <a:t>.</a:t>
            </a:r>
            <a:endParaRPr sz="2400" dirty="0">
              <a:latin typeface="Calibri"/>
              <a:cs typeface="Calibri"/>
            </a:endParaRPr>
          </a:p>
        </p:txBody>
      </p:sp>
      <p:pic>
        <p:nvPicPr>
          <p:cNvPr id="5" name="object 5"/>
          <p:cNvPicPr/>
          <p:nvPr/>
        </p:nvPicPr>
        <p:blipFill>
          <a:blip r:embed="rId2" cstate="print"/>
          <a:stretch>
            <a:fillRect/>
          </a:stretch>
        </p:blipFill>
        <p:spPr>
          <a:xfrm>
            <a:off x="7881848" y="2166631"/>
            <a:ext cx="3918165" cy="3572491"/>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3</a:t>
            </a:fld>
            <a:endParaRPr spc="-25" dirty="0"/>
          </a:p>
        </p:txBody>
      </p:sp>
      <p:sp>
        <p:nvSpPr>
          <p:cNvPr id="2" name="object 2"/>
          <p:cNvSpPr txBox="1"/>
          <p:nvPr/>
        </p:nvSpPr>
        <p:spPr>
          <a:xfrm>
            <a:off x="916939" y="660954"/>
            <a:ext cx="9537065" cy="5447665"/>
          </a:xfrm>
          <a:prstGeom prst="rect">
            <a:avLst/>
          </a:prstGeom>
        </p:spPr>
        <p:txBody>
          <a:bodyPr vert="horz" wrap="square" lIns="0" tIns="41275" rIns="0" bIns="0" rtlCol="0">
            <a:spAutoFit/>
          </a:bodyPr>
          <a:lstStyle/>
          <a:p>
            <a:pPr marL="240665" indent="-227965">
              <a:lnSpc>
                <a:spcPct val="100000"/>
              </a:lnSpc>
              <a:spcBef>
                <a:spcPts val="325"/>
              </a:spcBef>
              <a:buFont typeface="Arial MT"/>
              <a:buChar char="•"/>
              <a:tabLst>
                <a:tab pos="240665" algn="l"/>
              </a:tabLst>
            </a:pPr>
            <a:r>
              <a:rPr sz="3200" b="1" dirty="0">
                <a:latin typeface="Calibri"/>
                <a:cs typeface="Calibri"/>
              </a:rPr>
              <a:t>Key</a:t>
            </a:r>
            <a:r>
              <a:rPr sz="3200" b="1" spc="-60" dirty="0">
                <a:latin typeface="Calibri"/>
                <a:cs typeface="Calibri"/>
              </a:rPr>
              <a:t> </a:t>
            </a:r>
            <a:r>
              <a:rPr sz="3200" b="1" dirty="0">
                <a:latin typeface="Calibri"/>
                <a:cs typeface="Calibri"/>
              </a:rPr>
              <a:t>Concepts</a:t>
            </a:r>
            <a:r>
              <a:rPr sz="3200" b="1" spc="-55" dirty="0">
                <a:latin typeface="Calibri"/>
                <a:cs typeface="Calibri"/>
              </a:rPr>
              <a:t> </a:t>
            </a:r>
            <a:r>
              <a:rPr sz="3200" b="1" dirty="0">
                <a:latin typeface="Calibri"/>
                <a:cs typeface="Calibri"/>
              </a:rPr>
              <a:t>of</a:t>
            </a:r>
            <a:r>
              <a:rPr sz="3200" b="1" spc="-50" dirty="0">
                <a:latin typeface="Calibri"/>
                <a:cs typeface="Calibri"/>
              </a:rPr>
              <a:t> </a:t>
            </a:r>
            <a:r>
              <a:rPr sz="3200" b="1" dirty="0">
                <a:latin typeface="Calibri"/>
                <a:cs typeface="Calibri"/>
              </a:rPr>
              <a:t>Machine</a:t>
            </a:r>
            <a:r>
              <a:rPr sz="3200" b="1" spc="-65" dirty="0">
                <a:latin typeface="Calibri"/>
                <a:cs typeface="Calibri"/>
              </a:rPr>
              <a:t> </a:t>
            </a:r>
            <a:r>
              <a:rPr sz="3200" b="1" spc="-10" dirty="0">
                <a:latin typeface="Calibri"/>
                <a:cs typeface="Calibri"/>
              </a:rPr>
              <a:t>Learning</a:t>
            </a:r>
            <a:endParaRPr sz="3200" dirty="0">
              <a:latin typeface="Calibri"/>
              <a:cs typeface="Calibri"/>
            </a:endParaRPr>
          </a:p>
          <a:p>
            <a:pPr marL="241300" indent="-228600">
              <a:lnSpc>
                <a:spcPts val="3765"/>
              </a:lnSpc>
              <a:spcBef>
                <a:spcPts val="225"/>
              </a:spcBef>
              <a:buFont typeface="Arial MT"/>
              <a:buChar char="•"/>
              <a:tabLst>
                <a:tab pos="241300" algn="l"/>
              </a:tabLst>
            </a:pPr>
            <a:r>
              <a:rPr sz="3200" b="1" dirty="0">
                <a:latin typeface="Calibri"/>
                <a:cs typeface="Calibri"/>
              </a:rPr>
              <a:t>Automatic</a:t>
            </a:r>
            <a:r>
              <a:rPr sz="3200" b="1" spc="-75" dirty="0">
                <a:latin typeface="Calibri"/>
                <a:cs typeface="Calibri"/>
              </a:rPr>
              <a:t> </a:t>
            </a:r>
            <a:r>
              <a:rPr sz="3200" b="1" dirty="0">
                <a:latin typeface="Calibri"/>
                <a:cs typeface="Calibri"/>
              </a:rPr>
              <a:t>Learning</a:t>
            </a:r>
            <a:r>
              <a:rPr sz="3200" b="1" spc="-110" dirty="0">
                <a:latin typeface="Calibri"/>
                <a:cs typeface="Calibri"/>
              </a:rPr>
              <a:t> </a:t>
            </a:r>
            <a:r>
              <a:rPr sz="3200" b="1" dirty="0">
                <a:latin typeface="Calibri"/>
                <a:cs typeface="Calibri"/>
              </a:rPr>
              <a:t>from</a:t>
            </a:r>
            <a:r>
              <a:rPr sz="3200" b="1" spc="-60" dirty="0">
                <a:latin typeface="Calibri"/>
                <a:cs typeface="Calibri"/>
              </a:rPr>
              <a:t> </a:t>
            </a:r>
            <a:r>
              <a:rPr sz="3200" b="1" spc="-10" dirty="0">
                <a:latin typeface="Calibri"/>
                <a:cs typeface="Calibri"/>
              </a:rPr>
              <a:t>Data:</a:t>
            </a:r>
            <a:endParaRPr sz="3200" dirty="0">
              <a:latin typeface="Calibri"/>
              <a:cs typeface="Calibri"/>
            </a:endParaRPr>
          </a:p>
          <a:p>
            <a:pPr marL="697230" lvl="1" indent="-227329">
              <a:lnSpc>
                <a:spcPts val="3285"/>
              </a:lnSpc>
              <a:buFont typeface="Arial MT"/>
              <a:buChar char="•"/>
              <a:tabLst>
                <a:tab pos="697230" algn="l"/>
              </a:tabLst>
            </a:pPr>
            <a:r>
              <a:rPr sz="2800" dirty="0">
                <a:latin typeface="Calibri"/>
                <a:cs typeface="Calibri"/>
              </a:rPr>
              <a:t>Machines</a:t>
            </a:r>
            <a:r>
              <a:rPr sz="2800" spc="-70" dirty="0">
                <a:latin typeface="Calibri"/>
                <a:cs typeface="Calibri"/>
              </a:rPr>
              <a:t> </a:t>
            </a:r>
            <a:r>
              <a:rPr sz="2800" dirty="0">
                <a:latin typeface="Calibri"/>
                <a:cs typeface="Calibri"/>
              </a:rPr>
              <a:t>learn</a:t>
            </a:r>
            <a:r>
              <a:rPr sz="2800" spc="-100" dirty="0">
                <a:latin typeface="Calibri"/>
                <a:cs typeface="Calibri"/>
              </a:rPr>
              <a:t> </a:t>
            </a:r>
            <a:r>
              <a:rPr sz="2800" dirty="0">
                <a:latin typeface="Calibri"/>
                <a:cs typeface="Calibri"/>
              </a:rPr>
              <a:t>and</a:t>
            </a:r>
            <a:r>
              <a:rPr sz="2800" spc="-80" dirty="0">
                <a:latin typeface="Calibri"/>
                <a:cs typeface="Calibri"/>
              </a:rPr>
              <a:t> </a:t>
            </a:r>
            <a:r>
              <a:rPr sz="2800" dirty="0">
                <a:latin typeface="Calibri"/>
                <a:cs typeface="Calibri"/>
              </a:rPr>
              <a:t>improve</a:t>
            </a:r>
            <a:r>
              <a:rPr sz="2800" spc="-80" dirty="0">
                <a:latin typeface="Calibri"/>
                <a:cs typeface="Calibri"/>
              </a:rPr>
              <a:t> </a:t>
            </a:r>
            <a:r>
              <a:rPr sz="2800" dirty="0">
                <a:latin typeface="Calibri"/>
                <a:cs typeface="Calibri"/>
              </a:rPr>
              <a:t>from</a:t>
            </a:r>
            <a:r>
              <a:rPr sz="2800" spc="-80" dirty="0">
                <a:latin typeface="Calibri"/>
                <a:cs typeface="Calibri"/>
              </a:rPr>
              <a:t> </a:t>
            </a:r>
            <a:r>
              <a:rPr sz="2800" dirty="0">
                <a:latin typeface="Calibri"/>
                <a:cs typeface="Calibri"/>
              </a:rPr>
              <a:t>data</a:t>
            </a:r>
            <a:r>
              <a:rPr sz="2800" spc="-85" dirty="0">
                <a:latin typeface="Calibri"/>
                <a:cs typeface="Calibri"/>
              </a:rPr>
              <a:t> </a:t>
            </a:r>
            <a:r>
              <a:rPr sz="2800" spc="-10" dirty="0">
                <a:latin typeface="Calibri"/>
                <a:cs typeface="Calibri"/>
              </a:rPr>
              <a:t>automatically.</a:t>
            </a:r>
            <a:endParaRPr sz="2800" dirty="0">
              <a:latin typeface="Calibri"/>
              <a:cs typeface="Calibri"/>
            </a:endParaRPr>
          </a:p>
          <a:p>
            <a:pPr marL="240665" indent="-227965">
              <a:lnSpc>
                <a:spcPts val="3765"/>
              </a:lnSpc>
              <a:spcBef>
                <a:spcPts val="3404"/>
              </a:spcBef>
              <a:buFont typeface="Arial MT"/>
              <a:buChar char="•"/>
              <a:tabLst>
                <a:tab pos="240665" algn="l"/>
              </a:tabLst>
            </a:pPr>
            <a:r>
              <a:rPr sz="3200" b="1" dirty="0">
                <a:latin typeface="Calibri"/>
                <a:cs typeface="Calibri"/>
              </a:rPr>
              <a:t>Predictive</a:t>
            </a:r>
            <a:r>
              <a:rPr sz="3200" b="1" spc="-130" dirty="0">
                <a:latin typeface="Calibri"/>
                <a:cs typeface="Calibri"/>
              </a:rPr>
              <a:t> </a:t>
            </a:r>
            <a:r>
              <a:rPr sz="3200" b="1" spc="-10" dirty="0">
                <a:latin typeface="Calibri"/>
                <a:cs typeface="Calibri"/>
              </a:rPr>
              <a:t>Modeling:</a:t>
            </a:r>
            <a:endParaRPr sz="3200" dirty="0">
              <a:latin typeface="Calibri"/>
              <a:cs typeface="Calibri"/>
            </a:endParaRPr>
          </a:p>
          <a:p>
            <a:pPr marL="697230" lvl="1" indent="-227329">
              <a:lnSpc>
                <a:spcPts val="3285"/>
              </a:lnSpc>
              <a:buFont typeface="Arial MT"/>
              <a:buChar char="•"/>
              <a:tabLst>
                <a:tab pos="697230" algn="l"/>
              </a:tabLst>
            </a:pPr>
            <a:r>
              <a:rPr sz="2800" dirty="0">
                <a:latin typeface="Calibri"/>
                <a:cs typeface="Calibri"/>
              </a:rPr>
              <a:t>Algorithms</a:t>
            </a:r>
            <a:r>
              <a:rPr sz="2800" spc="-65" dirty="0">
                <a:latin typeface="Calibri"/>
                <a:cs typeface="Calibri"/>
              </a:rPr>
              <a:t> </a:t>
            </a:r>
            <a:r>
              <a:rPr sz="2800" dirty="0">
                <a:latin typeface="Calibri"/>
                <a:cs typeface="Calibri"/>
              </a:rPr>
              <a:t>create</a:t>
            </a:r>
            <a:r>
              <a:rPr sz="2800" spc="-100" dirty="0">
                <a:latin typeface="Calibri"/>
                <a:cs typeface="Calibri"/>
              </a:rPr>
              <a:t> </a:t>
            </a:r>
            <a:r>
              <a:rPr sz="2800" dirty="0">
                <a:latin typeface="Calibri"/>
                <a:cs typeface="Calibri"/>
              </a:rPr>
              <a:t>models</a:t>
            </a:r>
            <a:r>
              <a:rPr sz="2800" spc="-65" dirty="0">
                <a:latin typeface="Calibri"/>
                <a:cs typeface="Calibri"/>
              </a:rPr>
              <a:t> </a:t>
            </a:r>
            <a:r>
              <a:rPr sz="2800" dirty="0">
                <a:latin typeface="Calibri"/>
                <a:cs typeface="Calibri"/>
              </a:rPr>
              <a:t>to</a:t>
            </a:r>
            <a:r>
              <a:rPr sz="2800" spc="-85" dirty="0">
                <a:latin typeface="Calibri"/>
                <a:cs typeface="Calibri"/>
              </a:rPr>
              <a:t> </a:t>
            </a:r>
            <a:r>
              <a:rPr sz="2800" dirty="0">
                <a:latin typeface="Calibri"/>
                <a:cs typeface="Calibri"/>
              </a:rPr>
              <a:t>predict</a:t>
            </a:r>
            <a:r>
              <a:rPr sz="2800" spc="-60" dirty="0">
                <a:latin typeface="Calibri"/>
                <a:cs typeface="Calibri"/>
              </a:rPr>
              <a:t> </a:t>
            </a:r>
            <a:r>
              <a:rPr sz="2800" dirty="0">
                <a:latin typeface="Calibri"/>
                <a:cs typeface="Calibri"/>
              </a:rPr>
              <a:t>based</a:t>
            </a:r>
            <a:r>
              <a:rPr sz="2800" spc="-70" dirty="0">
                <a:latin typeface="Calibri"/>
                <a:cs typeface="Calibri"/>
              </a:rPr>
              <a:t> </a:t>
            </a:r>
            <a:r>
              <a:rPr sz="2800" dirty="0">
                <a:latin typeface="Calibri"/>
                <a:cs typeface="Calibri"/>
              </a:rPr>
              <a:t>on</a:t>
            </a:r>
            <a:r>
              <a:rPr sz="2800" spc="-80" dirty="0">
                <a:latin typeface="Calibri"/>
                <a:cs typeface="Calibri"/>
              </a:rPr>
              <a:t> </a:t>
            </a:r>
            <a:r>
              <a:rPr sz="2800" spc="-10" dirty="0">
                <a:latin typeface="Calibri"/>
                <a:cs typeface="Calibri"/>
              </a:rPr>
              <a:t>historical</a:t>
            </a:r>
            <a:r>
              <a:rPr sz="2800" spc="-65" dirty="0">
                <a:latin typeface="Calibri"/>
                <a:cs typeface="Calibri"/>
              </a:rPr>
              <a:t> </a:t>
            </a:r>
            <a:r>
              <a:rPr sz="2800" spc="-10" dirty="0">
                <a:latin typeface="Calibri"/>
                <a:cs typeface="Calibri"/>
              </a:rPr>
              <a:t>data.</a:t>
            </a:r>
            <a:endParaRPr sz="2800" dirty="0">
              <a:latin typeface="Calibri"/>
              <a:cs typeface="Calibri"/>
            </a:endParaRPr>
          </a:p>
          <a:p>
            <a:pPr marL="240665" indent="-227965">
              <a:lnSpc>
                <a:spcPts val="3760"/>
              </a:lnSpc>
              <a:spcBef>
                <a:spcPts val="3404"/>
              </a:spcBef>
              <a:buFont typeface="Arial MT"/>
              <a:buChar char="•"/>
              <a:tabLst>
                <a:tab pos="240665" algn="l"/>
              </a:tabLst>
            </a:pPr>
            <a:r>
              <a:rPr sz="3200" b="1" spc="-10" dirty="0">
                <a:latin typeface="Calibri"/>
                <a:cs typeface="Calibri"/>
              </a:rPr>
              <a:t>Integration</a:t>
            </a:r>
            <a:r>
              <a:rPr sz="3200" b="1" spc="-70" dirty="0">
                <a:latin typeface="Calibri"/>
                <a:cs typeface="Calibri"/>
              </a:rPr>
              <a:t> </a:t>
            </a:r>
            <a:r>
              <a:rPr sz="3200" b="1" dirty="0">
                <a:latin typeface="Calibri"/>
                <a:cs typeface="Calibri"/>
              </a:rPr>
              <a:t>of</a:t>
            </a:r>
            <a:r>
              <a:rPr sz="3200" b="1" spc="-90" dirty="0">
                <a:latin typeface="Calibri"/>
                <a:cs typeface="Calibri"/>
              </a:rPr>
              <a:t> </a:t>
            </a:r>
            <a:r>
              <a:rPr sz="3200" b="1" spc="-10" dirty="0">
                <a:latin typeface="Calibri"/>
                <a:cs typeface="Calibri"/>
              </a:rPr>
              <a:t>Fields:</a:t>
            </a:r>
            <a:endParaRPr sz="3200" dirty="0">
              <a:latin typeface="Calibri"/>
              <a:cs typeface="Calibri"/>
            </a:endParaRPr>
          </a:p>
          <a:p>
            <a:pPr marL="697230" lvl="1" indent="-227329">
              <a:lnSpc>
                <a:spcPts val="3279"/>
              </a:lnSpc>
              <a:buFont typeface="Arial MT"/>
              <a:buChar char="•"/>
              <a:tabLst>
                <a:tab pos="697230" algn="l"/>
              </a:tabLst>
            </a:pPr>
            <a:r>
              <a:rPr sz="2800" dirty="0">
                <a:latin typeface="Calibri"/>
                <a:cs typeface="Calibri"/>
              </a:rPr>
              <a:t>Combines</a:t>
            </a:r>
            <a:r>
              <a:rPr sz="2800" spc="-80" dirty="0">
                <a:latin typeface="Calibri"/>
                <a:cs typeface="Calibri"/>
              </a:rPr>
              <a:t> </a:t>
            </a:r>
            <a:r>
              <a:rPr sz="2800" spc="-10" dirty="0">
                <a:latin typeface="Calibri"/>
                <a:cs typeface="Calibri"/>
              </a:rPr>
              <a:t>statistics</a:t>
            </a:r>
            <a:r>
              <a:rPr sz="2800" spc="-80" dirty="0">
                <a:latin typeface="Calibri"/>
                <a:cs typeface="Calibri"/>
              </a:rPr>
              <a:t> </a:t>
            </a:r>
            <a:r>
              <a:rPr sz="2800" dirty="0">
                <a:latin typeface="Calibri"/>
                <a:cs typeface="Calibri"/>
              </a:rPr>
              <a:t>and</a:t>
            </a:r>
            <a:r>
              <a:rPr sz="2800" spc="-105" dirty="0">
                <a:latin typeface="Calibri"/>
                <a:cs typeface="Calibri"/>
              </a:rPr>
              <a:t> </a:t>
            </a:r>
            <a:r>
              <a:rPr sz="2800" dirty="0">
                <a:latin typeface="Calibri"/>
                <a:cs typeface="Calibri"/>
              </a:rPr>
              <a:t>computer</a:t>
            </a:r>
            <a:r>
              <a:rPr sz="2800" spc="-85" dirty="0">
                <a:latin typeface="Calibri"/>
                <a:cs typeface="Calibri"/>
              </a:rPr>
              <a:t> </a:t>
            </a:r>
            <a:r>
              <a:rPr sz="2800" dirty="0">
                <a:latin typeface="Calibri"/>
                <a:cs typeface="Calibri"/>
              </a:rPr>
              <a:t>science</a:t>
            </a:r>
            <a:r>
              <a:rPr sz="2800" spc="-95" dirty="0">
                <a:latin typeface="Calibri"/>
                <a:cs typeface="Calibri"/>
              </a:rPr>
              <a:t> </a:t>
            </a:r>
            <a:r>
              <a:rPr sz="2800" dirty="0">
                <a:latin typeface="Calibri"/>
                <a:cs typeface="Calibri"/>
              </a:rPr>
              <a:t>for</a:t>
            </a:r>
            <a:r>
              <a:rPr sz="2800" spc="-105" dirty="0">
                <a:latin typeface="Calibri"/>
                <a:cs typeface="Calibri"/>
              </a:rPr>
              <a:t> </a:t>
            </a:r>
            <a:r>
              <a:rPr sz="2800" dirty="0">
                <a:latin typeface="Calibri"/>
                <a:cs typeface="Calibri"/>
              </a:rPr>
              <a:t>model</a:t>
            </a:r>
            <a:r>
              <a:rPr sz="2800" spc="-105" dirty="0">
                <a:latin typeface="Calibri"/>
                <a:cs typeface="Calibri"/>
              </a:rPr>
              <a:t> </a:t>
            </a:r>
            <a:r>
              <a:rPr sz="2800" spc="-10" dirty="0">
                <a:latin typeface="Calibri"/>
                <a:cs typeface="Calibri"/>
              </a:rPr>
              <a:t>building.</a:t>
            </a:r>
            <a:endParaRPr sz="2800" dirty="0">
              <a:latin typeface="Calibri"/>
              <a:cs typeface="Calibri"/>
            </a:endParaRPr>
          </a:p>
          <a:p>
            <a:pPr marL="240665" indent="-227965">
              <a:lnSpc>
                <a:spcPts val="3765"/>
              </a:lnSpc>
              <a:spcBef>
                <a:spcPts val="3404"/>
              </a:spcBef>
              <a:buFont typeface="Arial MT"/>
              <a:buChar char="•"/>
              <a:tabLst>
                <a:tab pos="240665" algn="l"/>
              </a:tabLst>
            </a:pPr>
            <a:r>
              <a:rPr sz="3200" b="1" dirty="0">
                <a:latin typeface="Calibri"/>
                <a:cs typeface="Calibri"/>
              </a:rPr>
              <a:t>Learning</a:t>
            </a:r>
            <a:r>
              <a:rPr sz="3200" b="1" spc="-60" dirty="0">
                <a:latin typeface="Calibri"/>
                <a:cs typeface="Calibri"/>
              </a:rPr>
              <a:t> </a:t>
            </a:r>
            <a:r>
              <a:rPr sz="3200" b="1" dirty="0">
                <a:latin typeface="Calibri"/>
                <a:cs typeface="Calibri"/>
              </a:rPr>
              <a:t>and</a:t>
            </a:r>
            <a:r>
              <a:rPr sz="3200" b="1" spc="-30" dirty="0">
                <a:latin typeface="Calibri"/>
                <a:cs typeface="Calibri"/>
              </a:rPr>
              <a:t> </a:t>
            </a:r>
            <a:r>
              <a:rPr sz="3200" b="1" spc="-10" dirty="0">
                <a:latin typeface="Calibri"/>
                <a:cs typeface="Calibri"/>
              </a:rPr>
              <a:t>Performance:</a:t>
            </a:r>
            <a:endParaRPr sz="3200" dirty="0">
              <a:latin typeface="Calibri"/>
              <a:cs typeface="Calibri"/>
            </a:endParaRPr>
          </a:p>
          <a:p>
            <a:pPr marL="697230" lvl="1" indent="-227329">
              <a:lnSpc>
                <a:spcPts val="3285"/>
              </a:lnSpc>
              <a:buFont typeface="Arial MT"/>
              <a:buChar char="•"/>
              <a:tabLst>
                <a:tab pos="697230" algn="l"/>
              </a:tabLst>
            </a:pPr>
            <a:r>
              <a:rPr sz="2800" spc="-20" dirty="0">
                <a:latin typeface="Calibri"/>
                <a:cs typeface="Calibri"/>
              </a:rPr>
              <a:t>Effectiveness</a:t>
            </a:r>
            <a:r>
              <a:rPr sz="2800" spc="-100" dirty="0">
                <a:latin typeface="Calibri"/>
                <a:cs typeface="Calibri"/>
              </a:rPr>
              <a:t> </a:t>
            </a:r>
            <a:r>
              <a:rPr sz="2800" dirty="0">
                <a:latin typeface="Calibri"/>
                <a:cs typeface="Calibri"/>
              </a:rPr>
              <a:t>increases</a:t>
            </a:r>
            <a:r>
              <a:rPr sz="2800" spc="-70" dirty="0">
                <a:latin typeface="Calibri"/>
                <a:cs typeface="Calibri"/>
              </a:rPr>
              <a:t> </a:t>
            </a:r>
            <a:r>
              <a:rPr sz="2800" dirty="0">
                <a:latin typeface="Calibri"/>
                <a:cs typeface="Calibri"/>
              </a:rPr>
              <a:t>with</a:t>
            </a:r>
            <a:r>
              <a:rPr sz="2800" spc="-90" dirty="0">
                <a:latin typeface="Calibri"/>
                <a:cs typeface="Calibri"/>
              </a:rPr>
              <a:t> </a:t>
            </a:r>
            <a:r>
              <a:rPr sz="2800" dirty="0">
                <a:latin typeface="Calibri"/>
                <a:cs typeface="Calibri"/>
              </a:rPr>
              <a:t>more</a:t>
            </a:r>
            <a:r>
              <a:rPr sz="2800" spc="-95" dirty="0">
                <a:latin typeface="Calibri"/>
                <a:cs typeface="Calibri"/>
              </a:rPr>
              <a:t> </a:t>
            </a:r>
            <a:r>
              <a:rPr sz="2800" dirty="0">
                <a:latin typeface="Calibri"/>
                <a:cs typeface="Calibri"/>
              </a:rPr>
              <a:t>data</a:t>
            </a:r>
            <a:r>
              <a:rPr sz="2800" spc="-90" dirty="0">
                <a:latin typeface="Calibri"/>
                <a:cs typeface="Calibri"/>
              </a:rPr>
              <a:t> </a:t>
            </a:r>
            <a:r>
              <a:rPr sz="2800" spc="-10" dirty="0">
                <a:latin typeface="Calibri"/>
                <a:cs typeface="Calibri"/>
              </a:rPr>
              <a:t>exposure.</a:t>
            </a:r>
            <a:endParaRPr sz="28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4</a:t>
            </a:fld>
            <a:endParaRPr spc="-25" dirty="0"/>
          </a:p>
        </p:txBody>
      </p:sp>
      <p:sp>
        <p:nvSpPr>
          <p:cNvPr id="2" name="object 2"/>
          <p:cNvSpPr txBox="1"/>
          <p:nvPr/>
        </p:nvSpPr>
        <p:spPr>
          <a:xfrm>
            <a:off x="592023" y="165338"/>
            <a:ext cx="7533005" cy="6043930"/>
          </a:xfrm>
          <a:prstGeom prst="rect">
            <a:avLst/>
          </a:prstGeom>
        </p:spPr>
        <p:txBody>
          <a:bodyPr vert="horz" wrap="square" lIns="0" tIns="53340" rIns="0" bIns="0" rtlCol="0">
            <a:spAutoFit/>
          </a:bodyPr>
          <a:lstStyle/>
          <a:p>
            <a:pPr marL="240665" indent="-227965">
              <a:lnSpc>
                <a:spcPct val="100000"/>
              </a:lnSpc>
              <a:spcBef>
                <a:spcPts val="420"/>
              </a:spcBef>
              <a:buFont typeface="Arial MT"/>
              <a:buChar char="•"/>
              <a:tabLst>
                <a:tab pos="240665" algn="l"/>
              </a:tabLst>
            </a:pPr>
            <a:r>
              <a:rPr sz="2800" b="1" dirty="0">
                <a:latin typeface="Calibri"/>
                <a:cs typeface="Calibri"/>
              </a:rPr>
              <a:t>How</a:t>
            </a:r>
            <a:r>
              <a:rPr sz="2800" b="1" spc="-95" dirty="0">
                <a:latin typeface="Calibri"/>
                <a:cs typeface="Calibri"/>
              </a:rPr>
              <a:t> </a:t>
            </a:r>
            <a:r>
              <a:rPr sz="2800" b="1" dirty="0">
                <a:latin typeface="Calibri"/>
                <a:cs typeface="Calibri"/>
              </a:rPr>
              <a:t>Machine</a:t>
            </a:r>
            <a:r>
              <a:rPr sz="2800" b="1" spc="-80" dirty="0">
                <a:latin typeface="Calibri"/>
                <a:cs typeface="Calibri"/>
              </a:rPr>
              <a:t> </a:t>
            </a:r>
            <a:r>
              <a:rPr sz="2800" b="1" dirty="0">
                <a:latin typeface="Calibri"/>
                <a:cs typeface="Calibri"/>
              </a:rPr>
              <a:t>Learning</a:t>
            </a:r>
            <a:r>
              <a:rPr sz="2800" b="1" spc="-70" dirty="0">
                <a:latin typeface="Calibri"/>
                <a:cs typeface="Calibri"/>
              </a:rPr>
              <a:t> </a:t>
            </a:r>
            <a:r>
              <a:rPr sz="2800" b="1" spc="-10" dirty="0">
                <a:latin typeface="Calibri"/>
                <a:cs typeface="Calibri"/>
              </a:rPr>
              <a:t>Works</a:t>
            </a:r>
            <a:endParaRPr sz="2800" dirty="0">
              <a:latin typeface="Calibri"/>
              <a:cs typeface="Calibri"/>
            </a:endParaRPr>
          </a:p>
          <a:p>
            <a:pPr marL="240029" indent="-227329">
              <a:lnSpc>
                <a:spcPts val="3335"/>
              </a:lnSpc>
              <a:spcBef>
                <a:spcPts val="325"/>
              </a:spcBef>
              <a:buFont typeface="Arial MT"/>
              <a:buChar char="•"/>
              <a:tabLst>
                <a:tab pos="240029" algn="l"/>
              </a:tabLst>
            </a:pPr>
            <a:r>
              <a:rPr sz="2800" b="1" dirty="0">
                <a:latin typeface="Calibri"/>
                <a:cs typeface="Calibri"/>
              </a:rPr>
              <a:t>Data</a:t>
            </a:r>
            <a:r>
              <a:rPr sz="2800" b="1" spc="-100" dirty="0">
                <a:latin typeface="Calibri"/>
                <a:cs typeface="Calibri"/>
              </a:rPr>
              <a:t> </a:t>
            </a:r>
            <a:r>
              <a:rPr sz="2800" b="1" spc="-10" dirty="0">
                <a:latin typeface="Calibri"/>
                <a:cs typeface="Calibri"/>
              </a:rPr>
              <a:t>Collection:</a:t>
            </a:r>
            <a:endParaRPr sz="2800" dirty="0">
              <a:latin typeface="Calibri"/>
              <a:cs typeface="Calibri"/>
            </a:endParaRPr>
          </a:p>
          <a:p>
            <a:pPr marL="697230" lvl="1" indent="-227329">
              <a:lnSpc>
                <a:spcPts val="2855"/>
              </a:lnSpc>
              <a:buFont typeface="Arial MT"/>
              <a:buChar char="•"/>
              <a:tabLst>
                <a:tab pos="697230" algn="l"/>
              </a:tabLst>
            </a:pPr>
            <a:r>
              <a:rPr sz="2400" dirty="0">
                <a:latin typeface="Calibri"/>
                <a:cs typeface="Calibri"/>
              </a:rPr>
              <a:t>Gather</a:t>
            </a:r>
            <a:r>
              <a:rPr sz="2400" spc="-85" dirty="0">
                <a:latin typeface="Calibri"/>
                <a:cs typeface="Calibri"/>
              </a:rPr>
              <a:t> </a:t>
            </a:r>
            <a:r>
              <a:rPr sz="2400" dirty="0">
                <a:latin typeface="Calibri"/>
                <a:cs typeface="Calibri"/>
              </a:rPr>
              <a:t>historical</a:t>
            </a:r>
            <a:r>
              <a:rPr sz="2400" spc="-90" dirty="0">
                <a:latin typeface="Calibri"/>
                <a:cs typeface="Calibri"/>
              </a:rPr>
              <a:t> </a:t>
            </a:r>
            <a:r>
              <a:rPr sz="2400" dirty="0">
                <a:latin typeface="Calibri"/>
                <a:cs typeface="Calibri"/>
              </a:rPr>
              <a:t>data</a:t>
            </a:r>
            <a:r>
              <a:rPr sz="2400" spc="-90" dirty="0">
                <a:latin typeface="Calibri"/>
                <a:cs typeface="Calibri"/>
              </a:rPr>
              <a:t> </a:t>
            </a:r>
            <a:r>
              <a:rPr sz="2400" dirty="0">
                <a:latin typeface="Calibri"/>
                <a:cs typeface="Calibri"/>
              </a:rPr>
              <a:t>for</a:t>
            </a:r>
            <a:r>
              <a:rPr sz="2400" spc="-75" dirty="0">
                <a:latin typeface="Calibri"/>
                <a:cs typeface="Calibri"/>
              </a:rPr>
              <a:t> </a:t>
            </a:r>
            <a:r>
              <a:rPr sz="2400" spc="-10" dirty="0">
                <a:latin typeface="Calibri"/>
                <a:cs typeface="Calibri"/>
              </a:rPr>
              <a:t>training.</a:t>
            </a:r>
            <a:endParaRPr sz="2400" dirty="0">
              <a:latin typeface="Calibri"/>
              <a:cs typeface="Calibri"/>
            </a:endParaRPr>
          </a:p>
          <a:p>
            <a:pPr lvl="1">
              <a:lnSpc>
                <a:spcPct val="100000"/>
              </a:lnSpc>
              <a:spcBef>
                <a:spcPts val="185"/>
              </a:spcBef>
              <a:buFont typeface="Arial MT"/>
              <a:buChar char="•"/>
            </a:pPr>
            <a:endParaRPr sz="2400" dirty="0">
              <a:latin typeface="Calibri"/>
              <a:cs typeface="Calibri"/>
            </a:endParaRPr>
          </a:p>
          <a:p>
            <a:pPr marL="240665" indent="-227965">
              <a:lnSpc>
                <a:spcPts val="3329"/>
              </a:lnSpc>
              <a:buFont typeface="Arial MT"/>
              <a:buChar char="•"/>
              <a:tabLst>
                <a:tab pos="240665" algn="l"/>
              </a:tabLst>
            </a:pPr>
            <a:r>
              <a:rPr sz="2800" b="1" spc="-10" dirty="0">
                <a:latin typeface="Calibri"/>
                <a:cs typeface="Calibri"/>
              </a:rPr>
              <a:t>Algorithm</a:t>
            </a:r>
            <a:r>
              <a:rPr sz="2800" b="1" spc="-80" dirty="0">
                <a:latin typeface="Calibri"/>
                <a:cs typeface="Calibri"/>
              </a:rPr>
              <a:t> </a:t>
            </a:r>
            <a:r>
              <a:rPr sz="2800" b="1" spc="-10" dirty="0">
                <a:latin typeface="Calibri"/>
                <a:cs typeface="Calibri"/>
              </a:rPr>
              <a:t>Development:</a:t>
            </a:r>
            <a:endParaRPr sz="2800" dirty="0">
              <a:latin typeface="Calibri"/>
              <a:cs typeface="Calibri"/>
            </a:endParaRPr>
          </a:p>
          <a:p>
            <a:pPr marL="697230" lvl="1" indent="-227329">
              <a:lnSpc>
                <a:spcPts val="2850"/>
              </a:lnSpc>
              <a:buFont typeface="Arial MT"/>
              <a:buChar char="•"/>
              <a:tabLst>
                <a:tab pos="697230" algn="l"/>
              </a:tabLst>
            </a:pPr>
            <a:r>
              <a:rPr sz="2400" dirty="0">
                <a:latin typeface="Calibri"/>
                <a:cs typeface="Calibri"/>
              </a:rPr>
              <a:t>Analyze</a:t>
            </a:r>
            <a:r>
              <a:rPr sz="2400" spc="-85" dirty="0">
                <a:latin typeface="Calibri"/>
                <a:cs typeface="Calibri"/>
              </a:rPr>
              <a:t> </a:t>
            </a:r>
            <a:r>
              <a:rPr sz="2400" dirty="0">
                <a:latin typeface="Calibri"/>
                <a:cs typeface="Calibri"/>
              </a:rPr>
              <a:t>data</a:t>
            </a:r>
            <a:r>
              <a:rPr sz="2400" spc="-80" dirty="0">
                <a:latin typeface="Calibri"/>
                <a:cs typeface="Calibri"/>
              </a:rPr>
              <a:t> </a:t>
            </a:r>
            <a:r>
              <a:rPr sz="2400" dirty="0">
                <a:latin typeface="Calibri"/>
                <a:cs typeface="Calibri"/>
              </a:rPr>
              <a:t>to</a:t>
            </a:r>
            <a:r>
              <a:rPr sz="2400" spc="-80" dirty="0">
                <a:latin typeface="Calibri"/>
                <a:cs typeface="Calibri"/>
              </a:rPr>
              <a:t> </a:t>
            </a:r>
            <a:r>
              <a:rPr sz="2400" dirty="0">
                <a:latin typeface="Calibri"/>
                <a:cs typeface="Calibri"/>
              </a:rPr>
              <a:t>identify</a:t>
            </a:r>
            <a:r>
              <a:rPr sz="2400" spc="-90" dirty="0">
                <a:latin typeface="Calibri"/>
                <a:cs typeface="Calibri"/>
              </a:rPr>
              <a:t> </a:t>
            </a:r>
            <a:r>
              <a:rPr sz="2400" spc="-10" dirty="0">
                <a:latin typeface="Calibri"/>
                <a:cs typeface="Calibri"/>
              </a:rPr>
              <a:t>patterns.</a:t>
            </a:r>
            <a:endParaRPr sz="2400" dirty="0">
              <a:latin typeface="Calibri"/>
              <a:cs typeface="Calibri"/>
            </a:endParaRPr>
          </a:p>
          <a:p>
            <a:pPr lvl="1">
              <a:lnSpc>
                <a:spcPct val="100000"/>
              </a:lnSpc>
              <a:spcBef>
                <a:spcPts val="190"/>
              </a:spcBef>
              <a:buFont typeface="Arial MT"/>
              <a:buChar char="•"/>
            </a:pPr>
            <a:endParaRPr sz="2400" dirty="0">
              <a:latin typeface="Calibri"/>
              <a:cs typeface="Calibri"/>
            </a:endParaRPr>
          </a:p>
          <a:p>
            <a:pPr marL="240665" indent="-227965">
              <a:lnSpc>
                <a:spcPts val="3325"/>
              </a:lnSpc>
              <a:buFont typeface="Arial MT"/>
              <a:buChar char="•"/>
              <a:tabLst>
                <a:tab pos="240665" algn="l"/>
              </a:tabLst>
            </a:pPr>
            <a:r>
              <a:rPr sz="2800" b="1" dirty="0">
                <a:latin typeface="Calibri"/>
                <a:cs typeface="Calibri"/>
              </a:rPr>
              <a:t>Model</a:t>
            </a:r>
            <a:r>
              <a:rPr sz="2800" b="1" spc="-75" dirty="0">
                <a:latin typeface="Calibri"/>
                <a:cs typeface="Calibri"/>
              </a:rPr>
              <a:t> </a:t>
            </a:r>
            <a:r>
              <a:rPr sz="2800" b="1" spc="-10" dirty="0">
                <a:latin typeface="Calibri"/>
                <a:cs typeface="Calibri"/>
              </a:rPr>
              <a:t>Training:</a:t>
            </a:r>
            <a:endParaRPr sz="2800" dirty="0">
              <a:latin typeface="Calibri"/>
              <a:cs typeface="Calibri"/>
            </a:endParaRPr>
          </a:p>
          <a:p>
            <a:pPr marL="697230" lvl="1" indent="-227329">
              <a:lnSpc>
                <a:spcPts val="2845"/>
              </a:lnSpc>
              <a:buFont typeface="Arial MT"/>
              <a:buChar char="•"/>
              <a:tabLst>
                <a:tab pos="697230" algn="l"/>
              </a:tabLst>
            </a:pPr>
            <a:r>
              <a:rPr sz="2400" spc="-20" dirty="0">
                <a:latin typeface="Calibri"/>
                <a:cs typeface="Calibri"/>
              </a:rPr>
              <a:t>Fine-</a:t>
            </a:r>
            <a:r>
              <a:rPr sz="2400" dirty="0">
                <a:latin typeface="Calibri"/>
                <a:cs typeface="Calibri"/>
              </a:rPr>
              <a:t>tune</a:t>
            </a:r>
            <a:r>
              <a:rPr sz="2400" spc="-20" dirty="0">
                <a:latin typeface="Calibri"/>
                <a:cs typeface="Calibri"/>
              </a:rPr>
              <a:t> </a:t>
            </a:r>
            <a:r>
              <a:rPr sz="2400" dirty="0">
                <a:latin typeface="Calibri"/>
                <a:cs typeface="Calibri"/>
              </a:rPr>
              <a:t>the</a:t>
            </a:r>
            <a:r>
              <a:rPr sz="2400" spc="-10" dirty="0">
                <a:latin typeface="Calibri"/>
                <a:cs typeface="Calibri"/>
              </a:rPr>
              <a:t> </a:t>
            </a:r>
            <a:r>
              <a:rPr sz="2400" dirty="0">
                <a:latin typeface="Calibri"/>
                <a:cs typeface="Calibri"/>
              </a:rPr>
              <a:t>model</a:t>
            </a:r>
            <a:r>
              <a:rPr sz="2400" spc="-30" dirty="0">
                <a:latin typeface="Calibri"/>
                <a:cs typeface="Calibri"/>
              </a:rPr>
              <a:t> </a:t>
            </a:r>
            <a:r>
              <a:rPr sz="2400" dirty="0">
                <a:latin typeface="Calibri"/>
                <a:cs typeface="Calibri"/>
              </a:rPr>
              <a:t>using</a:t>
            </a:r>
            <a:r>
              <a:rPr sz="2400" spc="-25" dirty="0">
                <a:latin typeface="Calibri"/>
                <a:cs typeface="Calibri"/>
              </a:rPr>
              <a:t> </a:t>
            </a:r>
            <a:r>
              <a:rPr sz="2400" dirty="0">
                <a:latin typeface="Calibri"/>
                <a:cs typeface="Calibri"/>
              </a:rPr>
              <a:t>training</a:t>
            </a:r>
            <a:r>
              <a:rPr sz="2400" spc="-30" dirty="0">
                <a:latin typeface="Calibri"/>
                <a:cs typeface="Calibri"/>
              </a:rPr>
              <a:t> </a:t>
            </a:r>
            <a:r>
              <a:rPr sz="2400" spc="-10" dirty="0">
                <a:latin typeface="Calibri"/>
                <a:cs typeface="Calibri"/>
              </a:rPr>
              <a:t>data.</a:t>
            </a:r>
            <a:endParaRPr sz="2400" dirty="0">
              <a:latin typeface="Calibri"/>
              <a:cs typeface="Calibri"/>
            </a:endParaRPr>
          </a:p>
          <a:p>
            <a:pPr lvl="1">
              <a:lnSpc>
                <a:spcPct val="100000"/>
              </a:lnSpc>
              <a:spcBef>
                <a:spcPts val="190"/>
              </a:spcBef>
              <a:buFont typeface="Arial MT"/>
              <a:buChar char="•"/>
            </a:pPr>
            <a:endParaRPr sz="2400" dirty="0">
              <a:latin typeface="Calibri"/>
              <a:cs typeface="Calibri"/>
            </a:endParaRPr>
          </a:p>
          <a:p>
            <a:pPr marL="240665" indent="-227965">
              <a:lnSpc>
                <a:spcPts val="3329"/>
              </a:lnSpc>
              <a:buFont typeface="Arial MT"/>
              <a:buChar char="•"/>
              <a:tabLst>
                <a:tab pos="240665" algn="l"/>
              </a:tabLst>
            </a:pPr>
            <a:r>
              <a:rPr sz="2800" b="1" dirty="0">
                <a:latin typeface="Calibri"/>
                <a:cs typeface="Calibri"/>
              </a:rPr>
              <a:t>Prediction</a:t>
            </a:r>
            <a:r>
              <a:rPr sz="2800" b="1" spc="-90" dirty="0">
                <a:latin typeface="Calibri"/>
                <a:cs typeface="Calibri"/>
              </a:rPr>
              <a:t> </a:t>
            </a:r>
            <a:r>
              <a:rPr sz="2800" b="1" dirty="0">
                <a:latin typeface="Calibri"/>
                <a:cs typeface="Calibri"/>
              </a:rPr>
              <a:t>and</a:t>
            </a:r>
            <a:r>
              <a:rPr sz="2800" b="1" spc="-95" dirty="0">
                <a:latin typeface="Calibri"/>
                <a:cs typeface="Calibri"/>
              </a:rPr>
              <a:t> </a:t>
            </a:r>
            <a:r>
              <a:rPr sz="2800" b="1" dirty="0">
                <a:latin typeface="Calibri"/>
                <a:cs typeface="Calibri"/>
              </a:rPr>
              <a:t>Decision</a:t>
            </a:r>
            <a:r>
              <a:rPr sz="2800" b="1" spc="-95" dirty="0">
                <a:latin typeface="Calibri"/>
                <a:cs typeface="Calibri"/>
              </a:rPr>
              <a:t> </a:t>
            </a:r>
            <a:r>
              <a:rPr sz="2800" b="1" spc="-10" dirty="0">
                <a:latin typeface="Calibri"/>
                <a:cs typeface="Calibri"/>
              </a:rPr>
              <a:t>Making:</a:t>
            </a:r>
            <a:endParaRPr sz="2800" dirty="0">
              <a:latin typeface="Calibri"/>
              <a:cs typeface="Calibri"/>
            </a:endParaRPr>
          </a:p>
          <a:p>
            <a:pPr marL="697230" lvl="1" indent="-227329">
              <a:lnSpc>
                <a:spcPts val="2850"/>
              </a:lnSpc>
              <a:buFont typeface="Arial MT"/>
              <a:buChar char="•"/>
              <a:tabLst>
                <a:tab pos="697230" algn="l"/>
              </a:tabLst>
            </a:pPr>
            <a:r>
              <a:rPr sz="2400" dirty="0">
                <a:latin typeface="Calibri"/>
                <a:cs typeface="Calibri"/>
              </a:rPr>
              <a:t>Make</a:t>
            </a:r>
            <a:r>
              <a:rPr sz="2400" spc="-60" dirty="0">
                <a:latin typeface="Calibri"/>
                <a:cs typeface="Calibri"/>
              </a:rPr>
              <a:t> </a:t>
            </a:r>
            <a:r>
              <a:rPr sz="2400" spc="-10" dirty="0">
                <a:latin typeface="Calibri"/>
                <a:cs typeface="Calibri"/>
              </a:rPr>
              <a:t>predictions</a:t>
            </a:r>
            <a:r>
              <a:rPr sz="2400" spc="-70" dirty="0">
                <a:latin typeface="Calibri"/>
                <a:cs typeface="Calibri"/>
              </a:rPr>
              <a:t> </a:t>
            </a:r>
            <a:r>
              <a:rPr sz="2400" dirty="0">
                <a:latin typeface="Calibri"/>
                <a:cs typeface="Calibri"/>
              </a:rPr>
              <a:t>based</a:t>
            </a:r>
            <a:r>
              <a:rPr sz="2400" spc="-50" dirty="0">
                <a:latin typeface="Calibri"/>
                <a:cs typeface="Calibri"/>
              </a:rPr>
              <a:t> </a:t>
            </a:r>
            <a:r>
              <a:rPr sz="2400" dirty="0">
                <a:latin typeface="Calibri"/>
                <a:cs typeface="Calibri"/>
              </a:rPr>
              <a:t>on</a:t>
            </a:r>
            <a:r>
              <a:rPr sz="2400" spc="-45" dirty="0">
                <a:latin typeface="Calibri"/>
                <a:cs typeface="Calibri"/>
              </a:rPr>
              <a:t> </a:t>
            </a:r>
            <a:r>
              <a:rPr sz="2400" spc="-50" dirty="0">
                <a:latin typeface="Calibri"/>
                <a:cs typeface="Calibri"/>
              </a:rPr>
              <a:t>new,</a:t>
            </a:r>
            <a:r>
              <a:rPr sz="2400" spc="-65" dirty="0">
                <a:latin typeface="Calibri"/>
                <a:cs typeface="Calibri"/>
              </a:rPr>
              <a:t> </a:t>
            </a:r>
            <a:r>
              <a:rPr sz="2400" dirty="0">
                <a:latin typeface="Calibri"/>
                <a:cs typeface="Calibri"/>
              </a:rPr>
              <a:t>unseen</a:t>
            </a:r>
            <a:r>
              <a:rPr sz="2400" spc="-40" dirty="0">
                <a:latin typeface="Calibri"/>
                <a:cs typeface="Calibri"/>
              </a:rPr>
              <a:t> </a:t>
            </a:r>
            <a:r>
              <a:rPr sz="2400" spc="-10" dirty="0">
                <a:latin typeface="Calibri"/>
                <a:cs typeface="Calibri"/>
              </a:rPr>
              <a:t>data.</a:t>
            </a:r>
            <a:endParaRPr sz="2400" dirty="0">
              <a:latin typeface="Calibri"/>
              <a:cs typeface="Calibri"/>
            </a:endParaRPr>
          </a:p>
          <a:p>
            <a:pPr lvl="1">
              <a:lnSpc>
                <a:spcPct val="100000"/>
              </a:lnSpc>
              <a:spcBef>
                <a:spcPts val="185"/>
              </a:spcBef>
              <a:buFont typeface="Arial MT"/>
              <a:buChar char="•"/>
            </a:pPr>
            <a:endParaRPr sz="2400" dirty="0">
              <a:latin typeface="Calibri"/>
              <a:cs typeface="Calibri"/>
            </a:endParaRPr>
          </a:p>
          <a:p>
            <a:pPr marL="240029" indent="-227329">
              <a:lnSpc>
                <a:spcPts val="3335"/>
              </a:lnSpc>
              <a:buFont typeface="Arial MT"/>
              <a:buChar char="•"/>
              <a:tabLst>
                <a:tab pos="240029" algn="l"/>
              </a:tabLst>
            </a:pPr>
            <a:r>
              <a:rPr sz="2800" b="1" spc="-10" dirty="0">
                <a:latin typeface="Calibri"/>
                <a:cs typeface="Calibri"/>
              </a:rPr>
              <a:t>Improvement:</a:t>
            </a:r>
            <a:endParaRPr sz="2800" dirty="0">
              <a:latin typeface="Calibri"/>
              <a:cs typeface="Calibri"/>
            </a:endParaRPr>
          </a:p>
          <a:p>
            <a:pPr marL="697230" lvl="1" indent="-227329">
              <a:lnSpc>
                <a:spcPts val="2855"/>
              </a:lnSpc>
              <a:buFont typeface="Arial MT"/>
              <a:buChar char="•"/>
              <a:tabLst>
                <a:tab pos="697230" algn="l"/>
              </a:tabLst>
            </a:pPr>
            <a:r>
              <a:rPr sz="2400" dirty="0">
                <a:latin typeface="Calibri"/>
                <a:cs typeface="Calibri"/>
              </a:rPr>
              <a:t>Continuous</a:t>
            </a:r>
            <a:r>
              <a:rPr sz="2400" spc="-70" dirty="0">
                <a:latin typeface="Calibri"/>
                <a:cs typeface="Calibri"/>
              </a:rPr>
              <a:t> </a:t>
            </a:r>
            <a:r>
              <a:rPr sz="2400" dirty="0">
                <a:latin typeface="Calibri"/>
                <a:cs typeface="Calibri"/>
              </a:rPr>
              <a:t>learning</a:t>
            </a:r>
            <a:r>
              <a:rPr sz="2400" spc="-80" dirty="0">
                <a:latin typeface="Calibri"/>
                <a:cs typeface="Calibri"/>
              </a:rPr>
              <a:t> </a:t>
            </a:r>
            <a:r>
              <a:rPr sz="2400" dirty="0">
                <a:latin typeface="Calibri"/>
                <a:cs typeface="Calibri"/>
              </a:rPr>
              <a:t>from</a:t>
            </a:r>
            <a:r>
              <a:rPr sz="2400" spc="-60" dirty="0">
                <a:latin typeface="Calibri"/>
                <a:cs typeface="Calibri"/>
              </a:rPr>
              <a:t> </a:t>
            </a:r>
            <a:r>
              <a:rPr sz="2400" dirty="0">
                <a:latin typeface="Calibri"/>
                <a:cs typeface="Calibri"/>
              </a:rPr>
              <a:t>new</a:t>
            </a:r>
            <a:r>
              <a:rPr sz="2400" spc="-70" dirty="0">
                <a:latin typeface="Calibri"/>
                <a:cs typeface="Calibri"/>
              </a:rPr>
              <a:t> </a:t>
            </a:r>
            <a:r>
              <a:rPr sz="2400" dirty="0">
                <a:latin typeface="Calibri"/>
                <a:cs typeface="Calibri"/>
              </a:rPr>
              <a:t>data</a:t>
            </a:r>
            <a:r>
              <a:rPr sz="2400" spc="-75" dirty="0">
                <a:latin typeface="Calibri"/>
                <a:cs typeface="Calibri"/>
              </a:rPr>
              <a:t> </a:t>
            </a:r>
            <a:r>
              <a:rPr sz="2400" dirty="0">
                <a:latin typeface="Calibri"/>
                <a:cs typeface="Calibri"/>
              </a:rPr>
              <a:t>enhances</a:t>
            </a:r>
            <a:r>
              <a:rPr sz="2400" spc="-65" dirty="0">
                <a:latin typeface="Calibri"/>
                <a:cs typeface="Calibri"/>
              </a:rPr>
              <a:t> </a:t>
            </a:r>
            <a:r>
              <a:rPr sz="2400" spc="-10" dirty="0">
                <a:latin typeface="Calibri"/>
                <a:cs typeface="Calibri"/>
              </a:rPr>
              <a:t>accuracy.</a:t>
            </a:r>
            <a:endParaRPr sz="24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44818" y="1732675"/>
            <a:ext cx="9289504" cy="3031225"/>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5</a:t>
            </a:fld>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645C46-AB08-E539-38B2-DC3B63F21483}"/>
              </a:ext>
            </a:extLst>
          </p:cNvPr>
          <p:cNvSpPr>
            <a:spLocks noGrp="1"/>
          </p:cNvSpPr>
          <p:nvPr>
            <p:ph type="sldNum" sz="quarter" idx="7"/>
          </p:nvPr>
        </p:nvSpPr>
        <p:spPr/>
        <p:txBody>
          <a:bodyPr/>
          <a:lstStyle/>
          <a:p>
            <a:pPr marL="38100">
              <a:lnSpc>
                <a:spcPts val="1240"/>
              </a:lnSpc>
            </a:pPr>
            <a:fld id="{81D60167-4931-47E6-BA6A-407CBD079E47}" type="slidenum">
              <a:rPr lang="en-IN" spc="-25" smtClean="0"/>
              <a:t>6</a:t>
            </a:fld>
            <a:endParaRPr lang="en-IN" spc="-25" dirty="0"/>
          </a:p>
        </p:txBody>
      </p:sp>
      <p:sp>
        <p:nvSpPr>
          <p:cNvPr id="3" name="Rectangle 1">
            <a:extLst>
              <a:ext uri="{FF2B5EF4-FFF2-40B4-BE49-F238E27FC236}">
                <a16:creationId xmlns:a16="http://schemas.microsoft.com/office/drawing/2014/main" id="{21DBA3BF-D610-5D14-FC1F-FDE014A7206B}"/>
              </a:ext>
            </a:extLst>
          </p:cNvPr>
          <p:cNvSpPr>
            <a:spLocks noChangeArrowheads="1"/>
          </p:cNvSpPr>
          <p:nvPr/>
        </p:nvSpPr>
        <p:spPr bwMode="auto">
          <a:xfrm>
            <a:off x="76200" y="191620"/>
            <a:ext cx="11430000" cy="64747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5220" rIns="0" bIns="19044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1D35"/>
                </a:solidFill>
                <a:effectLst/>
                <a:highlight>
                  <a:srgbClr val="FFFF00"/>
                </a:highlight>
                <a:latin typeface="Google Sans"/>
              </a:rPr>
              <a:t>Machine learning involves a specialized vocabulary. Key terms include: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01D35"/>
                </a:solidFill>
                <a:effectLst/>
                <a:latin typeface="Google Sans"/>
              </a:rPr>
              <a:t>Algorithm:</a:t>
            </a:r>
            <a:r>
              <a:rPr kumimoji="0" lang="en-US" altLang="en-US" sz="16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1D35"/>
                </a:solidFill>
                <a:effectLst/>
                <a:latin typeface="Google Sans"/>
              </a:rPr>
              <a:t>A set of rules or instructions used by a machine learning model to process data and make predictions or decisions. Examples include Linear Regression, Decision Trees, and Neural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01D35"/>
                </a:solidFill>
                <a:effectLst/>
                <a:latin typeface="Google Sans"/>
              </a:rPr>
              <a:t>Model:</a:t>
            </a:r>
            <a:r>
              <a:rPr kumimoji="0" lang="en-US" altLang="en-US" sz="16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1D35"/>
                </a:solidFill>
                <a:effectLst/>
                <a:latin typeface="Google Sans"/>
              </a:rPr>
              <a:t>The output of a machine learning algorithm after training on data. It encapsulates the learned patterns and relationships, enabling it to make predictions on new, unseen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01D35"/>
                </a:solidFill>
                <a:effectLst/>
                <a:latin typeface="Google Sans"/>
              </a:rPr>
              <a:t>Features:</a:t>
            </a:r>
            <a:r>
              <a:rPr kumimoji="0" lang="en-US" altLang="en-US" sz="16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1D35"/>
                </a:solidFill>
                <a:effectLst/>
                <a:latin typeface="Google Sans"/>
              </a:rPr>
              <a:t>The input variables or characteristics of the data used to train a model and make predictions. These can be numerical or categorical.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01D35"/>
                </a:solidFill>
                <a:effectLst/>
                <a:latin typeface="Google Sans"/>
              </a:rPr>
              <a:t>Labels:</a:t>
            </a:r>
            <a:r>
              <a:rPr kumimoji="0" lang="en-US" altLang="en-US" sz="16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1D35"/>
                </a:solidFill>
                <a:effectLst/>
                <a:latin typeface="Google Sans"/>
              </a:rPr>
              <a:t>In supervised learning, the target variable or the outcome that the model is trained to predict. Each set of features is associated with a corresponding label in the training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01D35"/>
                </a:solidFill>
                <a:effectLst/>
                <a:latin typeface="Google Sans"/>
              </a:rPr>
              <a:t>Training Data:</a:t>
            </a:r>
            <a:r>
              <a:rPr kumimoji="0" lang="en-US" altLang="en-US" sz="16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1D35"/>
                </a:solidFill>
                <a:effectLst/>
                <a:latin typeface="Google Sans"/>
              </a:rPr>
              <a:t>The dataset used to teach the machine learning model. The model learns patterns and relationships from this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01D35"/>
                </a:solidFill>
                <a:effectLst/>
                <a:latin typeface="Google Sans"/>
              </a:rPr>
              <a:t>Test Data:</a:t>
            </a:r>
            <a:r>
              <a:rPr kumimoji="0" lang="en-US" altLang="en-US" sz="16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1D35"/>
                </a:solidFill>
                <a:effectLst/>
                <a:latin typeface="Google Sans"/>
              </a:rPr>
              <a:t>A separate dataset used to evaluate the performance of a trained model on unseen data, providing an indication of its generalization 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01D35"/>
                </a:solidFill>
                <a:effectLst/>
                <a:latin typeface="Google Sans"/>
              </a:rPr>
              <a:t>Validation Set:</a:t>
            </a:r>
            <a:r>
              <a:rPr kumimoji="0" lang="en-US" altLang="en-US" sz="16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1D35"/>
                </a:solidFill>
                <a:effectLst/>
                <a:latin typeface="Google Sans"/>
              </a:rPr>
              <a:t>A subset of data used during the training process to tune hyperparameters and prevent overfitting.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01D35"/>
                </a:solidFill>
                <a:effectLst/>
                <a:latin typeface="Google Sans"/>
              </a:rPr>
              <a:t>Hyperparameters:</a:t>
            </a:r>
            <a:r>
              <a:rPr kumimoji="0" lang="en-US" altLang="en-US" sz="16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1D35"/>
                </a:solidFill>
                <a:effectLst/>
                <a:latin typeface="Google Sans"/>
              </a:rPr>
              <a:t>Configuration settings of a machine learning model that are set before training begins and are not learned from the data. Examples include learning rate, batch size, and the number of layers in a neural network.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rgbClr val="001D35"/>
                </a:solidFill>
                <a:effectLst/>
                <a:latin typeface="Google Sans"/>
              </a:rPr>
              <a:t>Overfitting:</a:t>
            </a:r>
            <a:r>
              <a:rPr kumimoji="0" lang="en-US" altLang="en-US" sz="16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1D35"/>
                </a:solidFill>
                <a:effectLst/>
                <a:latin typeface="Google Sans"/>
              </a:rPr>
              <a:t>A phenomenon where a model learns the training data too well, including noise and outliers, leading to poor performance on new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34864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7E5DB2-021F-1EDE-BAA5-EBEEB21D21EE}"/>
              </a:ext>
            </a:extLst>
          </p:cNvPr>
          <p:cNvSpPr>
            <a:spLocks noGrp="1"/>
          </p:cNvSpPr>
          <p:nvPr>
            <p:ph type="sldNum" sz="quarter" idx="7"/>
          </p:nvPr>
        </p:nvSpPr>
        <p:spPr/>
        <p:txBody>
          <a:bodyPr/>
          <a:lstStyle/>
          <a:p>
            <a:pPr marL="38100">
              <a:lnSpc>
                <a:spcPts val="1240"/>
              </a:lnSpc>
            </a:pPr>
            <a:fld id="{81D60167-4931-47E6-BA6A-407CBD079E47}" type="slidenum">
              <a:rPr lang="en-IN" spc="-25" smtClean="0"/>
              <a:t>7</a:t>
            </a:fld>
            <a:endParaRPr lang="en-IN" spc="-25" dirty="0"/>
          </a:p>
        </p:txBody>
      </p:sp>
      <p:sp>
        <p:nvSpPr>
          <p:cNvPr id="4" name="TextBox 3">
            <a:extLst>
              <a:ext uri="{FF2B5EF4-FFF2-40B4-BE49-F238E27FC236}">
                <a16:creationId xmlns:a16="http://schemas.microsoft.com/office/drawing/2014/main" id="{571EB057-FB45-5007-7634-32F4B44A9F10}"/>
              </a:ext>
            </a:extLst>
          </p:cNvPr>
          <p:cNvSpPr txBox="1"/>
          <p:nvPr/>
        </p:nvSpPr>
        <p:spPr>
          <a:xfrm>
            <a:off x="342900" y="762000"/>
            <a:ext cx="11506200" cy="369331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Underfitting:</a:t>
            </a:r>
            <a:r>
              <a:rPr kumimoji="0" lang="en-US" altLang="en-US" sz="18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Occurs when a model is too simple to capture the underlying patterns in the data, resulting in poor performance on both training and new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Loss Function:</a:t>
            </a:r>
            <a:r>
              <a:rPr kumimoji="0" lang="en-US" altLang="en-US" sz="18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A function that quantifies the error or discrepancy between the model's predictions and the actual labels. The goal of training is to minimize this loss.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Optimization Algorithm:</a:t>
            </a:r>
            <a:r>
              <a:rPr kumimoji="0" lang="en-US" altLang="en-US" sz="18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A method used to adjust the model's parameters to minimize the loss function during training. Gradient Descent is a common example.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Epoch:</a:t>
            </a:r>
            <a:r>
              <a:rPr kumimoji="0" lang="en-US" altLang="en-US" sz="18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One complete pass through the entire training dataset during the training process.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Batch Size:</a:t>
            </a:r>
            <a:r>
              <a:rPr kumimoji="0" lang="en-US" altLang="en-US" sz="18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The number of training samples processed before the model's parameters are updated by the optimization algorithm.</a:t>
            </a:r>
          </a:p>
        </p:txBody>
      </p:sp>
    </p:spTree>
    <p:extLst>
      <p:ext uri="{BB962C8B-B14F-4D97-AF65-F5344CB8AC3E}">
        <p14:creationId xmlns:p14="http://schemas.microsoft.com/office/powerpoint/2010/main" val="36385983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A2E0A5-363E-E651-7DA8-A9ACAA709B34}"/>
              </a:ext>
            </a:extLst>
          </p:cNvPr>
          <p:cNvSpPr>
            <a:spLocks noGrp="1"/>
          </p:cNvSpPr>
          <p:nvPr>
            <p:ph type="sldNum" sz="quarter" idx="7"/>
          </p:nvPr>
        </p:nvSpPr>
        <p:spPr/>
        <p:txBody>
          <a:bodyPr/>
          <a:lstStyle/>
          <a:p>
            <a:pPr marL="38100">
              <a:lnSpc>
                <a:spcPts val="1240"/>
              </a:lnSpc>
            </a:pPr>
            <a:fld id="{81D60167-4931-47E6-BA6A-407CBD079E47}" type="slidenum">
              <a:rPr lang="en-IN" spc="-25" smtClean="0"/>
              <a:t>8</a:t>
            </a:fld>
            <a:endParaRPr lang="en-IN" spc="-25" dirty="0"/>
          </a:p>
        </p:txBody>
      </p:sp>
      <p:sp>
        <p:nvSpPr>
          <p:cNvPr id="4" name="TextBox 3">
            <a:extLst>
              <a:ext uri="{FF2B5EF4-FFF2-40B4-BE49-F238E27FC236}">
                <a16:creationId xmlns:a16="http://schemas.microsoft.com/office/drawing/2014/main" id="{22CC031A-1861-0DBC-EAC2-E9F7A3782F05}"/>
              </a:ext>
            </a:extLst>
          </p:cNvPr>
          <p:cNvSpPr txBox="1"/>
          <p:nvPr/>
        </p:nvSpPr>
        <p:spPr>
          <a:xfrm>
            <a:off x="838200" y="1305342"/>
            <a:ext cx="10668000" cy="313932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Supervised Learning:</a:t>
            </a:r>
            <a:r>
              <a:rPr kumimoji="0" lang="en-US" altLang="en-US" sz="18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A type of machine learning where the model learns from labeled data to make predictions or classifications.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Unsupervised Learning:</a:t>
            </a:r>
            <a:r>
              <a:rPr kumimoji="0" lang="en-US" altLang="en-US" sz="18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A type of machine learning where the model learns patterns and structures from unlabeled data, often used for clustering or dimensionality reduction.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Reinforcement Learning:</a:t>
            </a:r>
            <a:r>
              <a:rPr kumimoji="0" lang="en-US" altLang="en-US" sz="18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A type of machine learning where an agent learns to make decisions by interacting with an environment and receiving rewards or penalties.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rgbClr val="001D35"/>
                </a:solidFill>
                <a:effectLst/>
                <a:latin typeface="Google Sans"/>
              </a:rPr>
              <a:t>Deep Learning:</a:t>
            </a:r>
            <a:r>
              <a:rPr kumimoji="0" lang="en-US" altLang="en-US" sz="1800" b="0" i="0" u="none" strike="noStrike" cap="none" normalizeH="0" baseline="0" dirty="0">
                <a:ln>
                  <a:noFill/>
                </a:ln>
                <a:solidFill>
                  <a:srgbClr val="001D35"/>
                </a:solidFill>
                <a:effectLst/>
                <a:latin typeface="Google San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D35"/>
                </a:solidFill>
                <a:effectLst/>
                <a:latin typeface="Google Sans"/>
              </a:rPr>
              <a:t>A subfield of machine learning that utilizes artificial neural networks with multiple layers (deep neural networks) to learn complex representations from data.</a:t>
            </a:r>
          </a:p>
        </p:txBody>
      </p:sp>
    </p:spTree>
    <p:extLst>
      <p:ext uri="{BB962C8B-B14F-4D97-AF65-F5344CB8AC3E}">
        <p14:creationId xmlns:p14="http://schemas.microsoft.com/office/powerpoint/2010/main" val="3495868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04D96C-9502-AE63-6BF3-2F98593AA1DF}"/>
              </a:ext>
            </a:extLst>
          </p:cNvPr>
          <p:cNvSpPr>
            <a:spLocks noGrp="1"/>
          </p:cNvSpPr>
          <p:nvPr>
            <p:ph type="title"/>
          </p:nvPr>
        </p:nvSpPr>
        <p:spPr>
          <a:xfrm>
            <a:off x="916939" y="99441"/>
            <a:ext cx="9994900" cy="677108"/>
          </a:xfrm>
        </p:spPr>
        <p:txBody>
          <a:bodyPr/>
          <a:lstStyle/>
          <a:p>
            <a:r>
              <a:rPr lang="en-US" b="1" dirty="0"/>
              <a:t>MACHINE LEARNING TERMINOLOGY</a:t>
            </a:r>
            <a:endParaRPr lang="en-IN" b="1" dirty="0"/>
          </a:p>
        </p:txBody>
      </p:sp>
      <p:sp>
        <p:nvSpPr>
          <p:cNvPr id="4" name="Text Placeholder 3">
            <a:extLst>
              <a:ext uri="{FF2B5EF4-FFF2-40B4-BE49-F238E27FC236}">
                <a16:creationId xmlns:a16="http://schemas.microsoft.com/office/drawing/2014/main" id="{4FDEA161-69C1-B7AC-A674-5D487C44F082}"/>
              </a:ext>
            </a:extLst>
          </p:cNvPr>
          <p:cNvSpPr>
            <a:spLocks noGrp="1"/>
          </p:cNvSpPr>
          <p:nvPr>
            <p:ph type="body" idx="1"/>
          </p:nvPr>
        </p:nvSpPr>
        <p:spPr>
          <a:xfrm>
            <a:off x="915035" y="914400"/>
            <a:ext cx="10361929" cy="6032421"/>
          </a:xfrm>
        </p:spPr>
        <p:txBody>
          <a:bodyPr/>
          <a:lstStyle/>
          <a:p>
            <a:r>
              <a:rPr lang="en-IN" b="1" dirty="0">
                <a:solidFill>
                  <a:srgbClr val="FF0000"/>
                </a:solidFill>
              </a:rPr>
              <a:t>Machine Learning Relationships</a:t>
            </a:r>
            <a:endParaRPr lang="en-US" b="1" dirty="0">
              <a:solidFill>
                <a:srgbClr val="FF0000"/>
              </a:solidFill>
            </a:endParaRPr>
          </a:p>
          <a:p>
            <a:pPr marL="457200" indent="-457200">
              <a:buFont typeface="Arial" panose="020B0604020202020204" pitchFamily="34" charset="0"/>
              <a:buChar char="•"/>
            </a:pPr>
            <a:r>
              <a:rPr lang="en-US" dirty="0"/>
              <a:t>Machine learning systems uses </a:t>
            </a:r>
            <a:r>
              <a:rPr lang="en-US" b="1" dirty="0"/>
              <a:t>Relationships</a:t>
            </a:r>
            <a:r>
              <a:rPr lang="en-US" dirty="0"/>
              <a:t> between </a:t>
            </a:r>
            <a:r>
              <a:rPr lang="en-US" b="1" dirty="0"/>
              <a:t>Inputs</a:t>
            </a:r>
            <a:r>
              <a:rPr lang="en-US" dirty="0"/>
              <a:t> to produce </a:t>
            </a:r>
            <a:r>
              <a:rPr lang="en-US" b="1" dirty="0"/>
              <a:t>Predictions</a:t>
            </a:r>
            <a:r>
              <a:rPr lang="en-US" dirty="0"/>
              <a:t>.</a:t>
            </a:r>
          </a:p>
          <a:p>
            <a:pPr marL="457200" indent="-457200">
              <a:buFont typeface="Arial" panose="020B0604020202020204" pitchFamily="34" charset="0"/>
              <a:buChar char="•"/>
            </a:pPr>
            <a:r>
              <a:rPr lang="en-US" dirty="0"/>
              <a:t>In algebra, a relationship is often written as </a:t>
            </a:r>
            <a:r>
              <a:rPr lang="en-US" b="1" dirty="0"/>
              <a:t>y = ax + b</a:t>
            </a:r>
            <a:r>
              <a:rPr lang="en-US" dirty="0"/>
              <a:t>:</a:t>
            </a:r>
          </a:p>
          <a:p>
            <a:r>
              <a:rPr lang="en-US" b="1" dirty="0"/>
              <a:t>	y</a:t>
            </a:r>
            <a:r>
              <a:rPr lang="en-US" dirty="0"/>
              <a:t> is the label we want to predict</a:t>
            </a:r>
          </a:p>
          <a:p>
            <a:r>
              <a:rPr lang="en-US" b="1" dirty="0"/>
              <a:t>	a</a:t>
            </a:r>
            <a:r>
              <a:rPr lang="en-US" dirty="0"/>
              <a:t> is the slope of the line</a:t>
            </a:r>
          </a:p>
          <a:p>
            <a:r>
              <a:rPr lang="en-US" b="1" dirty="0"/>
              <a:t>	x</a:t>
            </a:r>
            <a:r>
              <a:rPr lang="en-US" dirty="0"/>
              <a:t> are the input values</a:t>
            </a:r>
          </a:p>
          <a:p>
            <a:r>
              <a:rPr lang="en-US" b="1" dirty="0"/>
              <a:t>	b</a:t>
            </a:r>
            <a:r>
              <a:rPr lang="en-US" dirty="0"/>
              <a:t> is the intercept</a:t>
            </a:r>
          </a:p>
          <a:p>
            <a:pPr marL="457200" indent="-457200">
              <a:buFont typeface="Arial" panose="020B0604020202020204" pitchFamily="34" charset="0"/>
              <a:buChar char="•"/>
            </a:pPr>
            <a:r>
              <a:rPr lang="en-US" dirty="0"/>
              <a:t>With ML, a relationship is written as </a:t>
            </a:r>
            <a:r>
              <a:rPr lang="en-US" b="1" dirty="0"/>
              <a:t>y = b + </a:t>
            </a:r>
            <a:r>
              <a:rPr lang="en-US" b="1" dirty="0" err="1"/>
              <a:t>wx</a:t>
            </a:r>
            <a:r>
              <a:rPr lang="en-US" dirty="0"/>
              <a:t>:</a:t>
            </a:r>
          </a:p>
          <a:p>
            <a:r>
              <a:rPr lang="en-US" b="1" dirty="0"/>
              <a:t>	y</a:t>
            </a:r>
            <a:r>
              <a:rPr lang="en-US" dirty="0"/>
              <a:t> is the label we want to predict</a:t>
            </a:r>
          </a:p>
          <a:p>
            <a:r>
              <a:rPr lang="en-US" b="1" dirty="0"/>
              <a:t>	w</a:t>
            </a:r>
            <a:r>
              <a:rPr lang="en-US" dirty="0"/>
              <a:t> is the weight (the slope)</a:t>
            </a:r>
          </a:p>
          <a:p>
            <a:r>
              <a:rPr lang="en-US" b="1" dirty="0"/>
              <a:t>	x</a:t>
            </a:r>
            <a:r>
              <a:rPr lang="en-US" dirty="0"/>
              <a:t> are the features (input values)</a:t>
            </a:r>
          </a:p>
          <a:p>
            <a:r>
              <a:rPr lang="en-US" b="1" dirty="0"/>
              <a:t>	b</a:t>
            </a:r>
            <a:r>
              <a:rPr lang="en-US" dirty="0"/>
              <a:t> is the intercept</a:t>
            </a:r>
          </a:p>
          <a:p>
            <a:endParaRPr lang="en-IN" dirty="0"/>
          </a:p>
        </p:txBody>
      </p:sp>
      <p:sp>
        <p:nvSpPr>
          <p:cNvPr id="2" name="Slide Number Placeholder 1">
            <a:extLst>
              <a:ext uri="{FF2B5EF4-FFF2-40B4-BE49-F238E27FC236}">
                <a16:creationId xmlns:a16="http://schemas.microsoft.com/office/drawing/2014/main" id="{2E343A86-376C-BFA4-ABEF-F08BB90C4457}"/>
              </a:ext>
            </a:extLst>
          </p:cNvPr>
          <p:cNvSpPr>
            <a:spLocks noGrp="1"/>
          </p:cNvSpPr>
          <p:nvPr>
            <p:ph type="sldNum" sz="quarter" idx="7"/>
          </p:nvPr>
        </p:nvSpPr>
        <p:spPr/>
        <p:txBody>
          <a:bodyPr/>
          <a:lstStyle/>
          <a:p>
            <a:pPr marL="38100">
              <a:lnSpc>
                <a:spcPts val="1240"/>
              </a:lnSpc>
            </a:pPr>
            <a:fld id="{81D60167-4931-47E6-BA6A-407CBD079E47}" type="slidenum">
              <a:rPr lang="en-IN" spc="-25" smtClean="0"/>
              <a:t>9</a:t>
            </a:fld>
            <a:endParaRPr lang="en-IN" spc="-25" dirty="0"/>
          </a:p>
        </p:txBody>
      </p:sp>
    </p:spTree>
    <p:extLst>
      <p:ext uri="{BB962C8B-B14F-4D97-AF65-F5344CB8AC3E}">
        <p14:creationId xmlns:p14="http://schemas.microsoft.com/office/powerpoint/2010/main" val="2189060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08D9423-CC3B-958F-315C-84FAF100C1FC}"/>
              </a:ext>
            </a:extLst>
          </p:cNvPr>
          <p:cNvSpPr>
            <a:spLocks noGrp="1"/>
          </p:cNvSpPr>
          <p:nvPr>
            <p:ph type="body" idx="1"/>
          </p:nvPr>
        </p:nvSpPr>
        <p:spPr>
          <a:xfrm>
            <a:off x="915035" y="0"/>
            <a:ext cx="10361929" cy="6858000"/>
          </a:xfrm>
        </p:spPr>
        <p:txBody>
          <a:bodyPr/>
          <a:lstStyle/>
          <a:p>
            <a:r>
              <a:rPr lang="en-IN" b="1" dirty="0">
                <a:solidFill>
                  <a:srgbClr val="FF0000"/>
                </a:solidFill>
              </a:rPr>
              <a:t>Machine Learning Labels</a:t>
            </a:r>
            <a:endParaRPr lang="en-IN" b="1" dirty="0"/>
          </a:p>
          <a:p>
            <a:pPr marL="457200" indent="-457200">
              <a:buFont typeface="Arial" panose="020B0604020202020204" pitchFamily="34" charset="0"/>
              <a:buChar char="•"/>
            </a:pPr>
            <a:r>
              <a:rPr lang="en-US" dirty="0"/>
              <a:t>In Machine Learning terminology, the </a:t>
            </a:r>
            <a:r>
              <a:rPr lang="en-US" b="1" dirty="0"/>
              <a:t>label</a:t>
            </a:r>
            <a:r>
              <a:rPr lang="en-US" dirty="0"/>
              <a:t> is the thing we want to </a:t>
            </a:r>
            <a:r>
              <a:rPr lang="en-US" b="1" dirty="0"/>
              <a:t>predict</a:t>
            </a:r>
            <a:r>
              <a:rPr lang="en-US" dirty="0"/>
              <a:t>.</a:t>
            </a:r>
          </a:p>
          <a:p>
            <a:pPr marL="457200" indent="-457200">
              <a:buFont typeface="Arial" panose="020B0604020202020204" pitchFamily="34" charset="0"/>
              <a:buChar char="•"/>
            </a:pPr>
            <a:r>
              <a:rPr lang="en-US" dirty="0"/>
              <a:t>It is like the </a:t>
            </a:r>
            <a:r>
              <a:rPr lang="en-US" b="1" dirty="0"/>
              <a:t>y</a:t>
            </a:r>
            <a:r>
              <a:rPr lang="en-US" dirty="0"/>
              <a:t> in a linear graph:</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r>
              <a:rPr lang="en-IN" b="1" dirty="0">
                <a:solidFill>
                  <a:srgbClr val="FF0000"/>
                </a:solidFill>
              </a:rPr>
              <a:t>Machine Learning Features</a:t>
            </a:r>
            <a:endParaRPr lang="en-US" dirty="0"/>
          </a:p>
          <a:p>
            <a:r>
              <a:rPr lang="en-US" dirty="0"/>
              <a:t>In Machine Learning terminology, the </a:t>
            </a:r>
            <a:r>
              <a:rPr lang="en-US" b="1" dirty="0"/>
              <a:t>features</a:t>
            </a:r>
            <a:r>
              <a:rPr lang="en-US" dirty="0"/>
              <a:t> are the </a:t>
            </a:r>
            <a:r>
              <a:rPr lang="en-US" b="1" dirty="0"/>
              <a:t>input</a:t>
            </a:r>
            <a:r>
              <a:rPr lang="en-US" dirty="0"/>
              <a:t>.</a:t>
            </a:r>
          </a:p>
          <a:p>
            <a:r>
              <a:rPr lang="en-US" dirty="0"/>
              <a:t>They are like the </a:t>
            </a:r>
            <a:r>
              <a:rPr lang="en-US" b="1" dirty="0"/>
              <a:t>x</a:t>
            </a:r>
            <a:r>
              <a:rPr lang="en-US" dirty="0"/>
              <a:t> values in a linear graph:</a:t>
            </a:r>
          </a:p>
          <a:p>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r>
              <a:rPr lang="en-US" dirty="0"/>
              <a:t>Sometimes there can be many features (input values) with different weights:</a:t>
            </a:r>
          </a:p>
          <a:p>
            <a:r>
              <a:rPr lang="en-US" dirty="0"/>
              <a:t>y = b + w</a:t>
            </a:r>
            <a:r>
              <a:rPr lang="en-US" baseline="-25000" dirty="0"/>
              <a:t>1</a:t>
            </a:r>
            <a:r>
              <a:rPr lang="en-US" b="1" dirty="0"/>
              <a:t>x</a:t>
            </a:r>
            <a:r>
              <a:rPr lang="en-US" b="1" baseline="-25000" dirty="0"/>
              <a:t>1</a:t>
            </a:r>
            <a:r>
              <a:rPr lang="en-US" dirty="0"/>
              <a:t> + w</a:t>
            </a:r>
            <a:r>
              <a:rPr lang="en-US" baseline="-25000" dirty="0"/>
              <a:t>2</a:t>
            </a:r>
            <a:r>
              <a:rPr lang="en-US" b="1" dirty="0"/>
              <a:t>x</a:t>
            </a:r>
            <a:r>
              <a:rPr lang="en-US" b="1" baseline="-25000" dirty="0"/>
              <a:t>2</a:t>
            </a:r>
            <a:r>
              <a:rPr lang="en-US" dirty="0"/>
              <a:t> + w</a:t>
            </a:r>
            <a:r>
              <a:rPr lang="en-US" baseline="-25000" dirty="0"/>
              <a:t>3</a:t>
            </a:r>
            <a:r>
              <a:rPr lang="en-US" b="1" dirty="0"/>
              <a:t>x</a:t>
            </a:r>
            <a:r>
              <a:rPr lang="en-US" b="1" baseline="-25000" dirty="0"/>
              <a:t>3</a:t>
            </a:r>
            <a:r>
              <a:rPr lang="en-US" dirty="0"/>
              <a:t> + w</a:t>
            </a:r>
            <a:r>
              <a:rPr lang="en-US" baseline="-25000" dirty="0"/>
              <a:t>4</a:t>
            </a:r>
            <a:r>
              <a:rPr lang="en-US" b="1" dirty="0"/>
              <a:t>x</a:t>
            </a:r>
            <a:r>
              <a:rPr lang="en-US" b="1" baseline="-25000" dirty="0"/>
              <a:t>4</a:t>
            </a:r>
            <a:endParaRPr lang="en-US" dirty="0"/>
          </a:p>
          <a:p>
            <a:endParaRPr lang="en-IN" dirty="0"/>
          </a:p>
        </p:txBody>
      </p:sp>
      <p:sp>
        <p:nvSpPr>
          <p:cNvPr id="4" name="Slide Number Placeholder 3">
            <a:extLst>
              <a:ext uri="{FF2B5EF4-FFF2-40B4-BE49-F238E27FC236}">
                <a16:creationId xmlns:a16="http://schemas.microsoft.com/office/drawing/2014/main" id="{CF7190B0-6493-9494-9799-1B9C3AF71155}"/>
              </a:ext>
            </a:extLst>
          </p:cNvPr>
          <p:cNvSpPr>
            <a:spLocks noGrp="1"/>
          </p:cNvSpPr>
          <p:nvPr>
            <p:ph type="sldNum" sz="quarter" idx="7"/>
          </p:nvPr>
        </p:nvSpPr>
        <p:spPr/>
        <p:txBody>
          <a:bodyPr/>
          <a:lstStyle/>
          <a:p>
            <a:pPr marL="38100">
              <a:lnSpc>
                <a:spcPts val="1240"/>
              </a:lnSpc>
            </a:pPr>
            <a:fld id="{81D60167-4931-47E6-BA6A-407CBD079E47}" type="slidenum">
              <a:rPr lang="en-IN" spc="-25" smtClean="0"/>
              <a:t>10</a:t>
            </a:fld>
            <a:endParaRPr lang="en-IN" spc="-25" dirty="0"/>
          </a:p>
        </p:txBody>
      </p:sp>
      <p:pic>
        <p:nvPicPr>
          <p:cNvPr id="8" name="Picture 7">
            <a:extLst>
              <a:ext uri="{FF2B5EF4-FFF2-40B4-BE49-F238E27FC236}">
                <a16:creationId xmlns:a16="http://schemas.microsoft.com/office/drawing/2014/main" id="{865B1787-AB37-7979-A42E-9448F28A2965}"/>
              </a:ext>
            </a:extLst>
          </p:cNvPr>
          <p:cNvPicPr>
            <a:picLocks noChangeAspect="1"/>
          </p:cNvPicPr>
          <p:nvPr/>
        </p:nvPicPr>
        <p:blipFill>
          <a:blip r:embed="rId2"/>
          <a:stretch>
            <a:fillRect/>
          </a:stretch>
        </p:blipFill>
        <p:spPr>
          <a:xfrm>
            <a:off x="1408384" y="1676400"/>
            <a:ext cx="7172709" cy="1124000"/>
          </a:xfrm>
          <a:prstGeom prst="rect">
            <a:avLst/>
          </a:prstGeom>
        </p:spPr>
      </p:pic>
      <p:pic>
        <p:nvPicPr>
          <p:cNvPr id="10" name="Picture 9">
            <a:extLst>
              <a:ext uri="{FF2B5EF4-FFF2-40B4-BE49-F238E27FC236}">
                <a16:creationId xmlns:a16="http://schemas.microsoft.com/office/drawing/2014/main" id="{CE0A89A9-87C2-D9FF-49C8-4901A1DC0476}"/>
              </a:ext>
            </a:extLst>
          </p:cNvPr>
          <p:cNvPicPr>
            <a:picLocks noChangeAspect="1"/>
          </p:cNvPicPr>
          <p:nvPr/>
        </p:nvPicPr>
        <p:blipFill>
          <a:blip r:embed="rId3"/>
          <a:stretch>
            <a:fillRect/>
          </a:stretch>
        </p:blipFill>
        <p:spPr>
          <a:xfrm>
            <a:off x="1294085" y="4267200"/>
            <a:ext cx="7401309" cy="1124000"/>
          </a:xfrm>
          <a:prstGeom prst="rect">
            <a:avLst/>
          </a:prstGeom>
        </p:spPr>
      </p:pic>
    </p:spTree>
    <p:extLst>
      <p:ext uri="{BB962C8B-B14F-4D97-AF65-F5344CB8AC3E}">
        <p14:creationId xmlns:p14="http://schemas.microsoft.com/office/powerpoint/2010/main" val="2168518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A327F41-4ACB-595F-DC85-FB7844630A62}"/>
              </a:ext>
            </a:extLst>
          </p:cNvPr>
          <p:cNvSpPr>
            <a:spLocks noGrp="1"/>
          </p:cNvSpPr>
          <p:nvPr>
            <p:ph type="body" idx="1"/>
          </p:nvPr>
        </p:nvSpPr>
        <p:spPr>
          <a:xfrm>
            <a:off x="915035" y="214886"/>
            <a:ext cx="10361929" cy="6894195"/>
          </a:xfrm>
        </p:spPr>
        <p:txBody>
          <a:bodyPr/>
          <a:lstStyle/>
          <a:p>
            <a:r>
              <a:rPr lang="en-US" b="1" dirty="0">
                <a:solidFill>
                  <a:srgbClr val="FF0000"/>
                </a:solidFill>
              </a:rPr>
              <a:t>Machine Learning Model</a:t>
            </a:r>
          </a:p>
          <a:p>
            <a:pPr marL="457200" indent="-457200">
              <a:buFont typeface="Arial" panose="020B0604020202020204" pitchFamily="34" charset="0"/>
              <a:buChar char="•"/>
            </a:pPr>
            <a:r>
              <a:rPr lang="en-US" dirty="0"/>
              <a:t>A </a:t>
            </a:r>
            <a:r>
              <a:rPr lang="en-US" b="1" dirty="0"/>
              <a:t>Model</a:t>
            </a:r>
            <a:r>
              <a:rPr lang="en-US" dirty="0"/>
              <a:t> defines the relationship between the label (y) and the features (x).</a:t>
            </a:r>
          </a:p>
          <a:p>
            <a:pPr marL="457200" indent="-457200">
              <a:buFont typeface="Arial" panose="020B0604020202020204" pitchFamily="34" charset="0"/>
              <a:buChar char="•"/>
            </a:pPr>
            <a:r>
              <a:rPr lang="en-US" dirty="0"/>
              <a:t>There are three phases in the life of a model:</a:t>
            </a:r>
          </a:p>
          <a:p>
            <a:pPr marL="457200" indent="-457200">
              <a:buFont typeface="Arial" panose="020B0604020202020204" pitchFamily="34" charset="0"/>
              <a:buChar char="•"/>
            </a:pPr>
            <a:r>
              <a:rPr lang="en-US" dirty="0"/>
              <a:t>Data Collection</a:t>
            </a:r>
          </a:p>
          <a:p>
            <a:pPr marL="457200" indent="-457200">
              <a:buFont typeface="Arial" panose="020B0604020202020204" pitchFamily="34" charset="0"/>
              <a:buChar char="•"/>
            </a:pPr>
            <a:r>
              <a:rPr lang="en-US" dirty="0"/>
              <a:t>Training</a:t>
            </a:r>
          </a:p>
          <a:p>
            <a:pPr marL="457200" indent="-457200">
              <a:buFont typeface="Arial" panose="020B0604020202020204" pitchFamily="34" charset="0"/>
              <a:buChar char="•"/>
            </a:pPr>
            <a:r>
              <a:rPr lang="en-US" dirty="0"/>
              <a:t>Inference</a:t>
            </a:r>
          </a:p>
          <a:p>
            <a:r>
              <a:rPr lang="en-US" b="1" dirty="0">
                <a:solidFill>
                  <a:srgbClr val="FF0000"/>
                </a:solidFill>
              </a:rPr>
              <a:t>Machine Learning Training</a:t>
            </a:r>
          </a:p>
          <a:p>
            <a:r>
              <a:rPr lang="en-US" dirty="0"/>
              <a:t>The goal of training is to create a model that can answer a question. Like what is the expected price for a house?</a:t>
            </a:r>
          </a:p>
          <a:p>
            <a:r>
              <a:rPr lang="en-US" b="1" dirty="0">
                <a:solidFill>
                  <a:srgbClr val="FF0000"/>
                </a:solidFill>
              </a:rPr>
              <a:t>Machine Learning inference</a:t>
            </a:r>
          </a:p>
          <a:p>
            <a:r>
              <a:rPr lang="en-US" dirty="0"/>
              <a:t>Inference is when the trained model is used to infer (predict) values using live data. Like putting the model into production.</a:t>
            </a:r>
          </a:p>
          <a:p>
            <a:br>
              <a:rPr lang="en-US" dirty="0"/>
            </a:br>
            <a:endParaRPr lang="en-US" dirty="0"/>
          </a:p>
          <a:p>
            <a:endParaRPr lang="en-IN" dirty="0"/>
          </a:p>
        </p:txBody>
      </p:sp>
      <p:sp>
        <p:nvSpPr>
          <p:cNvPr id="4" name="Slide Number Placeholder 3">
            <a:extLst>
              <a:ext uri="{FF2B5EF4-FFF2-40B4-BE49-F238E27FC236}">
                <a16:creationId xmlns:a16="http://schemas.microsoft.com/office/drawing/2014/main" id="{04199A75-F4AC-6A04-A8F7-3A8A0834EBBF}"/>
              </a:ext>
            </a:extLst>
          </p:cNvPr>
          <p:cNvSpPr>
            <a:spLocks noGrp="1"/>
          </p:cNvSpPr>
          <p:nvPr>
            <p:ph type="sldNum" sz="quarter" idx="7"/>
          </p:nvPr>
        </p:nvSpPr>
        <p:spPr/>
        <p:txBody>
          <a:bodyPr/>
          <a:lstStyle/>
          <a:p>
            <a:pPr marL="38100">
              <a:lnSpc>
                <a:spcPts val="1240"/>
              </a:lnSpc>
            </a:pPr>
            <a:fld id="{81D60167-4931-47E6-BA6A-407CBD079E47}" type="slidenum">
              <a:rPr lang="en-IN" spc="-25" smtClean="0"/>
              <a:t>11</a:t>
            </a:fld>
            <a:endParaRPr lang="en-IN" spc="-25" dirty="0"/>
          </a:p>
        </p:txBody>
      </p:sp>
    </p:spTree>
    <p:extLst>
      <p:ext uri="{BB962C8B-B14F-4D97-AF65-F5344CB8AC3E}">
        <p14:creationId xmlns:p14="http://schemas.microsoft.com/office/powerpoint/2010/main" val="3985075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23C9729-E2F2-7AD9-1BB2-35BA424F29D8}"/>
              </a:ext>
            </a:extLst>
          </p:cNvPr>
          <p:cNvSpPr>
            <a:spLocks noGrp="1"/>
          </p:cNvSpPr>
          <p:nvPr>
            <p:ph type="body" idx="1"/>
          </p:nvPr>
        </p:nvSpPr>
        <p:spPr>
          <a:xfrm>
            <a:off x="829119" y="185983"/>
            <a:ext cx="10361929" cy="3447098"/>
          </a:xfrm>
        </p:spPr>
        <p:txBody>
          <a:bodyPr/>
          <a:lstStyle/>
          <a:p>
            <a:r>
              <a:rPr lang="en-US" b="1" dirty="0">
                <a:solidFill>
                  <a:srgbClr val="FF0000"/>
                </a:solidFill>
              </a:rPr>
              <a:t>Phases of Machine Learning</a:t>
            </a:r>
          </a:p>
          <a:p>
            <a:r>
              <a:rPr lang="en-US" dirty="0"/>
              <a:t>Machine learning has two main phases:</a:t>
            </a:r>
          </a:p>
          <a:p>
            <a:r>
              <a:rPr lang="en-US" dirty="0"/>
              <a:t>1. </a:t>
            </a:r>
            <a:r>
              <a:rPr lang="en-US" b="1" dirty="0"/>
              <a:t>Training</a:t>
            </a:r>
            <a:r>
              <a:rPr lang="en-US" dirty="0"/>
              <a:t>:</a:t>
            </a:r>
            <a:br>
              <a:rPr lang="en-US" dirty="0"/>
            </a:br>
            <a:r>
              <a:rPr lang="en-US" dirty="0"/>
              <a:t>Input data are used to calculate the parameters of the model.</a:t>
            </a:r>
          </a:p>
          <a:p>
            <a:r>
              <a:rPr lang="en-US" dirty="0"/>
              <a:t>2. </a:t>
            </a:r>
            <a:r>
              <a:rPr lang="en-US" b="1" dirty="0"/>
              <a:t>Inference</a:t>
            </a:r>
            <a:r>
              <a:rPr lang="en-US" dirty="0"/>
              <a:t>:</a:t>
            </a:r>
            <a:br>
              <a:rPr lang="en-US" dirty="0"/>
            </a:br>
            <a:r>
              <a:rPr lang="en-US" dirty="0"/>
              <a:t>The "trained" model outputs correct data from any input.</a:t>
            </a:r>
          </a:p>
          <a:p>
            <a:endParaRPr lang="en-US" dirty="0"/>
          </a:p>
          <a:p>
            <a:endParaRPr lang="en-IN" dirty="0"/>
          </a:p>
        </p:txBody>
      </p:sp>
      <p:sp>
        <p:nvSpPr>
          <p:cNvPr id="4" name="Slide Number Placeholder 3">
            <a:extLst>
              <a:ext uri="{FF2B5EF4-FFF2-40B4-BE49-F238E27FC236}">
                <a16:creationId xmlns:a16="http://schemas.microsoft.com/office/drawing/2014/main" id="{FF536354-843B-B764-A39D-EEC5C802CEA4}"/>
              </a:ext>
            </a:extLst>
          </p:cNvPr>
          <p:cNvSpPr>
            <a:spLocks noGrp="1"/>
          </p:cNvSpPr>
          <p:nvPr>
            <p:ph type="sldNum" sz="quarter" idx="7"/>
          </p:nvPr>
        </p:nvSpPr>
        <p:spPr/>
        <p:txBody>
          <a:bodyPr/>
          <a:lstStyle/>
          <a:p>
            <a:pPr marL="38100">
              <a:lnSpc>
                <a:spcPts val="1240"/>
              </a:lnSpc>
            </a:pPr>
            <a:fld id="{81D60167-4931-47E6-BA6A-407CBD079E47}" type="slidenum">
              <a:rPr lang="en-IN" spc="-25" smtClean="0"/>
              <a:t>12</a:t>
            </a:fld>
            <a:endParaRPr lang="en-IN" spc="-25" dirty="0"/>
          </a:p>
        </p:txBody>
      </p:sp>
    </p:spTree>
    <p:extLst>
      <p:ext uri="{BB962C8B-B14F-4D97-AF65-F5344CB8AC3E}">
        <p14:creationId xmlns:p14="http://schemas.microsoft.com/office/powerpoint/2010/main" val="18701997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0F788-290B-1DC9-5E61-E0BE497D9073}"/>
              </a:ext>
            </a:extLst>
          </p:cNvPr>
          <p:cNvSpPr>
            <a:spLocks noGrp="1"/>
          </p:cNvSpPr>
          <p:nvPr>
            <p:ph type="title"/>
          </p:nvPr>
        </p:nvSpPr>
        <p:spPr>
          <a:xfrm>
            <a:off x="916939" y="99441"/>
            <a:ext cx="9994900" cy="433959"/>
          </a:xfrm>
        </p:spPr>
        <p:txBody>
          <a:bodyPr/>
          <a:lstStyle/>
          <a:p>
            <a:r>
              <a:rPr lang="en-US" b="1" dirty="0">
                <a:solidFill>
                  <a:srgbClr val="FF0000"/>
                </a:solidFill>
              </a:rPr>
              <a:t>Supervised Machine Learning</a:t>
            </a:r>
            <a:br>
              <a:rPr lang="en-US" b="1" dirty="0">
                <a:solidFill>
                  <a:srgbClr val="FF0000"/>
                </a:solidFill>
              </a:rPr>
            </a:br>
            <a:endParaRPr lang="en-IN" b="1" dirty="0">
              <a:solidFill>
                <a:srgbClr val="FF0000"/>
              </a:solidFill>
            </a:endParaRPr>
          </a:p>
        </p:txBody>
      </p:sp>
      <p:sp>
        <p:nvSpPr>
          <p:cNvPr id="3" name="Text Placeholder 2">
            <a:extLst>
              <a:ext uri="{FF2B5EF4-FFF2-40B4-BE49-F238E27FC236}">
                <a16:creationId xmlns:a16="http://schemas.microsoft.com/office/drawing/2014/main" id="{F6929081-AF92-9DF9-17AD-0708753EA793}"/>
              </a:ext>
            </a:extLst>
          </p:cNvPr>
          <p:cNvSpPr>
            <a:spLocks noGrp="1"/>
          </p:cNvSpPr>
          <p:nvPr>
            <p:ph type="body" idx="1"/>
          </p:nvPr>
        </p:nvSpPr>
        <p:spPr>
          <a:xfrm>
            <a:off x="762000" y="1219200"/>
            <a:ext cx="11240643" cy="4739759"/>
          </a:xfrm>
        </p:spPr>
        <p:txBody>
          <a:bodyPr/>
          <a:lstStyle/>
          <a:p>
            <a:pPr marL="457200" indent="-457200">
              <a:buFont typeface="Arial" panose="020B0604020202020204" pitchFamily="34" charset="0"/>
              <a:buChar char="•"/>
            </a:pPr>
            <a:r>
              <a:rPr lang="en-US" dirty="0"/>
              <a:t>Supervised Machine Learning uses a set of input variables to predict the value of an output variable.</a:t>
            </a:r>
          </a:p>
          <a:p>
            <a:pPr marL="457200" indent="-457200">
              <a:buFont typeface="Arial" panose="020B0604020202020204" pitchFamily="34" charset="0"/>
              <a:buChar char="•"/>
            </a:pPr>
            <a:r>
              <a:rPr lang="en-US" dirty="0"/>
              <a:t>Supervised learning uses </a:t>
            </a:r>
            <a:r>
              <a:rPr lang="en-US" b="1" dirty="0"/>
              <a:t>labeled data</a:t>
            </a:r>
            <a:r>
              <a:rPr lang="en-US" dirty="0"/>
              <a:t> (data with known answers) to train algorithms to:</a:t>
            </a:r>
          </a:p>
          <a:p>
            <a:pPr marL="457200" indent="-457200">
              <a:buFont typeface="Arial" panose="020B0604020202020204" pitchFamily="34" charset="0"/>
              <a:buChar char="•"/>
            </a:pPr>
            <a:r>
              <a:rPr lang="en-US" dirty="0"/>
              <a:t>Classify Data</a:t>
            </a:r>
          </a:p>
          <a:p>
            <a:pPr marL="457200" indent="-457200">
              <a:buFont typeface="Arial" panose="020B0604020202020204" pitchFamily="34" charset="0"/>
              <a:buChar char="•"/>
            </a:pPr>
            <a:r>
              <a:rPr lang="en-US" dirty="0"/>
              <a:t>Predict Outcomes</a:t>
            </a:r>
          </a:p>
          <a:p>
            <a:pPr marL="457200" indent="-457200">
              <a:buFont typeface="Arial" panose="020B0604020202020204" pitchFamily="34" charset="0"/>
              <a:buChar char="•"/>
            </a:pPr>
            <a:r>
              <a:rPr lang="en-US" dirty="0"/>
              <a:t>Supervised learning can </a:t>
            </a:r>
            <a:r>
              <a:rPr lang="en-US" b="1" dirty="0"/>
              <a:t>classify</a:t>
            </a:r>
            <a:r>
              <a:rPr lang="en-US" dirty="0"/>
              <a:t> data like "What is spam in an e-mail", based on known spam examples.</a:t>
            </a:r>
          </a:p>
          <a:p>
            <a:pPr marL="457200" indent="-457200">
              <a:buFont typeface="Arial" panose="020B0604020202020204" pitchFamily="34" charset="0"/>
              <a:buChar char="•"/>
            </a:pPr>
            <a:r>
              <a:rPr lang="en-US" dirty="0"/>
              <a:t>Supervised learning can </a:t>
            </a:r>
            <a:r>
              <a:rPr lang="en-US" b="1" dirty="0"/>
              <a:t>predict</a:t>
            </a:r>
            <a:r>
              <a:rPr lang="en-US" dirty="0"/>
              <a:t> outcomes like predicting what kind of video you like, based on the videos you have played.</a:t>
            </a:r>
          </a:p>
          <a:p>
            <a:endParaRPr lang="en-IN" dirty="0"/>
          </a:p>
        </p:txBody>
      </p:sp>
      <p:sp>
        <p:nvSpPr>
          <p:cNvPr id="4" name="Slide Number Placeholder 3">
            <a:extLst>
              <a:ext uri="{FF2B5EF4-FFF2-40B4-BE49-F238E27FC236}">
                <a16:creationId xmlns:a16="http://schemas.microsoft.com/office/drawing/2014/main" id="{6BA309A0-ADAF-A83C-C102-DDCEAEE07716}"/>
              </a:ext>
            </a:extLst>
          </p:cNvPr>
          <p:cNvSpPr>
            <a:spLocks noGrp="1"/>
          </p:cNvSpPr>
          <p:nvPr>
            <p:ph type="sldNum" sz="quarter" idx="7"/>
          </p:nvPr>
        </p:nvSpPr>
        <p:spPr/>
        <p:txBody>
          <a:bodyPr/>
          <a:lstStyle/>
          <a:p>
            <a:pPr marL="38100">
              <a:lnSpc>
                <a:spcPts val="1240"/>
              </a:lnSpc>
            </a:pPr>
            <a:fld id="{81D60167-4931-47E6-BA6A-407CBD079E47}" type="slidenum">
              <a:rPr lang="en-IN" spc="-25" smtClean="0"/>
              <a:t>13</a:t>
            </a:fld>
            <a:endParaRPr lang="en-IN" spc="-25" dirty="0"/>
          </a:p>
        </p:txBody>
      </p:sp>
    </p:spTree>
    <p:extLst>
      <p:ext uri="{BB962C8B-B14F-4D97-AF65-F5344CB8AC3E}">
        <p14:creationId xmlns:p14="http://schemas.microsoft.com/office/powerpoint/2010/main" val="386998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F02CA-6106-B68A-D7AD-67DCA3920D52}"/>
              </a:ext>
            </a:extLst>
          </p:cNvPr>
          <p:cNvSpPr>
            <a:spLocks noGrp="1"/>
          </p:cNvSpPr>
          <p:nvPr>
            <p:ph type="title"/>
          </p:nvPr>
        </p:nvSpPr>
        <p:spPr>
          <a:xfrm>
            <a:off x="916939" y="99441"/>
            <a:ext cx="9994900" cy="677108"/>
          </a:xfrm>
        </p:spPr>
        <p:txBody>
          <a:bodyPr/>
          <a:lstStyle/>
          <a:p>
            <a:r>
              <a:rPr lang="en-US" b="1" dirty="0">
                <a:solidFill>
                  <a:srgbClr val="FF0000"/>
                </a:solidFill>
              </a:rPr>
              <a:t>Unsupervised Machine Learning</a:t>
            </a:r>
            <a:endParaRPr lang="en-IN" b="1" dirty="0">
              <a:solidFill>
                <a:srgbClr val="FF0000"/>
              </a:solidFill>
            </a:endParaRPr>
          </a:p>
        </p:txBody>
      </p:sp>
      <p:sp>
        <p:nvSpPr>
          <p:cNvPr id="3" name="Text Placeholder 2">
            <a:extLst>
              <a:ext uri="{FF2B5EF4-FFF2-40B4-BE49-F238E27FC236}">
                <a16:creationId xmlns:a16="http://schemas.microsoft.com/office/drawing/2014/main" id="{12410372-0797-602F-CC90-B98D7AB124B0}"/>
              </a:ext>
            </a:extLst>
          </p:cNvPr>
          <p:cNvSpPr>
            <a:spLocks noGrp="1"/>
          </p:cNvSpPr>
          <p:nvPr>
            <p:ph type="body" idx="1"/>
          </p:nvPr>
        </p:nvSpPr>
        <p:spPr>
          <a:xfrm>
            <a:off x="915035" y="1143000"/>
            <a:ext cx="10361929" cy="4739759"/>
          </a:xfrm>
        </p:spPr>
        <p:txBody>
          <a:bodyPr/>
          <a:lstStyle/>
          <a:p>
            <a:pPr marL="457200" indent="-457200">
              <a:buFont typeface="Arial" panose="020B0604020202020204" pitchFamily="34" charset="0"/>
              <a:buChar char="•"/>
            </a:pPr>
            <a:r>
              <a:rPr lang="en-US" dirty="0"/>
              <a:t>Unsupervised Machine Learning uses patterns from any unlabeled dataset, trying to understand patterns (or groupings) in the data.</a:t>
            </a:r>
          </a:p>
          <a:p>
            <a:pPr marL="457200" indent="-457200">
              <a:buFont typeface="Arial" panose="020B0604020202020204" pitchFamily="34" charset="0"/>
              <a:buChar char="•"/>
            </a:pPr>
            <a:r>
              <a:rPr lang="en-US" dirty="0"/>
              <a:t>Unsupervised learning is used to predict undefined relationships like meaningful patterns in data.</a:t>
            </a:r>
          </a:p>
          <a:p>
            <a:pPr marL="457200" indent="-457200">
              <a:buFont typeface="Arial" panose="020B0604020202020204" pitchFamily="34" charset="0"/>
              <a:buChar char="•"/>
            </a:pPr>
            <a:r>
              <a:rPr lang="en-US" dirty="0"/>
              <a:t>It is about creating computer algorithms than can improve themselves.</a:t>
            </a:r>
          </a:p>
          <a:p>
            <a:pPr marL="457200" indent="-457200">
              <a:buFont typeface="Arial" panose="020B0604020202020204" pitchFamily="34" charset="0"/>
              <a:buChar char="•"/>
            </a:pPr>
            <a:r>
              <a:rPr lang="en-US" dirty="0"/>
              <a:t>It is expected that machine learning will shift to unsupervised learning to allow programmers to solve problems without creating models.</a:t>
            </a:r>
          </a:p>
          <a:p>
            <a:pPr marL="457200" indent="-457200">
              <a:buFont typeface="Arial" panose="020B0604020202020204" pitchFamily="34" charset="0"/>
              <a:buChar char="•"/>
            </a:pPr>
            <a:br>
              <a:rPr lang="en-US" dirty="0"/>
            </a:br>
            <a:endParaRPr lang="en-IN" dirty="0"/>
          </a:p>
        </p:txBody>
      </p:sp>
      <p:sp>
        <p:nvSpPr>
          <p:cNvPr id="4" name="Slide Number Placeholder 3">
            <a:extLst>
              <a:ext uri="{FF2B5EF4-FFF2-40B4-BE49-F238E27FC236}">
                <a16:creationId xmlns:a16="http://schemas.microsoft.com/office/drawing/2014/main" id="{8632BEFE-ECF0-7C81-E481-8E55A192DEAA}"/>
              </a:ext>
            </a:extLst>
          </p:cNvPr>
          <p:cNvSpPr>
            <a:spLocks noGrp="1"/>
          </p:cNvSpPr>
          <p:nvPr>
            <p:ph type="sldNum" sz="quarter" idx="7"/>
          </p:nvPr>
        </p:nvSpPr>
        <p:spPr/>
        <p:txBody>
          <a:bodyPr/>
          <a:lstStyle/>
          <a:p>
            <a:pPr marL="38100">
              <a:lnSpc>
                <a:spcPts val="1240"/>
              </a:lnSpc>
            </a:pPr>
            <a:fld id="{81D60167-4931-47E6-BA6A-407CBD079E47}" type="slidenum">
              <a:rPr lang="en-IN" spc="-25" smtClean="0"/>
              <a:t>14</a:t>
            </a:fld>
            <a:endParaRPr lang="en-IN" spc="-25" dirty="0"/>
          </a:p>
        </p:txBody>
      </p:sp>
    </p:spTree>
    <p:extLst>
      <p:ext uri="{BB962C8B-B14F-4D97-AF65-F5344CB8AC3E}">
        <p14:creationId xmlns:p14="http://schemas.microsoft.com/office/powerpoint/2010/main" val="961636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860742-6335-0AE3-C065-EC9F75FC2D6A}"/>
              </a:ext>
            </a:extLst>
          </p:cNvPr>
          <p:cNvSpPr>
            <a:spLocks noGrp="1"/>
          </p:cNvSpPr>
          <p:nvPr>
            <p:ph type="body" idx="1"/>
          </p:nvPr>
        </p:nvSpPr>
        <p:spPr>
          <a:xfrm>
            <a:off x="915035" y="381000"/>
            <a:ext cx="10361929" cy="6463308"/>
          </a:xfrm>
        </p:spPr>
        <p:txBody>
          <a:bodyPr/>
          <a:lstStyle/>
          <a:p>
            <a:r>
              <a:rPr lang="en-US" b="1" dirty="0">
                <a:solidFill>
                  <a:srgbClr val="FF0000"/>
                </a:solidFill>
              </a:rPr>
              <a:t>Reinforcement Learning</a:t>
            </a:r>
          </a:p>
          <a:p>
            <a:pPr marL="457200" indent="-457200">
              <a:buFont typeface="Arial" panose="020B0604020202020204" pitchFamily="34" charset="0"/>
              <a:buChar char="•"/>
            </a:pPr>
            <a:r>
              <a:rPr lang="en-US" dirty="0"/>
              <a:t>Reinforcement learning is based on non-supervised learning but receives feedback from the user whether the decision is good or bad.</a:t>
            </a:r>
          </a:p>
          <a:p>
            <a:pPr marL="457200" indent="-457200">
              <a:buFont typeface="Arial" panose="020B0604020202020204" pitchFamily="34" charset="0"/>
              <a:buChar char="•"/>
            </a:pPr>
            <a:r>
              <a:rPr lang="en-US" dirty="0"/>
              <a:t>The feedback contributes to improving the model.</a:t>
            </a:r>
          </a:p>
          <a:p>
            <a:br>
              <a:rPr lang="en-US" dirty="0"/>
            </a:br>
            <a:r>
              <a:rPr lang="en-US" b="1" dirty="0">
                <a:solidFill>
                  <a:srgbClr val="FF0000"/>
                </a:solidFill>
              </a:rPr>
              <a:t>Self Supervised Learning</a:t>
            </a:r>
          </a:p>
          <a:p>
            <a:pPr marL="457200" indent="-457200">
              <a:buFont typeface="Arial" panose="020B0604020202020204" pitchFamily="34" charset="0"/>
              <a:buChar char="•"/>
            </a:pPr>
            <a:r>
              <a:rPr lang="en-US" dirty="0"/>
              <a:t>Self-supervised learning is similar to unsupervised learning because it works with data without human added labels.</a:t>
            </a:r>
          </a:p>
          <a:p>
            <a:pPr marL="457200" indent="-457200">
              <a:buFont typeface="Arial" panose="020B0604020202020204" pitchFamily="34" charset="0"/>
              <a:buChar char="•"/>
            </a:pPr>
            <a:r>
              <a:rPr lang="en-US" dirty="0"/>
              <a:t>The difference is that unsupervised learning uses clustering, grouping, and dimensionality reduction, while self-supervised learning draw its own conclusions for regression and classification tasks.</a:t>
            </a:r>
          </a:p>
          <a:p>
            <a:pPr marL="457200" indent="-457200">
              <a:buFont typeface="Arial" panose="020B0604020202020204" pitchFamily="34" charset="0"/>
              <a:buChar char="•"/>
            </a:pPr>
            <a:endParaRPr lang="en-US" dirty="0"/>
          </a:p>
          <a:p>
            <a:endParaRPr lang="en-IN" dirty="0"/>
          </a:p>
        </p:txBody>
      </p:sp>
      <p:sp>
        <p:nvSpPr>
          <p:cNvPr id="4" name="Slide Number Placeholder 3">
            <a:extLst>
              <a:ext uri="{FF2B5EF4-FFF2-40B4-BE49-F238E27FC236}">
                <a16:creationId xmlns:a16="http://schemas.microsoft.com/office/drawing/2014/main" id="{F097172D-2993-A973-A9D2-AC023AE2EEB0}"/>
              </a:ext>
            </a:extLst>
          </p:cNvPr>
          <p:cNvSpPr>
            <a:spLocks noGrp="1"/>
          </p:cNvSpPr>
          <p:nvPr>
            <p:ph type="sldNum" sz="quarter" idx="7"/>
          </p:nvPr>
        </p:nvSpPr>
        <p:spPr/>
        <p:txBody>
          <a:bodyPr/>
          <a:lstStyle/>
          <a:p>
            <a:pPr marL="38100">
              <a:lnSpc>
                <a:spcPts val="1240"/>
              </a:lnSpc>
            </a:pPr>
            <a:fld id="{81D60167-4931-47E6-BA6A-407CBD079E47}" type="slidenum">
              <a:rPr lang="en-IN" spc="-25" smtClean="0"/>
              <a:t>15</a:t>
            </a:fld>
            <a:endParaRPr lang="en-IN" spc="-25" dirty="0"/>
          </a:p>
        </p:txBody>
      </p:sp>
    </p:spTree>
    <p:extLst>
      <p:ext uri="{BB962C8B-B14F-4D97-AF65-F5344CB8AC3E}">
        <p14:creationId xmlns:p14="http://schemas.microsoft.com/office/powerpoint/2010/main" val="15354711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16</a:t>
            </a:fld>
            <a:endParaRPr spc="-25" dirty="0"/>
          </a:p>
        </p:txBody>
      </p:sp>
      <p:sp>
        <p:nvSpPr>
          <p:cNvPr id="2" name="object 2"/>
          <p:cNvSpPr txBox="1">
            <a:spLocks noGrp="1"/>
          </p:cNvSpPr>
          <p:nvPr>
            <p:ph type="title"/>
          </p:nvPr>
        </p:nvSpPr>
        <p:spPr>
          <a:prstGeom prst="rect">
            <a:avLst/>
          </a:prstGeom>
        </p:spPr>
        <p:txBody>
          <a:bodyPr vert="horz" wrap="square" lIns="0" tIns="523570" rIns="0" bIns="0" rtlCol="0">
            <a:spAutoFit/>
          </a:bodyPr>
          <a:lstStyle/>
          <a:p>
            <a:pPr marL="12700">
              <a:lnSpc>
                <a:spcPct val="100000"/>
              </a:lnSpc>
              <a:spcBef>
                <a:spcPts val="105"/>
              </a:spcBef>
            </a:pPr>
            <a:r>
              <a:rPr dirty="0"/>
              <a:t>Features</a:t>
            </a:r>
            <a:r>
              <a:rPr spc="-90" dirty="0"/>
              <a:t> </a:t>
            </a:r>
            <a:r>
              <a:rPr dirty="0"/>
              <a:t>of</a:t>
            </a:r>
            <a:r>
              <a:rPr spc="-55" dirty="0"/>
              <a:t> </a:t>
            </a:r>
            <a:r>
              <a:rPr dirty="0"/>
              <a:t>Machine</a:t>
            </a:r>
            <a:r>
              <a:rPr spc="-65" dirty="0"/>
              <a:t> </a:t>
            </a:r>
            <a:r>
              <a:rPr spc="-10" dirty="0"/>
              <a:t>Learning</a:t>
            </a:r>
          </a:p>
        </p:txBody>
      </p:sp>
      <p:sp>
        <p:nvSpPr>
          <p:cNvPr id="3" name="object 3"/>
          <p:cNvSpPr txBox="1"/>
          <p:nvPr/>
        </p:nvSpPr>
        <p:spPr>
          <a:xfrm>
            <a:off x="431698" y="1718548"/>
            <a:ext cx="11159490" cy="4618990"/>
          </a:xfrm>
          <a:prstGeom prst="rect">
            <a:avLst/>
          </a:prstGeom>
        </p:spPr>
        <p:txBody>
          <a:bodyPr vert="horz" wrap="square" lIns="0" tIns="53340" rIns="0" bIns="0" rtlCol="0">
            <a:spAutoFit/>
          </a:bodyPr>
          <a:lstStyle/>
          <a:p>
            <a:pPr marL="240029" indent="-227329">
              <a:lnSpc>
                <a:spcPct val="100000"/>
              </a:lnSpc>
              <a:spcBef>
                <a:spcPts val="420"/>
              </a:spcBef>
              <a:buFont typeface="Arial MT"/>
              <a:buChar char="•"/>
              <a:tabLst>
                <a:tab pos="240029" algn="l"/>
              </a:tabLst>
            </a:pPr>
            <a:r>
              <a:rPr sz="2800" b="1" spc="-10" dirty="0">
                <a:latin typeface="Calibri"/>
                <a:cs typeface="Calibri"/>
              </a:rPr>
              <a:t>Pattern</a:t>
            </a:r>
            <a:r>
              <a:rPr sz="2800" b="1" spc="-125" dirty="0">
                <a:latin typeface="Calibri"/>
                <a:cs typeface="Calibri"/>
              </a:rPr>
              <a:t> </a:t>
            </a:r>
            <a:r>
              <a:rPr sz="2800" b="1" spc="-10" dirty="0">
                <a:latin typeface="Calibri"/>
                <a:cs typeface="Calibri"/>
              </a:rPr>
              <a:t>Detection</a:t>
            </a:r>
            <a:endParaRPr sz="2800">
              <a:latin typeface="Calibri"/>
              <a:cs typeface="Calibri"/>
            </a:endParaRPr>
          </a:p>
          <a:p>
            <a:pPr marL="240029" indent="-227329">
              <a:lnSpc>
                <a:spcPts val="3335"/>
              </a:lnSpc>
              <a:spcBef>
                <a:spcPts val="325"/>
              </a:spcBef>
              <a:buFont typeface="Arial MT"/>
              <a:buChar char="•"/>
              <a:tabLst>
                <a:tab pos="240029" algn="l"/>
              </a:tabLst>
            </a:pPr>
            <a:r>
              <a:rPr sz="2800" b="1" spc="-10" dirty="0">
                <a:latin typeface="Calibri"/>
                <a:cs typeface="Calibri"/>
              </a:rPr>
              <a:t>Definition:</a:t>
            </a:r>
            <a:endParaRPr sz="2800">
              <a:latin typeface="Calibri"/>
              <a:cs typeface="Calibri"/>
            </a:endParaRPr>
          </a:p>
          <a:p>
            <a:pPr marL="697230" lvl="1" indent="-227329">
              <a:lnSpc>
                <a:spcPts val="2855"/>
              </a:lnSpc>
              <a:buFont typeface="Arial MT"/>
              <a:buChar char="•"/>
              <a:tabLst>
                <a:tab pos="697230" algn="l"/>
              </a:tabLst>
            </a:pPr>
            <a:r>
              <a:rPr sz="2400" dirty="0">
                <a:latin typeface="Calibri"/>
                <a:cs typeface="Calibri"/>
              </a:rPr>
              <a:t>ML</a:t>
            </a:r>
            <a:r>
              <a:rPr sz="2400" spc="-65" dirty="0">
                <a:latin typeface="Calibri"/>
                <a:cs typeface="Calibri"/>
              </a:rPr>
              <a:t> </a:t>
            </a:r>
            <a:r>
              <a:rPr sz="2400" dirty="0">
                <a:latin typeface="Calibri"/>
                <a:cs typeface="Calibri"/>
              </a:rPr>
              <a:t>utilizes</a:t>
            </a:r>
            <a:r>
              <a:rPr sz="2400" spc="-75" dirty="0">
                <a:latin typeface="Calibri"/>
                <a:cs typeface="Calibri"/>
              </a:rPr>
              <a:t> </a:t>
            </a:r>
            <a:r>
              <a:rPr sz="2400" dirty="0">
                <a:latin typeface="Calibri"/>
                <a:cs typeface="Calibri"/>
              </a:rPr>
              <a:t>data</a:t>
            </a:r>
            <a:r>
              <a:rPr sz="2400" spc="-70" dirty="0">
                <a:latin typeface="Calibri"/>
                <a:cs typeface="Calibri"/>
              </a:rPr>
              <a:t> </a:t>
            </a:r>
            <a:r>
              <a:rPr sz="2400" dirty="0">
                <a:latin typeface="Calibri"/>
                <a:cs typeface="Calibri"/>
              </a:rPr>
              <a:t>to</a:t>
            </a:r>
            <a:r>
              <a:rPr sz="2400" spc="-70" dirty="0">
                <a:latin typeface="Calibri"/>
                <a:cs typeface="Calibri"/>
              </a:rPr>
              <a:t> </a:t>
            </a:r>
            <a:r>
              <a:rPr sz="2400" dirty="0">
                <a:latin typeface="Calibri"/>
                <a:cs typeface="Calibri"/>
              </a:rPr>
              <a:t>detect</a:t>
            </a:r>
            <a:r>
              <a:rPr sz="2400" spc="-85" dirty="0">
                <a:latin typeface="Calibri"/>
                <a:cs typeface="Calibri"/>
              </a:rPr>
              <a:t> </a:t>
            </a:r>
            <a:r>
              <a:rPr sz="2400" spc="-10" dirty="0">
                <a:latin typeface="Calibri"/>
                <a:cs typeface="Calibri"/>
              </a:rPr>
              <a:t>patterns</a:t>
            </a:r>
            <a:r>
              <a:rPr sz="2400" spc="-60" dirty="0">
                <a:latin typeface="Calibri"/>
                <a:cs typeface="Calibri"/>
              </a:rPr>
              <a:t> </a:t>
            </a:r>
            <a:r>
              <a:rPr sz="2400" dirty="0">
                <a:latin typeface="Calibri"/>
                <a:cs typeface="Calibri"/>
              </a:rPr>
              <a:t>within</a:t>
            </a:r>
            <a:r>
              <a:rPr sz="2400" spc="-85" dirty="0">
                <a:latin typeface="Calibri"/>
                <a:cs typeface="Calibri"/>
              </a:rPr>
              <a:t> </a:t>
            </a:r>
            <a:r>
              <a:rPr sz="2400" spc="-10" dirty="0">
                <a:latin typeface="Calibri"/>
                <a:cs typeface="Calibri"/>
              </a:rPr>
              <a:t>datasets.</a:t>
            </a:r>
            <a:endParaRPr sz="2400">
              <a:latin typeface="Calibri"/>
              <a:cs typeface="Calibri"/>
            </a:endParaRPr>
          </a:p>
          <a:p>
            <a:pPr marL="240029" indent="-227329">
              <a:lnSpc>
                <a:spcPts val="3329"/>
              </a:lnSpc>
              <a:spcBef>
                <a:spcPts val="309"/>
              </a:spcBef>
              <a:buFont typeface="Arial MT"/>
              <a:buChar char="•"/>
              <a:tabLst>
                <a:tab pos="240029" algn="l"/>
              </a:tabLst>
            </a:pPr>
            <a:r>
              <a:rPr sz="2800" b="1" spc="-10" dirty="0">
                <a:latin typeface="Calibri"/>
                <a:cs typeface="Calibri"/>
              </a:rPr>
              <a:t>Benefits:</a:t>
            </a:r>
            <a:endParaRPr sz="2800">
              <a:latin typeface="Calibri"/>
              <a:cs typeface="Calibri"/>
            </a:endParaRPr>
          </a:p>
          <a:p>
            <a:pPr marL="697230" lvl="1" indent="-227329">
              <a:lnSpc>
                <a:spcPts val="2850"/>
              </a:lnSpc>
              <a:buFont typeface="Arial MT"/>
              <a:buChar char="•"/>
              <a:tabLst>
                <a:tab pos="697230" algn="l"/>
              </a:tabLst>
            </a:pPr>
            <a:r>
              <a:rPr sz="2400" spc="-10" dirty="0">
                <a:latin typeface="Calibri"/>
                <a:cs typeface="Calibri"/>
              </a:rPr>
              <a:t>Identifies</a:t>
            </a:r>
            <a:r>
              <a:rPr sz="2400" spc="-45" dirty="0">
                <a:latin typeface="Calibri"/>
                <a:cs typeface="Calibri"/>
              </a:rPr>
              <a:t> </a:t>
            </a:r>
            <a:r>
              <a:rPr sz="2400" dirty="0">
                <a:latin typeface="Calibri"/>
                <a:cs typeface="Calibri"/>
              </a:rPr>
              <a:t>trends,</a:t>
            </a:r>
            <a:r>
              <a:rPr sz="2400" spc="-40" dirty="0">
                <a:latin typeface="Calibri"/>
                <a:cs typeface="Calibri"/>
              </a:rPr>
              <a:t> </a:t>
            </a:r>
            <a:r>
              <a:rPr sz="2400" spc="-10" dirty="0">
                <a:latin typeface="Calibri"/>
                <a:cs typeface="Calibri"/>
              </a:rPr>
              <a:t>relationships,</a:t>
            </a:r>
            <a:r>
              <a:rPr sz="2400" spc="-40" dirty="0">
                <a:latin typeface="Calibri"/>
                <a:cs typeface="Calibri"/>
              </a:rPr>
              <a:t> </a:t>
            </a:r>
            <a:r>
              <a:rPr sz="2400" dirty="0">
                <a:latin typeface="Calibri"/>
                <a:cs typeface="Calibri"/>
              </a:rPr>
              <a:t>and</a:t>
            </a:r>
            <a:r>
              <a:rPr sz="2400" spc="-45" dirty="0">
                <a:latin typeface="Calibri"/>
                <a:cs typeface="Calibri"/>
              </a:rPr>
              <a:t> </a:t>
            </a:r>
            <a:r>
              <a:rPr sz="2400" dirty="0">
                <a:latin typeface="Calibri"/>
                <a:cs typeface="Calibri"/>
              </a:rPr>
              <a:t>anomalies</a:t>
            </a:r>
            <a:r>
              <a:rPr sz="2400" spc="-50" dirty="0">
                <a:latin typeface="Calibri"/>
                <a:cs typeface="Calibri"/>
              </a:rPr>
              <a:t> </a:t>
            </a:r>
            <a:r>
              <a:rPr sz="2400" dirty="0">
                <a:latin typeface="Calibri"/>
                <a:cs typeface="Calibri"/>
              </a:rPr>
              <a:t>that</a:t>
            </a:r>
            <a:r>
              <a:rPr sz="2400" spc="-55" dirty="0">
                <a:latin typeface="Calibri"/>
                <a:cs typeface="Calibri"/>
              </a:rPr>
              <a:t> </a:t>
            </a:r>
            <a:r>
              <a:rPr sz="2400" dirty="0">
                <a:latin typeface="Calibri"/>
                <a:cs typeface="Calibri"/>
              </a:rPr>
              <a:t>may</a:t>
            </a:r>
            <a:r>
              <a:rPr sz="2400" spc="-45" dirty="0">
                <a:latin typeface="Calibri"/>
                <a:cs typeface="Calibri"/>
              </a:rPr>
              <a:t> </a:t>
            </a:r>
            <a:r>
              <a:rPr sz="2400" dirty="0">
                <a:latin typeface="Calibri"/>
                <a:cs typeface="Calibri"/>
              </a:rPr>
              <a:t>not</a:t>
            </a:r>
            <a:r>
              <a:rPr sz="2400" spc="-50" dirty="0">
                <a:latin typeface="Calibri"/>
                <a:cs typeface="Calibri"/>
              </a:rPr>
              <a:t> </a:t>
            </a:r>
            <a:r>
              <a:rPr sz="2400" dirty="0">
                <a:latin typeface="Calibri"/>
                <a:cs typeface="Calibri"/>
              </a:rPr>
              <a:t>be</a:t>
            </a:r>
            <a:r>
              <a:rPr sz="2400" spc="-40" dirty="0">
                <a:latin typeface="Calibri"/>
                <a:cs typeface="Calibri"/>
              </a:rPr>
              <a:t> </a:t>
            </a:r>
            <a:r>
              <a:rPr sz="2400" spc="-10" dirty="0">
                <a:latin typeface="Calibri"/>
                <a:cs typeface="Calibri"/>
              </a:rPr>
              <a:t>immediately</a:t>
            </a:r>
            <a:r>
              <a:rPr sz="2400" spc="-70" dirty="0">
                <a:latin typeface="Calibri"/>
                <a:cs typeface="Calibri"/>
              </a:rPr>
              <a:t> </a:t>
            </a:r>
            <a:r>
              <a:rPr sz="2400" spc="-10" dirty="0">
                <a:latin typeface="Calibri"/>
                <a:cs typeface="Calibri"/>
              </a:rPr>
              <a:t>obvious.</a:t>
            </a:r>
            <a:endParaRPr sz="2400">
              <a:latin typeface="Calibri"/>
              <a:cs typeface="Calibri"/>
            </a:endParaRPr>
          </a:p>
          <a:p>
            <a:pPr lvl="1">
              <a:lnSpc>
                <a:spcPct val="100000"/>
              </a:lnSpc>
              <a:spcBef>
                <a:spcPts val="185"/>
              </a:spcBef>
              <a:buFont typeface="Arial MT"/>
              <a:buChar char="•"/>
            </a:pPr>
            <a:endParaRPr sz="2400">
              <a:latin typeface="Calibri"/>
              <a:cs typeface="Calibri"/>
            </a:endParaRPr>
          </a:p>
          <a:p>
            <a:pPr marL="240029" indent="-227329">
              <a:lnSpc>
                <a:spcPct val="100000"/>
              </a:lnSpc>
              <a:buFont typeface="Arial MT"/>
              <a:buChar char="•"/>
              <a:tabLst>
                <a:tab pos="240029" algn="l"/>
              </a:tabLst>
            </a:pPr>
            <a:r>
              <a:rPr sz="2800" b="1" spc="-10" dirty="0">
                <a:latin typeface="Calibri"/>
                <a:cs typeface="Calibri"/>
              </a:rPr>
              <a:t>Automatic</a:t>
            </a:r>
            <a:r>
              <a:rPr sz="2800" b="1" spc="-80" dirty="0">
                <a:latin typeface="Calibri"/>
                <a:cs typeface="Calibri"/>
              </a:rPr>
              <a:t> </a:t>
            </a:r>
            <a:r>
              <a:rPr sz="2800" b="1" dirty="0">
                <a:latin typeface="Calibri"/>
                <a:cs typeface="Calibri"/>
              </a:rPr>
              <a:t>Learning</a:t>
            </a:r>
            <a:r>
              <a:rPr sz="2800" b="1" spc="-65" dirty="0">
                <a:latin typeface="Calibri"/>
                <a:cs typeface="Calibri"/>
              </a:rPr>
              <a:t> </a:t>
            </a:r>
            <a:r>
              <a:rPr sz="2800" b="1" dirty="0">
                <a:latin typeface="Calibri"/>
                <a:cs typeface="Calibri"/>
              </a:rPr>
              <a:t>and</a:t>
            </a:r>
            <a:r>
              <a:rPr sz="2800" b="1" spc="-90" dirty="0">
                <a:latin typeface="Calibri"/>
                <a:cs typeface="Calibri"/>
              </a:rPr>
              <a:t> </a:t>
            </a:r>
            <a:r>
              <a:rPr sz="2800" b="1" spc="-10" dirty="0">
                <a:latin typeface="Calibri"/>
                <a:cs typeface="Calibri"/>
              </a:rPr>
              <a:t>Improvement</a:t>
            </a:r>
            <a:endParaRPr sz="2800">
              <a:latin typeface="Calibri"/>
              <a:cs typeface="Calibri"/>
            </a:endParaRPr>
          </a:p>
          <a:p>
            <a:pPr marL="240029" indent="-227329">
              <a:lnSpc>
                <a:spcPts val="3329"/>
              </a:lnSpc>
              <a:spcBef>
                <a:spcPts val="325"/>
              </a:spcBef>
              <a:buFont typeface="Arial MT"/>
              <a:buChar char="•"/>
              <a:tabLst>
                <a:tab pos="240029" algn="l"/>
              </a:tabLst>
            </a:pPr>
            <a:r>
              <a:rPr sz="2800" b="1" spc="-10" dirty="0">
                <a:latin typeface="Calibri"/>
                <a:cs typeface="Calibri"/>
              </a:rPr>
              <a:t>Capability:</a:t>
            </a:r>
            <a:endParaRPr sz="2800">
              <a:latin typeface="Calibri"/>
              <a:cs typeface="Calibri"/>
            </a:endParaRPr>
          </a:p>
          <a:p>
            <a:pPr marL="697230" lvl="1" indent="-227329">
              <a:lnSpc>
                <a:spcPts val="2850"/>
              </a:lnSpc>
              <a:buFont typeface="Arial MT"/>
              <a:buChar char="•"/>
              <a:tabLst>
                <a:tab pos="697230" algn="l"/>
              </a:tabLst>
            </a:pPr>
            <a:r>
              <a:rPr sz="2400" dirty="0">
                <a:latin typeface="Calibri"/>
                <a:cs typeface="Calibri"/>
              </a:rPr>
              <a:t>Algorithms</a:t>
            </a:r>
            <a:r>
              <a:rPr sz="2400" spc="-100" dirty="0">
                <a:latin typeface="Calibri"/>
                <a:cs typeface="Calibri"/>
              </a:rPr>
              <a:t> </a:t>
            </a:r>
            <a:r>
              <a:rPr sz="2400" dirty="0">
                <a:latin typeface="Calibri"/>
                <a:cs typeface="Calibri"/>
              </a:rPr>
              <a:t>learn</a:t>
            </a:r>
            <a:r>
              <a:rPr sz="2400" spc="-85" dirty="0">
                <a:latin typeface="Calibri"/>
                <a:cs typeface="Calibri"/>
              </a:rPr>
              <a:t> </a:t>
            </a:r>
            <a:r>
              <a:rPr sz="2400" dirty="0">
                <a:latin typeface="Calibri"/>
                <a:cs typeface="Calibri"/>
              </a:rPr>
              <a:t>from</a:t>
            </a:r>
            <a:r>
              <a:rPr sz="2400" spc="-75" dirty="0">
                <a:latin typeface="Calibri"/>
                <a:cs typeface="Calibri"/>
              </a:rPr>
              <a:t> </a:t>
            </a:r>
            <a:r>
              <a:rPr sz="2400" dirty="0">
                <a:latin typeface="Calibri"/>
                <a:cs typeface="Calibri"/>
              </a:rPr>
              <a:t>past</a:t>
            </a:r>
            <a:r>
              <a:rPr sz="2400" spc="-85" dirty="0">
                <a:latin typeface="Calibri"/>
                <a:cs typeface="Calibri"/>
              </a:rPr>
              <a:t> </a:t>
            </a:r>
            <a:r>
              <a:rPr sz="2400" dirty="0">
                <a:latin typeface="Calibri"/>
                <a:cs typeface="Calibri"/>
              </a:rPr>
              <a:t>data</a:t>
            </a:r>
            <a:r>
              <a:rPr sz="2400" spc="-85" dirty="0">
                <a:latin typeface="Calibri"/>
                <a:cs typeface="Calibri"/>
              </a:rPr>
              <a:t> </a:t>
            </a:r>
            <a:r>
              <a:rPr sz="2400" dirty="0">
                <a:latin typeface="Calibri"/>
                <a:cs typeface="Calibri"/>
              </a:rPr>
              <a:t>and</a:t>
            </a:r>
            <a:r>
              <a:rPr sz="2400" spc="-75" dirty="0">
                <a:latin typeface="Calibri"/>
                <a:cs typeface="Calibri"/>
              </a:rPr>
              <a:t> </a:t>
            </a:r>
            <a:r>
              <a:rPr sz="2400" dirty="0">
                <a:latin typeface="Calibri"/>
                <a:cs typeface="Calibri"/>
              </a:rPr>
              <a:t>improve</a:t>
            </a:r>
            <a:r>
              <a:rPr sz="2400" spc="-70" dirty="0">
                <a:latin typeface="Calibri"/>
                <a:cs typeface="Calibri"/>
              </a:rPr>
              <a:t> </a:t>
            </a:r>
            <a:r>
              <a:rPr sz="2400" dirty="0">
                <a:latin typeface="Calibri"/>
                <a:cs typeface="Calibri"/>
              </a:rPr>
              <a:t>performance</a:t>
            </a:r>
            <a:r>
              <a:rPr sz="2400" spc="-85" dirty="0">
                <a:latin typeface="Calibri"/>
                <a:cs typeface="Calibri"/>
              </a:rPr>
              <a:t> </a:t>
            </a:r>
            <a:r>
              <a:rPr sz="2400" dirty="0">
                <a:latin typeface="Calibri"/>
                <a:cs typeface="Calibri"/>
              </a:rPr>
              <a:t>over</a:t>
            </a:r>
            <a:r>
              <a:rPr sz="2400" spc="-65" dirty="0">
                <a:latin typeface="Calibri"/>
                <a:cs typeface="Calibri"/>
              </a:rPr>
              <a:t> </a:t>
            </a:r>
            <a:r>
              <a:rPr sz="2400" spc="-10" dirty="0">
                <a:latin typeface="Calibri"/>
                <a:cs typeface="Calibri"/>
              </a:rPr>
              <a:t>time.</a:t>
            </a:r>
            <a:endParaRPr sz="2400">
              <a:latin typeface="Calibri"/>
              <a:cs typeface="Calibri"/>
            </a:endParaRPr>
          </a:p>
          <a:p>
            <a:pPr marL="240029" indent="-227329">
              <a:lnSpc>
                <a:spcPts val="3335"/>
              </a:lnSpc>
              <a:spcBef>
                <a:spcPts val="309"/>
              </a:spcBef>
              <a:buFont typeface="Arial MT"/>
              <a:buChar char="•"/>
              <a:tabLst>
                <a:tab pos="240029" algn="l"/>
              </a:tabLst>
            </a:pPr>
            <a:r>
              <a:rPr sz="2800" b="1" spc="-10" dirty="0">
                <a:latin typeface="Calibri"/>
                <a:cs typeface="Calibri"/>
              </a:rPr>
              <a:t>Impact:</a:t>
            </a:r>
            <a:endParaRPr sz="2800">
              <a:latin typeface="Calibri"/>
              <a:cs typeface="Calibri"/>
            </a:endParaRPr>
          </a:p>
          <a:p>
            <a:pPr marL="697230" lvl="1" indent="-227329">
              <a:lnSpc>
                <a:spcPts val="2855"/>
              </a:lnSpc>
              <a:buFont typeface="Arial MT"/>
              <a:buChar char="•"/>
              <a:tabLst>
                <a:tab pos="697230" algn="l"/>
              </a:tabLst>
            </a:pPr>
            <a:r>
              <a:rPr sz="2400" spc="-10" dirty="0">
                <a:latin typeface="Calibri"/>
                <a:cs typeface="Calibri"/>
              </a:rPr>
              <a:t>Refinement</a:t>
            </a:r>
            <a:r>
              <a:rPr sz="2400" spc="-75" dirty="0">
                <a:latin typeface="Calibri"/>
                <a:cs typeface="Calibri"/>
              </a:rPr>
              <a:t> </a:t>
            </a:r>
            <a:r>
              <a:rPr sz="2400" dirty="0">
                <a:latin typeface="Calibri"/>
                <a:cs typeface="Calibri"/>
              </a:rPr>
              <a:t>of</a:t>
            </a:r>
            <a:r>
              <a:rPr sz="2400" spc="-70" dirty="0">
                <a:latin typeface="Calibri"/>
                <a:cs typeface="Calibri"/>
              </a:rPr>
              <a:t> </a:t>
            </a:r>
            <a:r>
              <a:rPr sz="2400" dirty="0">
                <a:latin typeface="Calibri"/>
                <a:cs typeface="Calibri"/>
              </a:rPr>
              <a:t>predictions</a:t>
            </a:r>
            <a:r>
              <a:rPr sz="2400" spc="-70" dirty="0">
                <a:latin typeface="Calibri"/>
                <a:cs typeface="Calibri"/>
              </a:rPr>
              <a:t> </a:t>
            </a:r>
            <a:r>
              <a:rPr sz="2400" dirty="0">
                <a:latin typeface="Calibri"/>
                <a:cs typeface="Calibri"/>
              </a:rPr>
              <a:t>and</a:t>
            </a:r>
            <a:r>
              <a:rPr sz="2400" spc="-65" dirty="0">
                <a:latin typeface="Calibri"/>
                <a:cs typeface="Calibri"/>
              </a:rPr>
              <a:t> </a:t>
            </a:r>
            <a:r>
              <a:rPr sz="2400" dirty="0">
                <a:latin typeface="Calibri"/>
                <a:cs typeface="Calibri"/>
              </a:rPr>
              <a:t>decisions</a:t>
            </a:r>
            <a:r>
              <a:rPr sz="2400" spc="-65" dirty="0">
                <a:latin typeface="Calibri"/>
                <a:cs typeface="Calibri"/>
              </a:rPr>
              <a:t> </a:t>
            </a:r>
            <a:r>
              <a:rPr sz="2400" dirty="0">
                <a:latin typeface="Calibri"/>
                <a:cs typeface="Calibri"/>
              </a:rPr>
              <a:t>as</a:t>
            </a:r>
            <a:r>
              <a:rPr sz="2400" spc="-80" dirty="0">
                <a:latin typeface="Calibri"/>
                <a:cs typeface="Calibri"/>
              </a:rPr>
              <a:t> </a:t>
            </a:r>
            <a:r>
              <a:rPr sz="2400" dirty="0">
                <a:latin typeface="Calibri"/>
                <a:cs typeface="Calibri"/>
              </a:rPr>
              <a:t>more</a:t>
            </a:r>
            <a:r>
              <a:rPr sz="2400" spc="-60" dirty="0">
                <a:latin typeface="Calibri"/>
                <a:cs typeface="Calibri"/>
              </a:rPr>
              <a:t> </a:t>
            </a:r>
            <a:r>
              <a:rPr sz="2400" dirty="0">
                <a:latin typeface="Calibri"/>
                <a:cs typeface="Calibri"/>
              </a:rPr>
              <a:t>data</a:t>
            </a:r>
            <a:r>
              <a:rPr sz="2400" spc="-75" dirty="0">
                <a:latin typeface="Calibri"/>
                <a:cs typeface="Calibri"/>
              </a:rPr>
              <a:t> </a:t>
            </a:r>
            <a:r>
              <a:rPr sz="2400" dirty="0">
                <a:latin typeface="Calibri"/>
                <a:cs typeface="Calibri"/>
              </a:rPr>
              <a:t>becomes</a:t>
            </a:r>
            <a:r>
              <a:rPr sz="2400" spc="-75" dirty="0">
                <a:latin typeface="Calibri"/>
                <a:cs typeface="Calibri"/>
              </a:rPr>
              <a:t> </a:t>
            </a:r>
            <a:r>
              <a:rPr sz="2400" spc="-10" dirty="0">
                <a:latin typeface="Calibri"/>
                <a:cs typeface="Calibri"/>
              </a:rPr>
              <a:t>available.</a:t>
            </a:r>
            <a:endParaRPr sz="24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17</a:t>
            </a:fld>
            <a:endParaRPr spc="-25" dirty="0"/>
          </a:p>
        </p:txBody>
      </p:sp>
      <p:sp>
        <p:nvSpPr>
          <p:cNvPr id="2" name="object 2"/>
          <p:cNvSpPr txBox="1"/>
          <p:nvPr/>
        </p:nvSpPr>
        <p:spPr>
          <a:xfrm>
            <a:off x="644448" y="279552"/>
            <a:ext cx="10412730" cy="5390515"/>
          </a:xfrm>
          <a:prstGeom prst="rect">
            <a:avLst/>
          </a:prstGeom>
        </p:spPr>
        <p:txBody>
          <a:bodyPr vert="horz" wrap="square" lIns="0" tIns="97790" rIns="0" bIns="0" rtlCol="0">
            <a:spAutoFit/>
          </a:bodyPr>
          <a:lstStyle/>
          <a:p>
            <a:pPr marL="240029" indent="-227329">
              <a:lnSpc>
                <a:spcPct val="100000"/>
              </a:lnSpc>
              <a:spcBef>
                <a:spcPts val="770"/>
              </a:spcBef>
              <a:buFont typeface="Arial MT"/>
              <a:buChar char="•"/>
              <a:tabLst>
                <a:tab pos="240029" algn="l"/>
              </a:tabLst>
            </a:pPr>
            <a:r>
              <a:rPr sz="2800" b="1" spc="-30" dirty="0">
                <a:latin typeface="Calibri"/>
                <a:cs typeface="Calibri"/>
              </a:rPr>
              <a:t>Data-</a:t>
            </a:r>
            <a:r>
              <a:rPr sz="2800" b="1" dirty="0">
                <a:latin typeface="Calibri"/>
                <a:cs typeface="Calibri"/>
              </a:rPr>
              <a:t>Driven</a:t>
            </a:r>
            <a:r>
              <a:rPr sz="2800" b="1" spc="-70" dirty="0">
                <a:latin typeface="Calibri"/>
                <a:cs typeface="Calibri"/>
              </a:rPr>
              <a:t> </a:t>
            </a:r>
            <a:r>
              <a:rPr sz="2800" b="1" spc="-10" dirty="0">
                <a:latin typeface="Calibri"/>
                <a:cs typeface="Calibri"/>
              </a:rPr>
              <a:t>Technology</a:t>
            </a:r>
            <a:endParaRPr sz="2800">
              <a:latin typeface="Calibri"/>
              <a:cs typeface="Calibri"/>
            </a:endParaRPr>
          </a:p>
          <a:p>
            <a:pPr marL="240029" indent="-227329">
              <a:lnSpc>
                <a:spcPct val="100000"/>
              </a:lnSpc>
              <a:spcBef>
                <a:spcPts val="675"/>
              </a:spcBef>
              <a:buFont typeface="Arial MT"/>
              <a:buChar char="•"/>
              <a:tabLst>
                <a:tab pos="240029" algn="l"/>
              </a:tabLst>
            </a:pPr>
            <a:r>
              <a:rPr sz="2800" b="1" dirty="0">
                <a:latin typeface="Calibri"/>
                <a:cs typeface="Calibri"/>
              </a:rPr>
              <a:t>Core</a:t>
            </a:r>
            <a:r>
              <a:rPr sz="2800" b="1" spc="-90" dirty="0">
                <a:latin typeface="Calibri"/>
                <a:cs typeface="Calibri"/>
              </a:rPr>
              <a:t> </a:t>
            </a:r>
            <a:r>
              <a:rPr sz="2800" b="1" spc="-10" dirty="0">
                <a:latin typeface="Calibri"/>
                <a:cs typeface="Calibri"/>
              </a:rPr>
              <a:t>Concept:</a:t>
            </a:r>
            <a:endParaRPr sz="2800">
              <a:latin typeface="Calibri"/>
              <a:cs typeface="Calibri"/>
            </a:endParaRPr>
          </a:p>
          <a:p>
            <a:pPr marL="697230" lvl="1" indent="-227329">
              <a:lnSpc>
                <a:spcPct val="100000"/>
              </a:lnSpc>
              <a:spcBef>
                <a:spcPts val="229"/>
              </a:spcBef>
              <a:buFont typeface="Arial MT"/>
              <a:buChar char="•"/>
              <a:tabLst>
                <a:tab pos="697230" algn="l"/>
              </a:tabLst>
            </a:pPr>
            <a:r>
              <a:rPr sz="2400" dirty="0">
                <a:latin typeface="Calibri"/>
                <a:cs typeface="Calibri"/>
              </a:rPr>
              <a:t>ML is </a:t>
            </a:r>
            <a:r>
              <a:rPr sz="2400" spc="-10" dirty="0">
                <a:latin typeface="Calibri"/>
                <a:cs typeface="Calibri"/>
              </a:rPr>
              <a:t>fundamentally</a:t>
            </a:r>
            <a:r>
              <a:rPr sz="2400" spc="-5" dirty="0">
                <a:latin typeface="Calibri"/>
                <a:cs typeface="Calibri"/>
              </a:rPr>
              <a:t> </a:t>
            </a:r>
            <a:r>
              <a:rPr sz="2400" spc="-20" dirty="0">
                <a:latin typeface="Calibri"/>
                <a:cs typeface="Calibri"/>
              </a:rPr>
              <a:t>data-</a:t>
            </a:r>
            <a:r>
              <a:rPr sz="2400" spc="-10" dirty="0">
                <a:latin typeface="Calibri"/>
                <a:cs typeface="Calibri"/>
              </a:rPr>
              <a:t>driven.</a:t>
            </a:r>
            <a:endParaRPr sz="2400">
              <a:latin typeface="Calibri"/>
              <a:cs typeface="Calibri"/>
            </a:endParaRPr>
          </a:p>
          <a:p>
            <a:pPr marL="240029" indent="-227329">
              <a:lnSpc>
                <a:spcPct val="100000"/>
              </a:lnSpc>
              <a:spcBef>
                <a:spcPts val="645"/>
              </a:spcBef>
              <a:buFont typeface="Arial MT"/>
              <a:buChar char="•"/>
              <a:tabLst>
                <a:tab pos="240029" algn="l"/>
              </a:tabLst>
            </a:pPr>
            <a:r>
              <a:rPr sz="2800" b="1" spc="-10" dirty="0">
                <a:latin typeface="Calibri"/>
                <a:cs typeface="Calibri"/>
              </a:rPr>
              <a:t>Reliance:</a:t>
            </a:r>
            <a:endParaRPr sz="2800">
              <a:latin typeface="Calibri"/>
              <a:cs typeface="Calibri"/>
            </a:endParaRPr>
          </a:p>
          <a:p>
            <a:pPr marL="697230" lvl="1" indent="-227329">
              <a:lnSpc>
                <a:spcPct val="100000"/>
              </a:lnSpc>
              <a:spcBef>
                <a:spcPts val="235"/>
              </a:spcBef>
              <a:buFont typeface="Arial MT"/>
              <a:buChar char="•"/>
              <a:tabLst>
                <a:tab pos="697230" algn="l"/>
              </a:tabLst>
            </a:pPr>
            <a:r>
              <a:rPr sz="2400" spc="-20" dirty="0">
                <a:latin typeface="Calibri"/>
                <a:cs typeface="Calibri"/>
              </a:rPr>
              <a:t>Effectiveness</a:t>
            </a:r>
            <a:r>
              <a:rPr sz="2400" spc="-60" dirty="0">
                <a:latin typeface="Calibri"/>
                <a:cs typeface="Calibri"/>
              </a:rPr>
              <a:t> </a:t>
            </a:r>
            <a:r>
              <a:rPr sz="2400" dirty="0">
                <a:latin typeface="Calibri"/>
                <a:cs typeface="Calibri"/>
              </a:rPr>
              <a:t>and</a:t>
            </a:r>
            <a:r>
              <a:rPr sz="2400" spc="-55" dirty="0">
                <a:latin typeface="Calibri"/>
                <a:cs typeface="Calibri"/>
              </a:rPr>
              <a:t> </a:t>
            </a:r>
            <a:r>
              <a:rPr sz="2400" dirty="0">
                <a:latin typeface="Calibri"/>
                <a:cs typeface="Calibri"/>
              </a:rPr>
              <a:t>accuracy</a:t>
            </a:r>
            <a:r>
              <a:rPr sz="2400" spc="-70" dirty="0">
                <a:latin typeface="Calibri"/>
                <a:cs typeface="Calibri"/>
              </a:rPr>
              <a:t> </a:t>
            </a:r>
            <a:r>
              <a:rPr sz="2400" dirty="0">
                <a:latin typeface="Calibri"/>
                <a:cs typeface="Calibri"/>
              </a:rPr>
              <a:t>depend</a:t>
            </a:r>
            <a:r>
              <a:rPr sz="2400" spc="-55" dirty="0">
                <a:latin typeface="Calibri"/>
                <a:cs typeface="Calibri"/>
              </a:rPr>
              <a:t> </a:t>
            </a:r>
            <a:r>
              <a:rPr sz="2400" dirty="0">
                <a:latin typeface="Calibri"/>
                <a:cs typeface="Calibri"/>
              </a:rPr>
              <a:t>heavily</a:t>
            </a:r>
            <a:r>
              <a:rPr sz="2400" spc="-50" dirty="0">
                <a:latin typeface="Calibri"/>
                <a:cs typeface="Calibri"/>
              </a:rPr>
              <a:t> </a:t>
            </a:r>
            <a:r>
              <a:rPr sz="2400" dirty="0">
                <a:latin typeface="Calibri"/>
                <a:cs typeface="Calibri"/>
              </a:rPr>
              <a:t>on</a:t>
            </a:r>
            <a:r>
              <a:rPr sz="2400" spc="-55" dirty="0">
                <a:latin typeface="Calibri"/>
                <a:cs typeface="Calibri"/>
              </a:rPr>
              <a:t> </a:t>
            </a:r>
            <a:r>
              <a:rPr sz="2400" dirty="0">
                <a:latin typeface="Calibri"/>
                <a:cs typeface="Calibri"/>
              </a:rPr>
              <a:t>data</a:t>
            </a:r>
            <a:r>
              <a:rPr sz="2400" spc="-65" dirty="0">
                <a:latin typeface="Calibri"/>
                <a:cs typeface="Calibri"/>
              </a:rPr>
              <a:t> </a:t>
            </a:r>
            <a:r>
              <a:rPr sz="2400" dirty="0">
                <a:latin typeface="Calibri"/>
                <a:cs typeface="Calibri"/>
              </a:rPr>
              <a:t>quality</a:t>
            </a:r>
            <a:r>
              <a:rPr sz="2400" spc="-60" dirty="0">
                <a:latin typeface="Calibri"/>
                <a:cs typeface="Calibri"/>
              </a:rPr>
              <a:t> </a:t>
            </a:r>
            <a:r>
              <a:rPr sz="2400" dirty="0">
                <a:latin typeface="Calibri"/>
                <a:cs typeface="Calibri"/>
              </a:rPr>
              <a:t>and</a:t>
            </a:r>
            <a:r>
              <a:rPr sz="2400" spc="-55" dirty="0">
                <a:latin typeface="Calibri"/>
                <a:cs typeface="Calibri"/>
              </a:rPr>
              <a:t> </a:t>
            </a:r>
            <a:r>
              <a:rPr sz="2400" spc="-10" dirty="0">
                <a:latin typeface="Calibri"/>
                <a:cs typeface="Calibri"/>
              </a:rPr>
              <a:t>quantity.</a:t>
            </a:r>
            <a:endParaRPr sz="2400">
              <a:latin typeface="Calibri"/>
              <a:cs typeface="Calibri"/>
            </a:endParaRPr>
          </a:p>
          <a:p>
            <a:pPr lvl="1">
              <a:lnSpc>
                <a:spcPct val="100000"/>
              </a:lnSpc>
              <a:spcBef>
                <a:spcPts val="800"/>
              </a:spcBef>
              <a:buFont typeface="Arial MT"/>
              <a:buChar char="•"/>
            </a:pPr>
            <a:endParaRPr sz="2400">
              <a:latin typeface="Calibri"/>
              <a:cs typeface="Calibri"/>
            </a:endParaRPr>
          </a:p>
          <a:p>
            <a:pPr marL="240029" indent="-227329">
              <a:lnSpc>
                <a:spcPct val="100000"/>
              </a:lnSpc>
              <a:buFont typeface="Arial MT"/>
              <a:buChar char="•"/>
              <a:tabLst>
                <a:tab pos="240029" algn="l"/>
              </a:tabLst>
            </a:pPr>
            <a:r>
              <a:rPr sz="2800" b="1" dirty="0">
                <a:latin typeface="Calibri"/>
                <a:cs typeface="Calibri"/>
              </a:rPr>
              <a:t>Similarity</a:t>
            </a:r>
            <a:r>
              <a:rPr sz="2800" b="1" spc="-60" dirty="0">
                <a:latin typeface="Calibri"/>
                <a:cs typeface="Calibri"/>
              </a:rPr>
              <a:t> </a:t>
            </a:r>
            <a:r>
              <a:rPr sz="2800" b="1" dirty="0">
                <a:latin typeface="Calibri"/>
                <a:cs typeface="Calibri"/>
              </a:rPr>
              <a:t>to</a:t>
            </a:r>
            <a:r>
              <a:rPr sz="2800" b="1" spc="-85" dirty="0">
                <a:latin typeface="Calibri"/>
                <a:cs typeface="Calibri"/>
              </a:rPr>
              <a:t> </a:t>
            </a:r>
            <a:r>
              <a:rPr sz="2800" b="1" dirty="0">
                <a:latin typeface="Calibri"/>
                <a:cs typeface="Calibri"/>
              </a:rPr>
              <a:t>Data</a:t>
            </a:r>
            <a:r>
              <a:rPr sz="2800" b="1" spc="-80" dirty="0">
                <a:latin typeface="Calibri"/>
                <a:cs typeface="Calibri"/>
              </a:rPr>
              <a:t> </a:t>
            </a:r>
            <a:r>
              <a:rPr sz="2800" b="1" spc="-10" dirty="0">
                <a:latin typeface="Calibri"/>
                <a:cs typeface="Calibri"/>
              </a:rPr>
              <a:t>Mining</a:t>
            </a:r>
            <a:endParaRPr sz="2800">
              <a:latin typeface="Calibri"/>
              <a:cs typeface="Calibri"/>
            </a:endParaRPr>
          </a:p>
          <a:p>
            <a:pPr marL="240029" indent="-227329">
              <a:lnSpc>
                <a:spcPct val="100000"/>
              </a:lnSpc>
              <a:spcBef>
                <a:spcPts val="670"/>
              </a:spcBef>
              <a:buFont typeface="Arial MT"/>
              <a:buChar char="•"/>
              <a:tabLst>
                <a:tab pos="240029" algn="l"/>
              </a:tabLst>
            </a:pPr>
            <a:r>
              <a:rPr sz="2800" b="1" spc="-10" dirty="0">
                <a:latin typeface="Calibri"/>
                <a:cs typeface="Calibri"/>
              </a:rPr>
              <a:t>Comparison:</a:t>
            </a:r>
            <a:endParaRPr sz="2800">
              <a:latin typeface="Calibri"/>
              <a:cs typeface="Calibri"/>
            </a:endParaRPr>
          </a:p>
          <a:p>
            <a:pPr marL="697230" lvl="1" indent="-227329">
              <a:lnSpc>
                <a:spcPct val="100000"/>
              </a:lnSpc>
              <a:spcBef>
                <a:spcPts val="235"/>
              </a:spcBef>
              <a:buFont typeface="Arial MT"/>
              <a:buChar char="•"/>
              <a:tabLst>
                <a:tab pos="697230" algn="l"/>
              </a:tabLst>
            </a:pPr>
            <a:r>
              <a:rPr sz="2400" dirty="0">
                <a:latin typeface="Calibri"/>
                <a:cs typeface="Calibri"/>
              </a:rPr>
              <a:t>Shares</a:t>
            </a:r>
            <a:r>
              <a:rPr sz="2400" spc="-55" dirty="0">
                <a:latin typeface="Calibri"/>
                <a:cs typeface="Calibri"/>
              </a:rPr>
              <a:t> </a:t>
            </a:r>
            <a:r>
              <a:rPr sz="2400" dirty="0">
                <a:latin typeface="Calibri"/>
                <a:cs typeface="Calibri"/>
              </a:rPr>
              <a:t>similarities</a:t>
            </a:r>
            <a:r>
              <a:rPr sz="2400" spc="-70" dirty="0">
                <a:latin typeface="Calibri"/>
                <a:cs typeface="Calibri"/>
              </a:rPr>
              <a:t> </a:t>
            </a:r>
            <a:r>
              <a:rPr sz="2400" dirty="0">
                <a:latin typeface="Calibri"/>
                <a:cs typeface="Calibri"/>
              </a:rPr>
              <a:t>with</a:t>
            </a:r>
            <a:r>
              <a:rPr sz="2400" spc="-65" dirty="0">
                <a:latin typeface="Calibri"/>
                <a:cs typeface="Calibri"/>
              </a:rPr>
              <a:t> </a:t>
            </a:r>
            <a:r>
              <a:rPr sz="2400" dirty="0">
                <a:latin typeface="Calibri"/>
                <a:cs typeface="Calibri"/>
              </a:rPr>
              <a:t>data</a:t>
            </a:r>
            <a:r>
              <a:rPr sz="2400" spc="-60" dirty="0">
                <a:latin typeface="Calibri"/>
                <a:cs typeface="Calibri"/>
              </a:rPr>
              <a:t> </a:t>
            </a:r>
            <a:r>
              <a:rPr sz="2400" dirty="0">
                <a:latin typeface="Calibri"/>
                <a:cs typeface="Calibri"/>
              </a:rPr>
              <a:t>mining</a:t>
            </a:r>
            <a:r>
              <a:rPr sz="2400" spc="-60" dirty="0">
                <a:latin typeface="Calibri"/>
                <a:cs typeface="Calibri"/>
              </a:rPr>
              <a:t> </a:t>
            </a:r>
            <a:r>
              <a:rPr sz="2400" dirty="0">
                <a:latin typeface="Calibri"/>
                <a:cs typeface="Calibri"/>
              </a:rPr>
              <a:t>(analyzing</a:t>
            </a:r>
            <a:r>
              <a:rPr sz="2400" spc="-65" dirty="0">
                <a:latin typeface="Calibri"/>
                <a:cs typeface="Calibri"/>
              </a:rPr>
              <a:t> </a:t>
            </a:r>
            <a:r>
              <a:rPr sz="2400" dirty="0">
                <a:latin typeface="Calibri"/>
                <a:cs typeface="Calibri"/>
              </a:rPr>
              <a:t>large</a:t>
            </a:r>
            <a:r>
              <a:rPr sz="2400" spc="-55" dirty="0">
                <a:latin typeface="Calibri"/>
                <a:cs typeface="Calibri"/>
              </a:rPr>
              <a:t> </a:t>
            </a:r>
            <a:r>
              <a:rPr sz="2400" spc="-10" dirty="0">
                <a:latin typeface="Calibri"/>
                <a:cs typeface="Calibri"/>
              </a:rPr>
              <a:t>datasets).</a:t>
            </a:r>
            <a:endParaRPr sz="2400">
              <a:latin typeface="Calibri"/>
              <a:cs typeface="Calibri"/>
            </a:endParaRPr>
          </a:p>
          <a:p>
            <a:pPr marL="240029" indent="-227329">
              <a:lnSpc>
                <a:spcPct val="100000"/>
              </a:lnSpc>
              <a:spcBef>
                <a:spcPts val="645"/>
              </a:spcBef>
              <a:buFont typeface="Arial MT"/>
              <a:buChar char="•"/>
              <a:tabLst>
                <a:tab pos="240029" algn="l"/>
              </a:tabLst>
            </a:pPr>
            <a:r>
              <a:rPr sz="2800" b="1" spc="-10" dirty="0">
                <a:latin typeface="Calibri"/>
                <a:cs typeface="Calibri"/>
              </a:rPr>
              <a:t>Focus:</a:t>
            </a:r>
            <a:endParaRPr sz="2800">
              <a:latin typeface="Calibri"/>
              <a:cs typeface="Calibri"/>
            </a:endParaRPr>
          </a:p>
          <a:p>
            <a:pPr marL="696595" marR="5080" lvl="1" indent="-227329">
              <a:lnSpc>
                <a:spcPts val="2590"/>
              </a:lnSpc>
              <a:spcBef>
                <a:spcPts val="560"/>
              </a:spcBef>
              <a:buFont typeface="Arial MT"/>
              <a:buChar char="•"/>
              <a:tabLst>
                <a:tab pos="697865" algn="l"/>
              </a:tabLst>
            </a:pPr>
            <a:r>
              <a:rPr sz="2400" dirty="0">
                <a:latin typeface="Calibri"/>
                <a:cs typeface="Calibri"/>
              </a:rPr>
              <a:t>Data</a:t>
            </a:r>
            <a:r>
              <a:rPr sz="2400" spc="-60" dirty="0">
                <a:latin typeface="Calibri"/>
                <a:cs typeface="Calibri"/>
              </a:rPr>
              <a:t> </a:t>
            </a:r>
            <a:r>
              <a:rPr sz="2400" dirty="0">
                <a:latin typeface="Calibri"/>
                <a:cs typeface="Calibri"/>
              </a:rPr>
              <a:t>mining</a:t>
            </a:r>
            <a:r>
              <a:rPr sz="2400" spc="-60" dirty="0">
                <a:latin typeface="Calibri"/>
                <a:cs typeface="Calibri"/>
              </a:rPr>
              <a:t> </a:t>
            </a:r>
            <a:r>
              <a:rPr sz="2400" spc="-10" dirty="0">
                <a:latin typeface="Calibri"/>
                <a:cs typeface="Calibri"/>
              </a:rPr>
              <a:t>discovers</a:t>
            </a:r>
            <a:r>
              <a:rPr sz="2400" spc="-45" dirty="0">
                <a:latin typeface="Calibri"/>
                <a:cs typeface="Calibri"/>
              </a:rPr>
              <a:t> </a:t>
            </a:r>
            <a:r>
              <a:rPr sz="2400" dirty="0">
                <a:latin typeface="Calibri"/>
                <a:cs typeface="Calibri"/>
              </a:rPr>
              <a:t>unknown</a:t>
            </a:r>
            <a:r>
              <a:rPr sz="2400" spc="-50" dirty="0">
                <a:latin typeface="Calibri"/>
                <a:cs typeface="Calibri"/>
              </a:rPr>
              <a:t> </a:t>
            </a:r>
            <a:r>
              <a:rPr sz="2400" spc="-10" dirty="0">
                <a:latin typeface="Calibri"/>
                <a:cs typeface="Calibri"/>
              </a:rPr>
              <a:t>patterns;</a:t>
            </a:r>
            <a:r>
              <a:rPr sz="2400" spc="-60" dirty="0">
                <a:latin typeface="Calibri"/>
                <a:cs typeface="Calibri"/>
              </a:rPr>
              <a:t> </a:t>
            </a:r>
            <a:r>
              <a:rPr sz="2400" dirty="0">
                <a:latin typeface="Calibri"/>
                <a:cs typeface="Calibri"/>
              </a:rPr>
              <a:t>ML</a:t>
            </a:r>
            <a:r>
              <a:rPr sz="2400" spc="-45" dirty="0">
                <a:latin typeface="Calibri"/>
                <a:cs typeface="Calibri"/>
              </a:rPr>
              <a:t> </a:t>
            </a:r>
            <a:r>
              <a:rPr sz="2400" dirty="0">
                <a:latin typeface="Calibri"/>
                <a:cs typeface="Calibri"/>
              </a:rPr>
              <a:t>uses</a:t>
            </a:r>
            <a:r>
              <a:rPr sz="2400" spc="-50" dirty="0">
                <a:latin typeface="Calibri"/>
                <a:cs typeface="Calibri"/>
              </a:rPr>
              <a:t> </a:t>
            </a:r>
            <a:r>
              <a:rPr sz="2400" spc="-10" dirty="0">
                <a:latin typeface="Calibri"/>
                <a:cs typeface="Calibri"/>
              </a:rPr>
              <a:t>patterns</a:t>
            </a:r>
            <a:r>
              <a:rPr sz="2400" spc="-60" dirty="0">
                <a:latin typeface="Calibri"/>
                <a:cs typeface="Calibri"/>
              </a:rPr>
              <a:t> </a:t>
            </a:r>
            <a:r>
              <a:rPr sz="2400" dirty="0">
                <a:latin typeface="Calibri"/>
                <a:cs typeface="Calibri"/>
              </a:rPr>
              <a:t>for</a:t>
            </a:r>
            <a:r>
              <a:rPr sz="2400" spc="-40" dirty="0">
                <a:latin typeface="Calibri"/>
                <a:cs typeface="Calibri"/>
              </a:rPr>
              <a:t> </a:t>
            </a:r>
            <a:r>
              <a:rPr sz="2400" spc="-10" dirty="0">
                <a:latin typeface="Calibri"/>
                <a:cs typeface="Calibri"/>
              </a:rPr>
              <a:t>predictions</a:t>
            </a:r>
            <a:r>
              <a:rPr sz="2400" spc="-70" dirty="0">
                <a:latin typeface="Calibri"/>
                <a:cs typeface="Calibri"/>
              </a:rPr>
              <a:t> </a:t>
            </a:r>
            <a:r>
              <a:rPr sz="2400" spc="-25" dirty="0">
                <a:latin typeface="Calibri"/>
                <a:cs typeface="Calibri"/>
              </a:rPr>
              <a:t>and 	</a:t>
            </a:r>
            <a:r>
              <a:rPr sz="2400" dirty="0">
                <a:latin typeface="Calibri"/>
                <a:cs typeface="Calibri"/>
              </a:rPr>
              <a:t>performance</a:t>
            </a:r>
            <a:r>
              <a:rPr sz="2400" spc="-95" dirty="0">
                <a:latin typeface="Calibri"/>
                <a:cs typeface="Calibri"/>
              </a:rPr>
              <a:t> </a:t>
            </a:r>
            <a:r>
              <a:rPr sz="2400" spc="-10" dirty="0">
                <a:latin typeface="Calibri"/>
                <a:cs typeface="Calibri"/>
              </a:rPr>
              <a:t>improvement.</a:t>
            </a:r>
            <a:endParaRPr sz="24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18</a:t>
            </a:fld>
            <a:endParaRPr spc="-25" dirty="0"/>
          </a:p>
        </p:txBody>
      </p:sp>
      <p:sp>
        <p:nvSpPr>
          <p:cNvPr id="2" name="object 2"/>
          <p:cNvSpPr txBox="1">
            <a:spLocks noGrp="1"/>
          </p:cNvSpPr>
          <p:nvPr>
            <p:ph type="title"/>
          </p:nvPr>
        </p:nvSpPr>
        <p:spPr>
          <a:prstGeom prst="rect">
            <a:avLst/>
          </a:prstGeom>
        </p:spPr>
        <p:txBody>
          <a:bodyPr vert="horz" wrap="square" lIns="0" tIns="523570" rIns="0" bIns="0" rtlCol="0">
            <a:spAutoFit/>
          </a:bodyPr>
          <a:lstStyle/>
          <a:p>
            <a:pPr marL="12700">
              <a:lnSpc>
                <a:spcPct val="100000"/>
              </a:lnSpc>
              <a:spcBef>
                <a:spcPts val="105"/>
              </a:spcBef>
            </a:pPr>
            <a:r>
              <a:rPr dirty="0"/>
              <a:t>Need</a:t>
            </a:r>
            <a:r>
              <a:rPr spc="-45" dirty="0"/>
              <a:t> </a:t>
            </a:r>
            <a:r>
              <a:rPr dirty="0"/>
              <a:t>for</a:t>
            </a:r>
            <a:r>
              <a:rPr spc="-45" dirty="0"/>
              <a:t> </a:t>
            </a:r>
            <a:r>
              <a:rPr dirty="0"/>
              <a:t>Machine</a:t>
            </a:r>
            <a:r>
              <a:rPr spc="-40" dirty="0"/>
              <a:t> </a:t>
            </a:r>
            <a:r>
              <a:rPr spc="-10" dirty="0"/>
              <a:t>Learning</a:t>
            </a:r>
          </a:p>
        </p:txBody>
      </p:sp>
      <p:sp>
        <p:nvSpPr>
          <p:cNvPr id="3" name="object 3"/>
          <p:cNvSpPr txBox="1"/>
          <p:nvPr/>
        </p:nvSpPr>
        <p:spPr>
          <a:xfrm>
            <a:off x="916939" y="1737106"/>
            <a:ext cx="9752330" cy="4041775"/>
          </a:xfrm>
          <a:prstGeom prst="rect">
            <a:avLst/>
          </a:prstGeom>
        </p:spPr>
        <p:txBody>
          <a:bodyPr vert="horz" wrap="square" lIns="0" tIns="13335" rIns="0" bIns="0" rtlCol="0">
            <a:spAutoFit/>
          </a:bodyPr>
          <a:lstStyle/>
          <a:p>
            <a:pPr marL="241300" indent="-228600">
              <a:lnSpc>
                <a:spcPct val="100000"/>
              </a:lnSpc>
              <a:spcBef>
                <a:spcPts val="105"/>
              </a:spcBef>
              <a:buFont typeface="Arial MT"/>
              <a:buChar char="•"/>
              <a:tabLst>
                <a:tab pos="241300" algn="l"/>
              </a:tabLst>
            </a:pPr>
            <a:r>
              <a:rPr sz="2600" b="1" dirty="0">
                <a:latin typeface="Calibri"/>
                <a:cs typeface="Calibri"/>
              </a:rPr>
              <a:t>Complex</a:t>
            </a:r>
            <a:r>
              <a:rPr sz="2600" b="1" spc="-100" dirty="0">
                <a:latin typeface="Calibri"/>
                <a:cs typeface="Calibri"/>
              </a:rPr>
              <a:t> </a:t>
            </a:r>
            <a:r>
              <a:rPr sz="2600" b="1" spc="-35" dirty="0">
                <a:latin typeface="Calibri"/>
                <a:cs typeface="Calibri"/>
              </a:rPr>
              <a:t>Task</a:t>
            </a:r>
            <a:r>
              <a:rPr sz="2600" b="1" spc="-95" dirty="0">
                <a:latin typeface="Calibri"/>
                <a:cs typeface="Calibri"/>
              </a:rPr>
              <a:t> </a:t>
            </a:r>
            <a:r>
              <a:rPr sz="2600" b="1" spc="-10" dirty="0">
                <a:latin typeface="Calibri"/>
                <a:cs typeface="Calibri"/>
              </a:rPr>
              <a:t>Automation</a:t>
            </a:r>
            <a:endParaRPr sz="2600">
              <a:latin typeface="Calibri"/>
              <a:cs typeface="Calibri"/>
            </a:endParaRPr>
          </a:p>
          <a:p>
            <a:pPr marL="241300" indent="-228600">
              <a:lnSpc>
                <a:spcPts val="2980"/>
              </a:lnSpc>
              <a:spcBef>
                <a:spcPts val="55"/>
              </a:spcBef>
              <a:buFont typeface="Arial MT"/>
              <a:buChar char="•"/>
              <a:tabLst>
                <a:tab pos="241300" algn="l"/>
              </a:tabLst>
            </a:pPr>
            <a:r>
              <a:rPr sz="2600" b="1" spc="-10" dirty="0">
                <a:latin typeface="Calibri"/>
                <a:cs typeface="Calibri"/>
              </a:rPr>
              <a:t>Demand:</a:t>
            </a:r>
            <a:endParaRPr sz="2600">
              <a:latin typeface="Calibri"/>
              <a:cs typeface="Calibri"/>
            </a:endParaRPr>
          </a:p>
          <a:p>
            <a:pPr marL="698500" lvl="1" indent="-228600">
              <a:lnSpc>
                <a:spcPts val="2500"/>
              </a:lnSpc>
              <a:buFont typeface="Arial MT"/>
              <a:buChar char="•"/>
              <a:tabLst>
                <a:tab pos="698500" algn="l"/>
              </a:tabLst>
            </a:pPr>
            <a:r>
              <a:rPr sz="2200" dirty="0">
                <a:latin typeface="Calibri"/>
                <a:cs typeface="Calibri"/>
              </a:rPr>
              <a:t>Handles</a:t>
            </a:r>
            <a:r>
              <a:rPr sz="2200" spc="-60" dirty="0">
                <a:latin typeface="Calibri"/>
                <a:cs typeface="Calibri"/>
              </a:rPr>
              <a:t> </a:t>
            </a:r>
            <a:r>
              <a:rPr sz="2200" dirty="0">
                <a:latin typeface="Calibri"/>
                <a:cs typeface="Calibri"/>
              </a:rPr>
              <a:t>tasks</a:t>
            </a:r>
            <a:r>
              <a:rPr sz="2200" spc="-65" dirty="0">
                <a:latin typeface="Calibri"/>
                <a:cs typeface="Calibri"/>
              </a:rPr>
              <a:t> </a:t>
            </a:r>
            <a:r>
              <a:rPr sz="2200" dirty="0">
                <a:latin typeface="Calibri"/>
                <a:cs typeface="Calibri"/>
              </a:rPr>
              <a:t>too</a:t>
            </a:r>
            <a:r>
              <a:rPr sz="2200" spc="-50" dirty="0">
                <a:latin typeface="Calibri"/>
                <a:cs typeface="Calibri"/>
              </a:rPr>
              <a:t> </a:t>
            </a:r>
            <a:r>
              <a:rPr sz="2200" dirty="0">
                <a:latin typeface="Calibri"/>
                <a:cs typeface="Calibri"/>
              </a:rPr>
              <a:t>complex</a:t>
            </a:r>
            <a:r>
              <a:rPr sz="2200" spc="-45" dirty="0">
                <a:latin typeface="Calibri"/>
                <a:cs typeface="Calibri"/>
              </a:rPr>
              <a:t> </a:t>
            </a:r>
            <a:r>
              <a:rPr sz="2200" dirty="0">
                <a:latin typeface="Calibri"/>
                <a:cs typeface="Calibri"/>
              </a:rPr>
              <a:t>for</a:t>
            </a:r>
            <a:r>
              <a:rPr sz="2200" spc="-60" dirty="0">
                <a:latin typeface="Calibri"/>
                <a:cs typeface="Calibri"/>
              </a:rPr>
              <a:t> </a:t>
            </a:r>
            <a:r>
              <a:rPr sz="2200" dirty="0">
                <a:latin typeface="Calibri"/>
                <a:cs typeface="Calibri"/>
              </a:rPr>
              <a:t>manual</a:t>
            </a:r>
            <a:r>
              <a:rPr sz="2200" spc="-70" dirty="0">
                <a:latin typeface="Calibri"/>
                <a:cs typeface="Calibri"/>
              </a:rPr>
              <a:t> </a:t>
            </a:r>
            <a:r>
              <a:rPr sz="2200" spc="-10" dirty="0">
                <a:latin typeface="Calibri"/>
                <a:cs typeface="Calibri"/>
              </a:rPr>
              <a:t>implementation.</a:t>
            </a:r>
            <a:endParaRPr sz="2200">
              <a:latin typeface="Calibri"/>
              <a:cs typeface="Calibri"/>
            </a:endParaRPr>
          </a:p>
          <a:p>
            <a:pPr marL="241300" indent="-228600">
              <a:lnSpc>
                <a:spcPts val="2980"/>
              </a:lnSpc>
              <a:spcBef>
                <a:spcPts val="60"/>
              </a:spcBef>
              <a:buFont typeface="Arial MT"/>
              <a:buChar char="•"/>
              <a:tabLst>
                <a:tab pos="241300" algn="l"/>
              </a:tabLst>
            </a:pPr>
            <a:r>
              <a:rPr sz="2600" b="1" spc="-10" dirty="0">
                <a:latin typeface="Calibri"/>
                <a:cs typeface="Calibri"/>
              </a:rPr>
              <a:t>Advantage:</a:t>
            </a:r>
            <a:endParaRPr sz="2600">
              <a:latin typeface="Calibri"/>
              <a:cs typeface="Calibri"/>
            </a:endParaRPr>
          </a:p>
          <a:p>
            <a:pPr marL="698500" lvl="1" indent="-228600">
              <a:lnSpc>
                <a:spcPts val="2500"/>
              </a:lnSpc>
              <a:buFont typeface="Arial MT"/>
              <a:buChar char="•"/>
              <a:tabLst>
                <a:tab pos="698500" algn="l"/>
              </a:tabLst>
            </a:pPr>
            <a:r>
              <a:rPr sz="2200" dirty="0">
                <a:latin typeface="Calibri"/>
                <a:cs typeface="Calibri"/>
              </a:rPr>
              <a:t>Processes</a:t>
            </a:r>
            <a:r>
              <a:rPr sz="2200" spc="-60" dirty="0">
                <a:latin typeface="Calibri"/>
                <a:cs typeface="Calibri"/>
              </a:rPr>
              <a:t> </a:t>
            </a:r>
            <a:r>
              <a:rPr sz="2200" dirty="0">
                <a:latin typeface="Calibri"/>
                <a:cs typeface="Calibri"/>
              </a:rPr>
              <a:t>vast</a:t>
            </a:r>
            <a:r>
              <a:rPr sz="2200" spc="-75" dirty="0">
                <a:latin typeface="Calibri"/>
                <a:cs typeface="Calibri"/>
              </a:rPr>
              <a:t> </a:t>
            </a:r>
            <a:r>
              <a:rPr sz="2200" dirty="0">
                <a:latin typeface="Calibri"/>
                <a:cs typeface="Calibri"/>
              </a:rPr>
              <a:t>amounts</a:t>
            </a:r>
            <a:r>
              <a:rPr sz="2200" spc="-65" dirty="0">
                <a:latin typeface="Calibri"/>
                <a:cs typeface="Calibri"/>
              </a:rPr>
              <a:t> </a:t>
            </a:r>
            <a:r>
              <a:rPr sz="2200" dirty="0">
                <a:latin typeface="Calibri"/>
                <a:cs typeface="Calibri"/>
              </a:rPr>
              <a:t>of</a:t>
            </a:r>
            <a:r>
              <a:rPr sz="2200" spc="-65" dirty="0">
                <a:latin typeface="Calibri"/>
                <a:cs typeface="Calibri"/>
              </a:rPr>
              <a:t> </a:t>
            </a:r>
            <a:r>
              <a:rPr sz="2200" dirty="0">
                <a:latin typeface="Calibri"/>
                <a:cs typeface="Calibri"/>
              </a:rPr>
              <a:t>data</a:t>
            </a:r>
            <a:r>
              <a:rPr sz="2200" spc="-70" dirty="0">
                <a:latin typeface="Calibri"/>
                <a:cs typeface="Calibri"/>
              </a:rPr>
              <a:t> </a:t>
            </a:r>
            <a:r>
              <a:rPr sz="2200" spc="-20" dirty="0">
                <a:latin typeface="Calibri"/>
                <a:cs typeface="Calibri"/>
              </a:rPr>
              <a:t>efficiently,</a:t>
            </a:r>
            <a:r>
              <a:rPr sz="2200" spc="-40" dirty="0">
                <a:latin typeface="Calibri"/>
                <a:cs typeface="Calibri"/>
              </a:rPr>
              <a:t> </a:t>
            </a:r>
            <a:r>
              <a:rPr sz="2200" spc="-10" dirty="0">
                <a:latin typeface="Calibri"/>
                <a:cs typeface="Calibri"/>
              </a:rPr>
              <a:t>overcoming</a:t>
            </a:r>
            <a:r>
              <a:rPr sz="2200" spc="-60" dirty="0">
                <a:latin typeface="Calibri"/>
                <a:cs typeface="Calibri"/>
              </a:rPr>
              <a:t> </a:t>
            </a:r>
            <a:r>
              <a:rPr sz="2200" dirty="0">
                <a:latin typeface="Calibri"/>
                <a:cs typeface="Calibri"/>
              </a:rPr>
              <a:t>human</a:t>
            </a:r>
            <a:r>
              <a:rPr sz="2200" spc="-70" dirty="0">
                <a:latin typeface="Calibri"/>
                <a:cs typeface="Calibri"/>
              </a:rPr>
              <a:t> </a:t>
            </a:r>
            <a:r>
              <a:rPr sz="2200" spc="-10" dirty="0">
                <a:latin typeface="Calibri"/>
                <a:cs typeface="Calibri"/>
              </a:rPr>
              <a:t>limitations.</a:t>
            </a:r>
            <a:endParaRPr sz="2200">
              <a:latin typeface="Calibri"/>
              <a:cs typeface="Calibri"/>
            </a:endParaRPr>
          </a:p>
          <a:p>
            <a:pPr lvl="1">
              <a:lnSpc>
                <a:spcPct val="100000"/>
              </a:lnSpc>
              <a:spcBef>
                <a:spcPts val="550"/>
              </a:spcBef>
              <a:buFont typeface="Arial MT"/>
              <a:buChar char="•"/>
            </a:pPr>
            <a:endParaRPr sz="2200">
              <a:latin typeface="Calibri"/>
              <a:cs typeface="Calibri"/>
            </a:endParaRPr>
          </a:p>
          <a:p>
            <a:pPr marL="241300" indent="-228600">
              <a:lnSpc>
                <a:spcPct val="100000"/>
              </a:lnSpc>
              <a:buFont typeface="Arial MT"/>
              <a:buChar char="•"/>
              <a:tabLst>
                <a:tab pos="241300" algn="l"/>
              </a:tabLst>
            </a:pPr>
            <a:r>
              <a:rPr sz="2600" b="1" dirty="0">
                <a:latin typeface="Calibri"/>
                <a:cs typeface="Calibri"/>
              </a:rPr>
              <a:t>Data</a:t>
            </a:r>
            <a:r>
              <a:rPr sz="2600" b="1" spc="-85" dirty="0">
                <a:latin typeface="Calibri"/>
                <a:cs typeface="Calibri"/>
              </a:rPr>
              <a:t> </a:t>
            </a:r>
            <a:r>
              <a:rPr sz="2600" b="1" dirty="0">
                <a:latin typeface="Calibri"/>
                <a:cs typeface="Calibri"/>
              </a:rPr>
              <a:t>Handling</a:t>
            </a:r>
            <a:r>
              <a:rPr sz="2600" b="1" spc="-75" dirty="0">
                <a:latin typeface="Calibri"/>
                <a:cs typeface="Calibri"/>
              </a:rPr>
              <a:t> </a:t>
            </a:r>
            <a:r>
              <a:rPr sz="2600" b="1" spc="-10" dirty="0">
                <a:latin typeface="Calibri"/>
                <a:cs typeface="Calibri"/>
              </a:rPr>
              <a:t>Capabilities</a:t>
            </a:r>
            <a:endParaRPr sz="2600">
              <a:latin typeface="Calibri"/>
              <a:cs typeface="Calibri"/>
            </a:endParaRPr>
          </a:p>
          <a:p>
            <a:pPr marL="241300" indent="-228600">
              <a:lnSpc>
                <a:spcPts val="2970"/>
              </a:lnSpc>
              <a:spcBef>
                <a:spcPts val="75"/>
              </a:spcBef>
              <a:buFont typeface="Arial MT"/>
              <a:buChar char="•"/>
              <a:tabLst>
                <a:tab pos="241300" algn="l"/>
              </a:tabLst>
            </a:pPr>
            <a:r>
              <a:rPr sz="2600" b="1" dirty="0">
                <a:latin typeface="Calibri"/>
                <a:cs typeface="Calibri"/>
              </a:rPr>
              <a:t>Human </a:t>
            </a:r>
            <a:r>
              <a:rPr sz="2600" b="1" spc="-10" dirty="0">
                <a:latin typeface="Calibri"/>
                <a:cs typeface="Calibri"/>
              </a:rPr>
              <a:t>Limitations:</a:t>
            </a:r>
            <a:endParaRPr sz="2600">
              <a:latin typeface="Calibri"/>
              <a:cs typeface="Calibri"/>
            </a:endParaRPr>
          </a:p>
          <a:p>
            <a:pPr marL="698500" lvl="1" indent="-228600">
              <a:lnSpc>
                <a:spcPts val="2490"/>
              </a:lnSpc>
              <a:buFont typeface="Arial MT"/>
              <a:buChar char="•"/>
              <a:tabLst>
                <a:tab pos="698500" algn="l"/>
              </a:tabLst>
            </a:pPr>
            <a:r>
              <a:rPr sz="2200" dirty="0">
                <a:latin typeface="Calibri"/>
                <a:cs typeface="Calibri"/>
              </a:rPr>
              <a:t>Manual</a:t>
            </a:r>
            <a:r>
              <a:rPr sz="2200" spc="-65" dirty="0">
                <a:latin typeface="Calibri"/>
                <a:cs typeface="Calibri"/>
              </a:rPr>
              <a:t> </a:t>
            </a:r>
            <a:r>
              <a:rPr sz="2200" dirty="0">
                <a:latin typeface="Calibri"/>
                <a:cs typeface="Calibri"/>
              </a:rPr>
              <a:t>access</a:t>
            </a:r>
            <a:r>
              <a:rPr sz="2200" spc="-30" dirty="0">
                <a:latin typeface="Calibri"/>
                <a:cs typeface="Calibri"/>
              </a:rPr>
              <a:t> </a:t>
            </a:r>
            <a:r>
              <a:rPr sz="2200" dirty="0">
                <a:latin typeface="Calibri"/>
                <a:cs typeface="Calibri"/>
              </a:rPr>
              <a:t>and</a:t>
            </a:r>
            <a:r>
              <a:rPr sz="2200" spc="-50" dirty="0">
                <a:latin typeface="Calibri"/>
                <a:cs typeface="Calibri"/>
              </a:rPr>
              <a:t> </a:t>
            </a:r>
            <a:r>
              <a:rPr sz="2200" dirty="0">
                <a:latin typeface="Calibri"/>
                <a:cs typeface="Calibri"/>
              </a:rPr>
              <a:t>analysis</a:t>
            </a:r>
            <a:r>
              <a:rPr sz="2200" spc="-55" dirty="0">
                <a:latin typeface="Calibri"/>
                <a:cs typeface="Calibri"/>
              </a:rPr>
              <a:t> </a:t>
            </a:r>
            <a:r>
              <a:rPr sz="2200" dirty="0">
                <a:latin typeface="Calibri"/>
                <a:cs typeface="Calibri"/>
              </a:rPr>
              <a:t>of</a:t>
            </a:r>
            <a:r>
              <a:rPr sz="2200" spc="-35" dirty="0">
                <a:latin typeface="Calibri"/>
                <a:cs typeface="Calibri"/>
              </a:rPr>
              <a:t> </a:t>
            </a:r>
            <a:r>
              <a:rPr sz="2200" dirty="0">
                <a:latin typeface="Calibri"/>
                <a:cs typeface="Calibri"/>
              </a:rPr>
              <a:t>enormous</a:t>
            </a:r>
            <a:r>
              <a:rPr sz="2200" spc="-40" dirty="0">
                <a:latin typeface="Calibri"/>
                <a:cs typeface="Calibri"/>
              </a:rPr>
              <a:t> </a:t>
            </a:r>
            <a:r>
              <a:rPr sz="2200" dirty="0">
                <a:latin typeface="Calibri"/>
                <a:cs typeface="Calibri"/>
              </a:rPr>
              <a:t>datasets</a:t>
            </a:r>
            <a:r>
              <a:rPr sz="2200" spc="-40" dirty="0">
                <a:latin typeface="Calibri"/>
                <a:cs typeface="Calibri"/>
              </a:rPr>
              <a:t> </a:t>
            </a:r>
            <a:r>
              <a:rPr sz="2200" dirty="0">
                <a:latin typeface="Calibri"/>
                <a:cs typeface="Calibri"/>
              </a:rPr>
              <a:t>is</a:t>
            </a:r>
            <a:r>
              <a:rPr sz="2200" spc="-45" dirty="0">
                <a:latin typeface="Calibri"/>
                <a:cs typeface="Calibri"/>
              </a:rPr>
              <a:t> </a:t>
            </a:r>
            <a:r>
              <a:rPr sz="2200" spc="-10" dirty="0">
                <a:latin typeface="Calibri"/>
                <a:cs typeface="Calibri"/>
              </a:rPr>
              <a:t>impractical.</a:t>
            </a:r>
            <a:endParaRPr sz="2200">
              <a:latin typeface="Calibri"/>
              <a:cs typeface="Calibri"/>
            </a:endParaRPr>
          </a:p>
          <a:p>
            <a:pPr marL="241300" indent="-228600">
              <a:lnSpc>
                <a:spcPts val="2970"/>
              </a:lnSpc>
              <a:spcBef>
                <a:spcPts val="70"/>
              </a:spcBef>
              <a:buFont typeface="Arial MT"/>
              <a:buChar char="•"/>
              <a:tabLst>
                <a:tab pos="241300" algn="l"/>
              </a:tabLst>
            </a:pPr>
            <a:r>
              <a:rPr sz="2600" b="1" dirty="0">
                <a:latin typeface="Calibri"/>
                <a:cs typeface="Calibri"/>
              </a:rPr>
              <a:t>ML </a:t>
            </a:r>
            <a:r>
              <a:rPr sz="2600" b="1" spc="-10" dirty="0">
                <a:latin typeface="Calibri"/>
                <a:cs typeface="Calibri"/>
              </a:rPr>
              <a:t>Advantage:</a:t>
            </a:r>
            <a:endParaRPr sz="2600">
              <a:latin typeface="Calibri"/>
              <a:cs typeface="Calibri"/>
            </a:endParaRPr>
          </a:p>
          <a:p>
            <a:pPr marL="698500" lvl="1" indent="-228600">
              <a:lnSpc>
                <a:spcPts val="2490"/>
              </a:lnSpc>
              <a:buFont typeface="Arial MT"/>
              <a:buChar char="•"/>
              <a:tabLst>
                <a:tab pos="698500" algn="l"/>
              </a:tabLst>
            </a:pPr>
            <a:r>
              <a:rPr sz="2200" spc="-10" dirty="0">
                <a:latin typeface="Calibri"/>
                <a:cs typeface="Calibri"/>
              </a:rPr>
              <a:t>Automatically</a:t>
            </a:r>
            <a:r>
              <a:rPr sz="2200" spc="-50" dirty="0">
                <a:latin typeface="Calibri"/>
                <a:cs typeface="Calibri"/>
              </a:rPr>
              <a:t> </a:t>
            </a:r>
            <a:r>
              <a:rPr sz="2200" dirty="0">
                <a:latin typeface="Calibri"/>
                <a:cs typeface="Calibri"/>
              </a:rPr>
              <a:t>explores,</a:t>
            </a:r>
            <a:r>
              <a:rPr sz="2200" spc="-65" dirty="0">
                <a:latin typeface="Calibri"/>
                <a:cs typeface="Calibri"/>
              </a:rPr>
              <a:t> </a:t>
            </a:r>
            <a:r>
              <a:rPr sz="2200" dirty="0">
                <a:latin typeface="Calibri"/>
                <a:cs typeface="Calibri"/>
              </a:rPr>
              <a:t>analyzes,</a:t>
            </a:r>
            <a:r>
              <a:rPr sz="2200" spc="-45" dirty="0">
                <a:latin typeface="Calibri"/>
                <a:cs typeface="Calibri"/>
              </a:rPr>
              <a:t> </a:t>
            </a:r>
            <a:r>
              <a:rPr sz="2200" dirty="0">
                <a:latin typeface="Calibri"/>
                <a:cs typeface="Calibri"/>
              </a:rPr>
              <a:t>and</a:t>
            </a:r>
            <a:r>
              <a:rPr sz="2200" spc="-80" dirty="0">
                <a:latin typeface="Calibri"/>
                <a:cs typeface="Calibri"/>
              </a:rPr>
              <a:t> </a:t>
            </a:r>
            <a:r>
              <a:rPr sz="2200" dirty="0">
                <a:latin typeface="Calibri"/>
                <a:cs typeface="Calibri"/>
              </a:rPr>
              <a:t>builds</a:t>
            </a:r>
            <a:r>
              <a:rPr sz="2200" spc="-70" dirty="0">
                <a:latin typeface="Calibri"/>
                <a:cs typeface="Calibri"/>
              </a:rPr>
              <a:t> </a:t>
            </a:r>
            <a:r>
              <a:rPr sz="2200" dirty="0">
                <a:latin typeface="Calibri"/>
                <a:cs typeface="Calibri"/>
              </a:rPr>
              <a:t>models</a:t>
            </a:r>
            <a:r>
              <a:rPr sz="2200" spc="-55" dirty="0">
                <a:latin typeface="Calibri"/>
                <a:cs typeface="Calibri"/>
              </a:rPr>
              <a:t> </a:t>
            </a:r>
            <a:r>
              <a:rPr sz="2200" dirty="0">
                <a:latin typeface="Calibri"/>
                <a:cs typeface="Calibri"/>
              </a:rPr>
              <a:t>from</a:t>
            </a:r>
            <a:r>
              <a:rPr sz="2200" spc="-70" dirty="0">
                <a:latin typeface="Calibri"/>
                <a:cs typeface="Calibri"/>
              </a:rPr>
              <a:t> </a:t>
            </a:r>
            <a:r>
              <a:rPr sz="2200" dirty="0">
                <a:latin typeface="Calibri"/>
                <a:cs typeface="Calibri"/>
              </a:rPr>
              <a:t>large</a:t>
            </a:r>
            <a:r>
              <a:rPr sz="2200" spc="-65" dirty="0">
                <a:latin typeface="Calibri"/>
                <a:cs typeface="Calibri"/>
              </a:rPr>
              <a:t> </a:t>
            </a:r>
            <a:r>
              <a:rPr sz="2200" dirty="0">
                <a:latin typeface="Calibri"/>
                <a:cs typeface="Calibri"/>
              </a:rPr>
              <a:t>volumes</a:t>
            </a:r>
            <a:r>
              <a:rPr sz="2200" spc="-65" dirty="0">
                <a:latin typeface="Calibri"/>
                <a:cs typeface="Calibri"/>
              </a:rPr>
              <a:t> </a:t>
            </a:r>
            <a:r>
              <a:rPr sz="2200" dirty="0">
                <a:latin typeface="Calibri"/>
                <a:cs typeface="Calibri"/>
              </a:rPr>
              <a:t>of</a:t>
            </a:r>
            <a:r>
              <a:rPr sz="2200" spc="-60" dirty="0">
                <a:latin typeface="Calibri"/>
                <a:cs typeface="Calibri"/>
              </a:rPr>
              <a:t> </a:t>
            </a:r>
            <a:r>
              <a:rPr sz="2200" spc="-10" dirty="0">
                <a:latin typeface="Calibri"/>
                <a:cs typeface="Calibri"/>
              </a:rPr>
              <a:t>data.</a:t>
            </a:r>
            <a:endParaRPr sz="22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19</a:t>
            </a:fld>
            <a:endParaRPr spc="-25" dirty="0"/>
          </a:p>
        </p:txBody>
      </p:sp>
      <p:sp>
        <p:nvSpPr>
          <p:cNvPr id="2" name="object 2"/>
          <p:cNvSpPr txBox="1"/>
          <p:nvPr/>
        </p:nvSpPr>
        <p:spPr>
          <a:xfrm>
            <a:off x="483819" y="183664"/>
            <a:ext cx="9836785" cy="5782945"/>
          </a:xfrm>
          <a:prstGeom prst="rect">
            <a:avLst/>
          </a:prstGeom>
        </p:spPr>
        <p:txBody>
          <a:bodyPr vert="horz" wrap="square" lIns="0" tIns="97790" rIns="0" bIns="0" rtlCol="0">
            <a:spAutoFit/>
          </a:bodyPr>
          <a:lstStyle/>
          <a:p>
            <a:pPr marL="240029" indent="-227329">
              <a:lnSpc>
                <a:spcPct val="100000"/>
              </a:lnSpc>
              <a:spcBef>
                <a:spcPts val="770"/>
              </a:spcBef>
              <a:buFont typeface="Arial MT"/>
              <a:buChar char="•"/>
              <a:tabLst>
                <a:tab pos="240029" algn="l"/>
              </a:tabLst>
            </a:pPr>
            <a:r>
              <a:rPr sz="2800" b="1" dirty="0">
                <a:latin typeface="Calibri"/>
                <a:cs typeface="Calibri"/>
              </a:rPr>
              <a:t>Cost</a:t>
            </a:r>
            <a:r>
              <a:rPr sz="2800" b="1" spc="-65" dirty="0">
                <a:latin typeface="Calibri"/>
                <a:cs typeface="Calibri"/>
              </a:rPr>
              <a:t> </a:t>
            </a:r>
            <a:r>
              <a:rPr sz="2800" b="1" dirty="0">
                <a:latin typeface="Calibri"/>
                <a:cs typeface="Calibri"/>
              </a:rPr>
              <a:t>and</a:t>
            </a:r>
            <a:r>
              <a:rPr sz="2800" b="1" spc="-65" dirty="0">
                <a:latin typeface="Calibri"/>
                <a:cs typeface="Calibri"/>
              </a:rPr>
              <a:t> </a:t>
            </a:r>
            <a:r>
              <a:rPr sz="2800" b="1" dirty="0">
                <a:latin typeface="Calibri"/>
                <a:cs typeface="Calibri"/>
              </a:rPr>
              <a:t>Time</a:t>
            </a:r>
            <a:r>
              <a:rPr sz="2800" b="1" spc="-50" dirty="0">
                <a:latin typeface="Calibri"/>
                <a:cs typeface="Calibri"/>
              </a:rPr>
              <a:t> </a:t>
            </a:r>
            <a:r>
              <a:rPr sz="2800" b="1" spc="-10" dirty="0">
                <a:latin typeface="Calibri"/>
                <a:cs typeface="Calibri"/>
              </a:rPr>
              <a:t>Efficiency</a:t>
            </a:r>
            <a:endParaRPr sz="2800">
              <a:latin typeface="Calibri"/>
              <a:cs typeface="Calibri"/>
            </a:endParaRPr>
          </a:p>
          <a:p>
            <a:pPr marL="240029" indent="-227329">
              <a:lnSpc>
                <a:spcPct val="100000"/>
              </a:lnSpc>
              <a:spcBef>
                <a:spcPts val="670"/>
              </a:spcBef>
              <a:buFont typeface="Arial MT"/>
              <a:buChar char="•"/>
              <a:tabLst>
                <a:tab pos="240029" algn="l"/>
              </a:tabLst>
            </a:pPr>
            <a:r>
              <a:rPr sz="2800" b="1" spc="-10" dirty="0">
                <a:latin typeface="Calibri"/>
                <a:cs typeface="Calibri"/>
              </a:rPr>
              <a:t>Benefits:</a:t>
            </a:r>
            <a:endParaRPr sz="2800">
              <a:latin typeface="Calibri"/>
              <a:cs typeface="Calibri"/>
            </a:endParaRPr>
          </a:p>
          <a:p>
            <a:pPr marL="697230" lvl="1" indent="-227329">
              <a:lnSpc>
                <a:spcPct val="100000"/>
              </a:lnSpc>
              <a:spcBef>
                <a:spcPts val="235"/>
              </a:spcBef>
              <a:buFont typeface="Arial MT"/>
              <a:buChar char="•"/>
              <a:tabLst>
                <a:tab pos="697230" algn="l"/>
              </a:tabLst>
            </a:pPr>
            <a:r>
              <a:rPr sz="2400" dirty="0">
                <a:latin typeface="Calibri"/>
                <a:cs typeface="Calibri"/>
              </a:rPr>
              <a:t>Saves</a:t>
            </a:r>
            <a:r>
              <a:rPr sz="2400" spc="-60" dirty="0">
                <a:latin typeface="Calibri"/>
                <a:cs typeface="Calibri"/>
              </a:rPr>
              <a:t> </a:t>
            </a:r>
            <a:r>
              <a:rPr sz="2400" dirty="0">
                <a:latin typeface="Calibri"/>
                <a:cs typeface="Calibri"/>
              </a:rPr>
              <a:t>time</a:t>
            </a:r>
            <a:r>
              <a:rPr sz="2400" spc="-70" dirty="0">
                <a:latin typeface="Calibri"/>
                <a:cs typeface="Calibri"/>
              </a:rPr>
              <a:t> </a:t>
            </a:r>
            <a:r>
              <a:rPr sz="2400" dirty="0">
                <a:latin typeface="Calibri"/>
                <a:cs typeface="Calibri"/>
              </a:rPr>
              <a:t>and</a:t>
            </a:r>
            <a:r>
              <a:rPr sz="2400" spc="-55" dirty="0">
                <a:latin typeface="Calibri"/>
                <a:cs typeface="Calibri"/>
              </a:rPr>
              <a:t> </a:t>
            </a:r>
            <a:r>
              <a:rPr sz="2400" dirty="0">
                <a:latin typeface="Calibri"/>
                <a:cs typeface="Calibri"/>
              </a:rPr>
              <a:t>money</a:t>
            </a:r>
            <a:r>
              <a:rPr sz="2400" spc="-60" dirty="0">
                <a:latin typeface="Calibri"/>
                <a:cs typeface="Calibri"/>
              </a:rPr>
              <a:t> </a:t>
            </a:r>
            <a:r>
              <a:rPr sz="2400" dirty="0">
                <a:latin typeface="Calibri"/>
                <a:cs typeface="Calibri"/>
              </a:rPr>
              <a:t>through</a:t>
            </a:r>
            <a:r>
              <a:rPr sz="2400" spc="-55" dirty="0">
                <a:latin typeface="Calibri"/>
                <a:cs typeface="Calibri"/>
              </a:rPr>
              <a:t> </a:t>
            </a:r>
            <a:r>
              <a:rPr sz="2400" spc="-10" dirty="0">
                <a:latin typeface="Calibri"/>
                <a:cs typeface="Calibri"/>
              </a:rPr>
              <a:t>automation.</a:t>
            </a:r>
            <a:endParaRPr sz="2400">
              <a:latin typeface="Calibri"/>
              <a:cs typeface="Calibri"/>
            </a:endParaRPr>
          </a:p>
          <a:p>
            <a:pPr marL="240029" indent="-227329">
              <a:lnSpc>
                <a:spcPct val="100000"/>
              </a:lnSpc>
              <a:spcBef>
                <a:spcPts val="645"/>
              </a:spcBef>
              <a:buFont typeface="Arial MT"/>
              <a:buChar char="•"/>
              <a:tabLst>
                <a:tab pos="240029" algn="l"/>
              </a:tabLst>
            </a:pPr>
            <a:r>
              <a:rPr sz="2800" b="1" spc="-10" dirty="0">
                <a:latin typeface="Calibri"/>
                <a:cs typeface="Calibri"/>
              </a:rPr>
              <a:t>Outcome:</a:t>
            </a:r>
            <a:endParaRPr sz="2800">
              <a:latin typeface="Calibri"/>
              <a:cs typeface="Calibri"/>
            </a:endParaRPr>
          </a:p>
          <a:p>
            <a:pPr marL="697230" lvl="1" indent="-227329">
              <a:lnSpc>
                <a:spcPct val="100000"/>
              </a:lnSpc>
              <a:spcBef>
                <a:spcPts val="229"/>
              </a:spcBef>
              <a:buFont typeface="Arial MT"/>
              <a:buChar char="•"/>
              <a:tabLst>
                <a:tab pos="697230" algn="l"/>
              </a:tabLst>
            </a:pPr>
            <a:r>
              <a:rPr sz="2400" dirty="0">
                <a:latin typeface="Calibri"/>
                <a:cs typeface="Calibri"/>
              </a:rPr>
              <a:t>Reduces</a:t>
            </a:r>
            <a:r>
              <a:rPr sz="2400" spc="-65" dirty="0">
                <a:latin typeface="Calibri"/>
                <a:cs typeface="Calibri"/>
              </a:rPr>
              <a:t> </a:t>
            </a:r>
            <a:r>
              <a:rPr sz="2400" dirty="0">
                <a:latin typeface="Calibri"/>
                <a:cs typeface="Calibri"/>
              </a:rPr>
              <a:t>need</a:t>
            </a:r>
            <a:r>
              <a:rPr sz="2400" spc="-55" dirty="0">
                <a:latin typeface="Calibri"/>
                <a:cs typeface="Calibri"/>
              </a:rPr>
              <a:t> </a:t>
            </a:r>
            <a:r>
              <a:rPr sz="2400" dirty="0">
                <a:latin typeface="Calibri"/>
                <a:cs typeface="Calibri"/>
              </a:rPr>
              <a:t>for</a:t>
            </a:r>
            <a:r>
              <a:rPr sz="2400" spc="-55" dirty="0">
                <a:latin typeface="Calibri"/>
                <a:cs typeface="Calibri"/>
              </a:rPr>
              <a:t> </a:t>
            </a:r>
            <a:r>
              <a:rPr sz="2400" dirty="0">
                <a:latin typeface="Calibri"/>
                <a:cs typeface="Calibri"/>
              </a:rPr>
              <a:t>manual</a:t>
            </a:r>
            <a:r>
              <a:rPr sz="2400" spc="-65" dirty="0">
                <a:latin typeface="Calibri"/>
                <a:cs typeface="Calibri"/>
              </a:rPr>
              <a:t> </a:t>
            </a:r>
            <a:r>
              <a:rPr sz="2400" spc="-10" dirty="0">
                <a:latin typeface="Calibri"/>
                <a:cs typeface="Calibri"/>
              </a:rPr>
              <a:t>intervention,</a:t>
            </a:r>
            <a:r>
              <a:rPr sz="2400" spc="-55" dirty="0">
                <a:latin typeface="Calibri"/>
                <a:cs typeface="Calibri"/>
              </a:rPr>
              <a:t> </a:t>
            </a:r>
            <a:r>
              <a:rPr sz="2400" dirty="0">
                <a:latin typeface="Calibri"/>
                <a:cs typeface="Calibri"/>
              </a:rPr>
              <a:t>enhancing</a:t>
            </a:r>
            <a:r>
              <a:rPr sz="2400" spc="-70" dirty="0">
                <a:latin typeface="Calibri"/>
                <a:cs typeface="Calibri"/>
              </a:rPr>
              <a:t> </a:t>
            </a:r>
            <a:r>
              <a:rPr sz="2400" dirty="0">
                <a:latin typeface="Calibri"/>
                <a:cs typeface="Calibri"/>
              </a:rPr>
              <a:t>operational</a:t>
            </a:r>
            <a:r>
              <a:rPr sz="2400" spc="-55" dirty="0">
                <a:latin typeface="Calibri"/>
                <a:cs typeface="Calibri"/>
              </a:rPr>
              <a:t> </a:t>
            </a:r>
            <a:r>
              <a:rPr sz="2400" spc="-10" dirty="0">
                <a:latin typeface="Calibri"/>
                <a:cs typeface="Calibri"/>
              </a:rPr>
              <a:t>efficiency.</a:t>
            </a:r>
            <a:endParaRPr sz="2400">
              <a:latin typeface="Calibri"/>
              <a:cs typeface="Calibri"/>
            </a:endParaRPr>
          </a:p>
          <a:p>
            <a:pPr lvl="1">
              <a:lnSpc>
                <a:spcPct val="100000"/>
              </a:lnSpc>
              <a:spcBef>
                <a:spcPts val="1735"/>
              </a:spcBef>
              <a:buFont typeface="Arial MT"/>
              <a:buChar char="•"/>
            </a:pPr>
            <a:endParaRPr sz="2400">
              <a:latin typeface="Calibri"/>
              <a:cs typeface="Calibri"/>
            </a:endParaRPr>
          </a:p>
          <a:p>
            <a:pPr marL="240029" indent="-227329">
              <a:lnSpc>
                <a:spcPct val="100000"/>
              </a:lnSpc>
              <a:spcBef>
                <a:spcPts val="5"/>
              </a:spcBef>
              <a:buFont typeface="Arial MT"/>
              <a:buChar char="•"/>
              <a:tabLst>
                <a:tab pos="240029" algn="l"/>
              </a:tabLst>
            </a:pPr>
            <a:r>
              <a:rPr sz="2800" b="1" spc="-30" dirty="0">
                <a:latin typeface="Calibri"/>
                <a:cs typeface="Calibri"/>
              </a:rPr>
              <a:t>Real-</a:t>
            </a:r>
            <a:r>
              <a:rPr sz="2800" b="1" dirty="0">
                <a:latin typeface="Calibri"/>
                <a:cs typeface="Calibri"/>
              </a:rPr>
              <a:t>World</a:t>
            </a:r>
            <a:r>
              <a:rPr sz="2800" b="1" spc="-105" dirty="0">
                <a:latin typeface="Calibri"/>
                <a:cs typeface="Calibri"/>
              </a:rPr>
              <a:t> </a:t>
            </a:r>
            <a:r>
              <a:rPr sz="2800" b="1" spc="-10" dirty="0">
                <a:latin typeface="Calibri"/>
                <a:cs typeface="Calibri"/>
              </a:rPr>
              <a:t>Applications</a:t>
            </a:r>
            <a:endParaRPr sz="2800">
              <a:latin typeface="Calibri"/>
              <a:cs typeface="Calibri"/>
            </a:endParaRPr>
          </a:p>
          <a:p>
            <a:pPr marL="240029" indent="-227329">
              <a:lnSpc>
                <a:spcPct val="100000"/>
              </a:lnSpc>
              <a:spcBef>
                <a:spcPts val="660"/>
              </a:spcBef>
              <a:buFont typeface="Arial MT"/>
              <a:buChar char="•"/>
              <a:tabLst>
                <a:tab pos="240029" algn="l"/>
              </a:tabLst>
            </a:pPr>
            <a:r>
              <a:rPr sz="2800" b="1" spc="-10" dirty="0">
                <a:latin typeface="Calibri"/>
                <a:cs typeface="Calibri"/>
              </a:rPr>
              <a:t>Examples:</a:t>
            </a:r>
            <a:endParaRPr sz="2800">
              <a:latin typeface="Calibri"/>
              <a:cs typeface="Calibri"/>
            </a:endParaRPr>
          </a:p>
          <a:p>
            <a:pPr marL="697230" lvl="1" indent="-227329">
              <a:lnSpc>
                <a:spcPct val="100000"/>
              </a:lnSpc>
              <a:spcBef>
                <a:spcPts val="240"/>
              </a:spcBef>
              <a:buFont typeface="Arial MT"/>
              <a:buChar char="•"/>
              <a:tabLst>
                <a:tab pos="697230" algn="l"/>
              </a:tabLst>
            </a:pPr>
            <a:r>
              <a:rPr sz="2400" b="1" spc="-10" dirty="0">
                <a:latin typeface="Calibri"/>
                <a:cs typeface="Calibri"/>
              </a:rPr>
              <a:t>Self-</a:t>
            </a:r>
            <a:r>
              <a:rPr sz="2400" b="1" dirty="0">
                <a:latin typeface="Calibri"/>
                <a:cs typeface="Calibri"/>
              </a:rPr>
              <a:t>Driving</a:t>
            </a:r>
            <a:r>
              <a:rPr sz="2400" b="1" spc="-45" dirty="0">
                <a:latin typeface="Calibri"/>
                <a:cs typeface="Calibri"/>
              </a:rPr>
              <a:t> </a:t>
            </a:r>
            <a:r>
              <a:rPr sz="2400" b="1" spc="-10" dirty="0">
                <a:latin typeface="Calibri"/>
                <a:cs typeface="Calibri"/>
              </a:rPr>
              <a:t>Vehicles:</a:t>
            </a:r>
            <a:r>
              <a:rPr sz="2400" b="1" spc="-45" dirty="0">
                <a:latin typeface="Calibri"/>
                <a:cs typeface="Calibri"/>
              </a:rPr>
              <a:t> </a:t>
            </a:r>
            <a:r>
              <a:rPr sz="2400" spc="-10" dirty="0">
                <a:latin typeface="Calibri"/>
                <a:cs typeface="Calibri"/>
              </a:rPr>
              <a:t>Interpreting</a:t>
            </a:r>
            <a:r>
              <a:rPr sz="2400" spc="-65" dirty="0">
                <a:latin typeface="Calibri"/>
                <a:cs typeface="Calibri"/>
              </a:rPr>
              <a:t> </a:t>
            </a:r>
            <a:r>
              <a:rPr sz="2400" dirty="0">
                <a:latin typeface="Calibri"/>
                <a:cs typeface="Calibri"/>
              </a:rPr>
              <a:t>sensor</a:t>
            </a:r>
            <a:r>
              <a:rPr sz="2400" spc="-45" dirty="0">
                <a:latin typeface="Calibri"/>
                <a:cs typeface="Calibri"/>
              </a:rPr>
              <a:t> </a:t>
            </a:r>
            <a:r>
              <a:rPr sz="2400" dirty="0">
                <a:latin typeface="Calibri"/>
                <a:cs typeface="Calibri"/>
              </a:rPr>
              <a:t>data</a:t>
            </a:r>
            <a:r>
              <a:rPr sz="2400" spc="-55" dirty="0">
                <a:latin typeface="Calibri"/>
                <a:cs typeface="Calibri"/>
              </a:rPr>
              <a:t> </a:t>
            </a:r>
            <a:r>
              <a:rPr sz="2400" dirty="0">
                <a:latin typeface="Calibri"/>
                <a:cs typeface="Calibri"/>
              </a:rPr>
              <a:t>for</a:t>
            </a:r>
            <a:r>
              <a:rPr sz="2400" spc="-50" dirty="0">
                <a:latin typeface="Calibri"/>
                <a:cs typeface="Calibri"/>
              </a:rPr>
              <a:t> </a:t>
            </a:r>
            <a:r>
              <a:rPr sz="2400" dirty="0">
                <a:latin typeface="Calibri"/>
                <a:cs typeface="Calibri"/>
              </a:rPr>
              <a:t>driving</a:t>
            </a:r>
            <a:r>
              <a:rPr sz="2400" spc="-45" dirty="0">
                <a:latin typeface="Calibri"/>
                <a:cs typeface="Calibri"/>
              </a:rPr>
              <a:t> </a:t>
            </a:r>
            <a:r>
              <a:rPr sz="2400" spc="-10" dirty="0">
                <a:latin typeface="Calibri"/>
                <a:cs typeface="Calibri"/>
              </a:rPr>
              <a:t>decisions.</a:t>
            </a:r>
            <a:endParaRPr sz="2400">
              <a:latin typeface="Calibri"/>
              <a:cs typeface="Calibri"/>
            </a:endParaRPr>
          </a:p>
          <a:p>
            <a:pPr marL="697230" lvl="1" indent="-227329">
              <a:lnSpc>
                <a:spcPct val="100000"/>
              </a:lnSpc>
              <a:spcBef>
                <a:spcPts val="220"/>
              </a:spcBef>
              <a:buFont typeface="Arial MT"/>
              <a:buChar char="•"/>
              <a:tabLst>
                <a:tab pos="697230" algn="l"/>
              </a:tabLst>
            </a:pPr>
            <a:r>
              <a:rPr sz="2400" b="1" dirty="0">
                <a:latin typeface="Calibri"/>
                <a:cs typeface="Calibri"/>
              </a:rPr>
              <a:t>Digital</a:t>
            </a:r>
            <a:r>
              <a:rPr sz="2400" b="1" spc="-70" dirty="0">
                <a:latin typeface="Calibri"/>
                <a:cs typeface="Calibri"/>
              </a:rPr>
              <a:t> </a:t>
            </a:r>
            <a:r>
              <a:rPr sz="2400" b="1" dirty="0">
                <a:latin typeface="Calibri"/>
                <a:cs typeface="Calibri"/>
              </a:rPr>
              <a:t>Fraud</a:t>
            </a:r>
            <a:r>
              <a:rPr sz="2400" b="1" spc="-70" dirty="0">
                <a:latin typeface="Calibri"/>
                <a:cs typeface="Calibri"/>
              </a:rPr>
              <a:t> </a:t>
            </a:r>
            <a:r>
              <a:rPr sz="2400" b="1" spc="-10" dirty="0">
                <a:latin typeface="Calibri"/>
                <a:cs typeface="Calibri"/>
              </a:rPr>
              <a:t>Detection:</a:t>
            </a:r>
            <a:r>
              <a:rPr sz="2400" b="1" spc="-110" dirty="0">
                <a:latin typeface="Calibri"/>
                <a:cs typeface="Calibri"/>
              </a:rPr>
              <a:t> </a:t>
            </a:r>
            <a:r>
              <a:rPr sz="2400" dirty="0">
                <a:latin typeface="Calibri"/>
                <a:cs typeface="Calibri"/>
              </a:rPr>
              <a:t>Identifying</a:t>
            </a:r>
            <a:r>
              <a:rPr sz="2400" spc="-85" dirty="0">
                <a:latin typeface="Calibri"/>
                <a:cs typeface="Calibri"/>
              </a:rPr>
              <a:t> </a:t>
            </a:r>
            <a:r>
              <a:rPr sz="2400" dirty="0">
                <a:latin typeface="Calibri"/>
                <a:cs typeface="Calibri"/>
              </a:rPr>
              <a:t>unusual</a:t>
            </a:r>
            <a:r>
              <a:rPr sz="2400" spc="-65" dirty="0">
                <a:latin typeface="Calibri"/>
                <a:cs typeface="Calibri"/>
              </a:rPr>
              <a:t> </a:t>
            </a:r>
            <a:r>
              <a:rPr sz="2400" spc="-10" dirty="0">
                <a:latin typeface="Calibri"/>
                <a:cs typeface="Calibri"/>
              </a:rPr>
              <a:t>patterns</a:t>
            </a:r>
            <a:r>
              <a:rPr sz="2400" spc="-85" dirty="0">
                <a:latin typeface="Calibri"/>
                <a:cs typeface="Calibri"/>
              </a:rPr>
              <a:t> </a:t>
            </a:r>
            <a:r>
              <a:rPr sz="2400" dirty="0">
                <a:latin typeface="Calibri"/>
                <a:cs typeface="Calibri"/>
              </a:rPr>
              <a:t>in</a:t>
            </a:r>
            <a:r>
              <a:rPr sz="2400" spc="-70" dirty="0">
                <a:latin typeface="Calibri"/>
                <a:cs typeface="Calibri"/>
              </a:rPr>
              <a:t> </a:t>
            </a:r>
            <a:r>
              <a:rPr sz="2400" spc="-10" dirty="0">
                <a:latin typeface="Calibri"/>
                <a:cs typeface="Calibri"/>
              </a:rPr>
              <a:t>transactions.</a:t>
            </a:r>
            <a:endParaRPr sz="2400">
              <a:latin typeface="Calibri"/>
              <a:cs typeface="Calibri"/>
            </a:endParaRPr>
          </a:p>
          <a:p>
            <a:pPr marL="697230" lvl="1" indent="-227329">
              <a:lnSpc>
                <a:spcPct val="100000"/>
              </a:lnSpc>
              <a:spcBef>
                <a:spcPts val="204"/>
              </a:spcBef>
              <a:buFont typeface="Arial MT"/>
              <a:buChar char="•"/>
              <a:tabLst>
                <a:tab pos="697230" algn="l"/>
              </a:tabLst>
            </a:pPr>
            <a:r>
              <a:rPr sz="2400" b="1" dirty="0">
                <a:latin typeface="Calibri"/>
                <a:cs typeface="Calibri"/>
              </a:rPr>
              <a:t>Face</a:t>
            </a:r>
            <a:r>
              <a:rPr sz="2400" b="1" spc="-70" dirty="0">
                <a:latin typeface="Calibri"/>
                <a:cs typeface="Calibri"/>
              </a:rPr>
              <a:t> </a:t>
            </a:r>
            <a:r>
              <a:rPr sz="2400" b="1" dirty="0">
                <a:latin typeface="Calibri"/>
                <a:cs typeface="Calibri"/>
              </a:rPr>
              <a:t>Recognition:</a:t>
            </a:r>
            <a:r>
              <a:rPr sz="2400" b="1" spc="-85" dirty="0">
                <a:latin typeface="Calibri"/>
                <a:cs typeface="Calibri"/>
              </a:rPr>
              <a:t> </a:t>
            </a:r>
            <a:r>
              <a:rPr sz="2400" dirty="0">
                <a:latin typeface="Calibri"/>
                <a:cs typeface="Calibri"/>
              </a:rPr>
              <a:t>Enhancing</a:t>
            </a:r>
            <a:r>
              <a:rPr sz="2400" spc="-55" dirty="0">
                <a:latin typeface="Calibri"/>
                <a:cs typeface="Calibri"/>
              </a:rPr>
              <a:t> </a:t>
            </a:r>
            <a:r>
              <a:rPr sz="2400" dirty="0">
                <a:latin typeface="Calibri"/>
                <a:cs typeface="Calibri"/>
              </a:rPr>
              <a:t>security</a:t>
            </a:r>
            <a:r>
              <a:rPr sz="2400" spc="-55" dirty="0">
                <a:latin typeface="Calibri"/>
                <a:cs typeface="Calibri"/>
              </a:rPr>
              <a:t> </a:t>
            </a:r>
            <a:r>
              <a:rPr sz="2400" dirty="0">
                <a:latin typeface="Calibri"/>
                <a:cs typeface="Calibri"/>
              </a:rPr>
              <a:t>via</a:t>
            </a:r>
            <a:r>
              <a:rPr sz="2400" spc="-45" dirty="0">
                <a:latin typeface="Calibri"/>
                <a:cs typeface="Calibri"/>
              </a:rPr>
              <a:t> </a:t>
            </a:r>
            <a:r>
              <a:rPr sz="2400" dirty="0">
                <a:latin typeface="Calibri"/>
                <a:cs typeface="Calibri"/>
              </a:rPr>
              <a:t>facial</a:t>
            </a:r>
            <a:r>
              <a:rPr sz="2400" spc="-50" dirty="0">
                <a:latin typeface="Calibri"/>
                <a:cs typeface="Calibri"/>
              </a:rPr>
              <a:t> </a:t>
            </a:r>
            <a:r>
              <a:rPr sz="2400" spc="-10" dirty="0">
                <a:latin typeface="Calibri"/>
                <a:cs typeface="Calibri"/>
              </a:rPr>
              <a:t>recognition.</a:t>
            </a:r>
            <a:endParaRPr sz="2400">
              <a:latin typeface="Calibri"/>
              <a:cs typeface="Calibri"/>
            </a:endParaRPr>
          </a:p>
          <a:p>
            <a:pPr marL="697230" marR="5080" lvl="1" indent="-227329">
              <a:lnSpc>
                <a:spcPts val="2590"/>
              </a:lnSpc>
              <a:spcBef>
                <a:spcPts val="545"/>
              </a:spcBef>
              <a:buFont typeface="Arial MT"/>
              <a:buChar char="•"/>
              <a:tabLst>
                <a:tab pos="698500" algn="l"/>
              </a:tabLst>
            </a:pPr>
            <a:r>
              <a:rPr sz="2400" b="1" spc="-10" dirty="0">
                <a:latin typeface="Calibri"/>
                <a:cs typeface="Calibri"/>
              </a:rPr>
              <a:t>Recommendation</a:t>
            </a:r>
            <a:r>
              <a:rPr sz="2400" b="1" spc="-70" dirty="0">
                <a:latin typeface="Calibri"/>
                <a:cs typeface="Calibri"/>
              </a:rPr>
              <a:t> </a:t>
            </a:r>
            <a:r>
              <a:rPr sz="2400" b="1" spc="-20" dirty="0">
                <a:latin typeface="Calibri"/>
                <a:cs typeface="Calibri"/>
              </a:rPr>
              <a:t>Systems:</a:t>
            </a:r>
            <a:r>
              <a:rPr sz="2400" b="1" spc="-80" dirty="0">
                <a:latin typeface="Calibri"/>
                <a:cs typeface="Calibri"/>
              </a:rPr>
              <a:t> </a:t>
            </a:r>
            <a:r>
              <a:rPr sz="2400" spc="-10" dirty="0">
                <a:latin typeface="Calibri"/>
                <a:cs typeface="Calibri"/>
              </a:rPr>
              <a:t>Platforms</a:t>
            </a:r>
            <a:r>
              <a:rPr sz="2400" spc="-65" dirty="0">
                <a:latin typeface="Calibri"/>
                <a:cs typeface="Calibri"/>
              </a:rPr>
              <a:t> </a:t>
            </a:r>
            <a:r>
              <a:rPr sz="2400" dirty="0">
                <a:latin typeface="Calibri"/>
                <a:cs typeface="Calibri"/>
              </a:rPr>
              <a:t>like</a:t>
            </a:r>
            <a:r>
              <a:rPr sz="2400" spc="-65" dirty="0">
                <a:latin typeface="Calibri"/>
                <a:cs typeface="Calibri"/>
              </a:rPr>
              <a:t> </a:t>
            </a:r>
            <a:r>
              <a:rPr sz="2400" dirty="0">
                <a:latin typeface="Calibri"/>
                <a:cs typeface="Calibri"/>
              </a:rPr>
              <a:t>Netflix</a:t>
            </a:r>
            <a:r>
              <a:rPr sz="2400" spc="-45" dirty="0">
                <a:latin typeface="Calibri"/>
                <a:cs typeface="Calibri"/>
              </a:rPr>
              <a:t> </a:t>
            </a:r>
            <a:r>
              <a:rPr sz="2400" dirty="0">
                <a:latin typeface="Calibri"/>
                <a:cs typeface="Calibri"/>
              </a:rPr>
              <a:t>and</a:t>
            </a:r>
            <a:r>
              <a:rPr sz="2400" spc="-45" dirty="0">
                <a:latin typeface="Calibri"/>
                <a:cs typeface="Calibri"/>
              </a:rPr>
              <a:t> </a:t>
            </a:r>
            <a:r>
              <a:rPr sz="2400" dirty="0">
                <a:latin typeface="Calibri"/>
                <a:cs typeface="Calibri"/>
              </a:rPr>
              <a:t>Amazon</a:t>
            </a:r>
            <a:r>
              <a:rPr sz="2400" spc="-75" dirty="0">
                <a:latin typeface="Calibri"/>
                <a:cs typeface="Calibri"/>
              </a:rPr>
              <a:t> </a:t>
            </a:r>
            <a:r>
              <a:rPr sz="2400" spc="-10" dirty="0">
                <a:latin typeface="Calibri"/>
                <a:cs typeface="Calibri"/>
              </a:rPr>
              <a:t>personalize 	suggestions.</a:t>
            </a:r>
            <a:endParaRPr sz="24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1487" rIns="0" bIns="0" rtlCol="0">
            <a:spAutoFit/>
          </a:bodyPr>
          <a:lstStyle/>
          <a:p>
            <a:pPr marL="12700">
              <a:lnSpc>
                <a:spcPct val="100000"/>
              </a:lnSpc>
              <a:spcBef>
                <a:spcPts val="100"/>
              </a:spcBef>
            </a:pPr>
            <a:r>
              <a:rPr spc="-25" dirty="0"/>
              <a:t>Machine</a:t>
            </a:r>
            <a:r>
              <a:rPr spc="-200" dirty="0"/>
              <a:t> </a:t>
            </a:r>
            <a:r>
              <a:rPr spc="-20" dirty="0"/>
              <a:t>learning</a:t>
            </a:r>
            <a:r>
              <a:rPr spc="-210" dirty="0"/>
              <a:t> </a:t>
            </a:r>
            <a:r>
              <a:rPr spc="-20" dirty="0"/>
              <a:t>Life</a:t>
            </a:r>
            <a:r>
              <a:rPr spc="-195" dirty="0"/>
              <a:t> </a:t>
            </a:r>
            <a:r>
              <a:rPr spc="-10" dirty="0"/>
              <a:t>cycle</a:t>
            </a:r>
          </a:p>
        </p:txBody>
      </p:sp>
      <p:pic>
        <p:nvPicPr>
          <p:cNvPr id="3" name="object 3"/>
          <p:cNvPicPr/>
          <p:nvPr/>
        </p:nvPicPr>
        <p:blipFill>
          <a:blip r:embed="rId2" cstate="print"/>
          <a:stretch>
            <a:fillRect/>
          </a:stretch>
        </p:blipFill>
        <p:spPr>
          <a:xfrm>
            <a:off x="2516581" y="1375437"/>
            <a:ext cx="7044436" cy="4982054"/>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20</a:t>
            </a:fld>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21</a:t>
            </a:fld>
            <a:endParaRPr spc="-25" dirty="0"/>
          </a:p>
        </p:txBody>
      </p:sp>
      <p:sp>
        <p:nvSpPr>
          <p:cNvPr id="2" name="object 2"/>
          <p:cNvSpPr txBox="1"/>
          <p:nvPr/>
        </p:nvSpPr>
        <p:spPr>
          <a:xfrm>
            <a:off x="916939" y="432942"/>
            <a:ext cx="8942070" cy="5478145"/>
          </a:xfrm>
          <a:prstGeom prst="rect">
            <a:avLst/>
          </a:prstGeom>
        </p:spPr>
        <p:txBody>
          <a:bodyPr vert="horz" wrap="square" lIns="0" tIns="12065" rIns="0" bIns="0" rtlCol="0">
            <a:spAutoFit/>
          </a:bodyPr>
          <a:lstStyle/>
          <a:p>
            <a:pPr marL="12700">
              <a:lnSpc>
                <a:spcPct val="100000"/>
              </a:lnSpc>
              <a:spcBef>
                <a:spcPts val="95"/>
              </a:spcBef>
              <a:tabLst>
                <a:tab pos="240665" algn="l"/>
              </a:tabLst>
            </a:pPr>
            <a:r>
              <a:rPr sz="2800" b="1" dirty="0">
                <a:latin typeface="Calibri"/>
                <a:cs typeface="Calibri"/>
              </a:rPr>
              <a:t>1.</a:t>
            </a:r>
            <a:r>
              <a:rPr sz="2800" b="1" spc="-95" dirty="0">
                <a:latin typeface="Calibri"/>
                <a:cs typeface="Calibri"/>
              </a:rPr>
              <a:t> </a:t>
            </a:r>
            <a:r>
              <a:rPr sz="2800" b="1" dirty="0">
                <a:latin typeface="Calibri"/>
                <a:cs typeface="Calibri"/>
              </a:rPr>
              <a:t>Gathering</a:t>
            </a:r>
            <a:r>
              <a:rPr sz="2800" b="1" spc="-65" dirty="0">
                <a:latin typeface="Calibri"/>
                <a:cs typeface="Calibri"/>
              </a:rPr>
              <a:t> </a:t>
            </a:r>
            <a:r>
              <a:rPr sz="2800" b="1" spc="-20" dirty="0">
                <a:latin typeface="Calibri"/>
                <a:cs typeface="Calibri"/>
              </a:rPr>
              <a:t>Data</a:t>
            </a:r>
            <a:endParaRPr sz="2800" dirty="0">
              <a:latin typeface="Calibri"/>
              <a:cs typeface="Calibri"/>
            </a:endParaRPr>
          </a:p>
          <a:p>
            <a:pPr>
              <a:lnSpc>
                <a:spcPct val="100000"/>
              </a:lnSpc>
              <a:spcBef>
                <a:spcPts val="1275"/>
              </a:spcBef>
              <a:buFont typeface="Arial MT"/>
              <a:buChar char="•"/>
            </a:pPr>
            <a:endParaRPr sz="2800" dirty="0">
              <a:latin typeface="Calibri"/>
              <a:cs typeface="Calibri"/>
            </a:endParaRPr>
          </a:p>
          <a:p>
            <a:pPr marL="240665" indent="-227965">
              <a:lnSpc>
                <a:spcPct val="100000"/>
              </a:lnSpc>
              <a:buFont typeface="Arial MT"/>
              <a:buChar char="•"/>
              <a:tabLst>
                <a:tab pos="240665" algn="l"/>
              </a:tabLst>
            </a:pPr>
            <a:r>
              <a:rPr sz="2800" b="1" spc="-10" dirty="0">
                <a:latin typeface="Calibri"/>
                <a:cs typeface="Calibri"/>
              </a:rPr>
              <a:t>Objective:</a:t>
            </a:r>
            <a:endParaRPr sz="2800" dirty="0">
              <a:latin typeface="Calibri"/>
              <a:cs typeface="Calibri"/>
            </a:endParaRPr>
          </a:p>
          <a:p>
            <a:pPr marL="697230" lvl="1" indent="-227329">
              <a:lnSpc>
                <a:spcPct val="100000"/>
              </a:lnSpc>
              <a:spcBef>
                <a:spcPts val="245"/>
              </a:spcBef>
              <a:buFont typeface="Arial MT"/>
              <a:buChar char="•"/>
              <a:tabLst>
                <a:tab pos="697230" algn="l"/>
              </a:tabLst>
            </a:pPr>
            <a:r>
              <a:rPr sz="2400" dirty="0">
                <a:latin typeface="Calibri"/>
                <a:cs typeface="Calibri"/>
              </a:rPr>
              <a:t>Identify</a:t>
            </a:r>
            <a:r>
              <a:rPr sz="2400" spc="-80" dirty="0">
                <a:latin typeface="Calibri"/>
                <a:cs typeface="Calibri"/>
              </a:rPr>
              <a:t> </a:t>
            </a:r>
            <a:r>
              <a:rPr sz="2400" dirty="0">
                <a:latin typeface="Calibri"/>
                <a:cs typeface="Calibri"/>
              </a:rPr>
              <a:t>and</a:t>
            </a:r>
            <a:r>
              <a:rPr sz="2400" spc="-85" dirty="0">
                <a:latin typeface="Calibri"/>
                <a:cs typeface="Calibri"/>
              </a:rPr>
              <a:t> </a:t>
            </a:r>
            <a:r>
              <a:rPr sz="2400" dirty="0">
                <a:latin typeface="Calibri"/>
                <a:cs typeface="Calibri"/>
              </a:rPr>
              <a:t>obtain</a:t>
            </a:r>
            <a:r>
              <a:rPr sz="2400" spc="-95" dirty="0">
                <a:latin typeface="Calibri"/>
                <a:cs typeface="Calibri"/>
              </a:rPr>
              <a:t> </a:t>
            </a:r>
            <a:r>
              <a:rPr sz="2400" dirty="0">
                <a:latin typeface="Calibri"/>
                <a:cs typeface="Calibri"/>
              </a:rPr>
              <a:t>data</a:t>
            </a:r>
            <a:r>
              <a:rPr sz="2400" spc="-90" dirty="0">
                <a:latin typeface="Calibri"/>
                <a:cs typeface="Calibri"/>
              </a:rPr>
              <a:t> </a:t>
            </a:r>
            <a:r>
              <a:rPr sz="2400" dirty="0">
                <a:latin typeface="Calibri"/>
                <a:cs typeface="Calibri"/>
              </a:rPr>
              <a:t>from</a:t>
            </a:r>
            <a:r>
              <a:rPr sz="2400" spc="-80" dirty="0">
                <a:latin typeface="Calibri"/>
                <a:cs typeface="Calibri"/>
              </a:rPr>
              <a:t> </a:t>
            </a:r>
            <a:r>
              <a:rPr sz="2400" dirty="0">
                <a:latin typeface="Calibri"/>
                <a:cs typeface="Calibri"/>
              </a:rPr>
              <a:t>various</a:t>
            </a:r>
            <a:r>
              <a:rPr sz="2400" spc="-85" dirty="0">
                <a:latin typeface="Calibri"/>
                <a:cs typeface="Calibri"/>
              </a:rPr>
              <a:t> </a:t>
            </a:r>
            <a:r>
              <a:rPr sz="2400" spc="-10" dirty="0">
                <a:latin typeface="Calibri"/>
                <a:cs typeface="Calibri"/>
              </a:rPr>
              <a:t>sources.</a:t>
            </a:r>
            <a:endParaRPr sz="2400" dirty="0">
              <a:latin typeface="Calibri"/>
              <a:cs typeface="Calibri"/>
            </a:endParaRPr>
          </a:p>
          <a:p>
            <a:pPr marL="240665" indent="-227965">
              <a:lnSpc>
                <a:spcPct val="100000"/>
              </a:lnSpc>
              <a:spcBef>
                <a:spcPts val="630"/>
              </a:spcBef>
              <a:buFont typeface="Arial MT"/>
              <a:buChar char="•"/>
              <a:tabLst>
                <a:tab pos="240665" algn="l"/>
              </a:tabLst>
            </a:pPr>
            <a:r>
              <a:rPr sz="2800" b="1" spc="-10" dirty="0">
                <a:latin typeface="Calibri"/>
                <a:cs typeface="Calibri"/>
              </a:rPr>
              <a:t>Tasks:</a:t>
            </a:r>
            <a:endParaRPr sz="2800" dirty="0">
              <a:latin typeface="Calibri"/>
              <a:cs typeface="Calibri"/>
            </a:endParaRPr>
          </a:p>
          <a:p>
            <a:pPr marL="697230" lvl="1" indent="-227329">
              <a:lnSpc>
                <a:spcPct val="100000"/>
              </a:lnSpc>
              <a:spcBef>
                <a:spcPts val="245"/>
              </a:spcBef>
              <a:buFont typeface="Arial MT"/>
              <a:buChar char="•"/>
              <a:tabLst>
                <a:tab pos="697230" algn="l"/>
              </a:tabLst>
            </a:pPr>
            <a:r>
              <a:rPr sz="2400" b="1" dirty="0">
                <a:latin typeface="Calibri"/>
                <a:cs typeface="Calibri"/>
              </a:rPr>
              <a:t>Identify</a:t>
            </a:r>
            <a:r>
              <a:rPr sz="2400" b="1" spc="-80" dirty="0">
                <a:latin typeface="Calibri"/>
                <a:cs typeface="Calibri"/>
              </a:rPr>
              <a:t> </a:t>
            </a:r>
            <a:r>
              <a:rPr sz="2400" b="1" spc="-10" dirty="0">
                <a:latin typeface="Calibri"/>
                <a:cs typeface="Calibri"/>
              </a:rPr>
              <a:t>Various</a:t>
            </a:r>
            <a:r>
              <a:rPr sz="2400" b="1" spc="-95" dirty="0">
                <a:latin typeface="Calibri"/>
                <a:cs typeface="Calibri"/>
              </a:rPr>
              <a:t> </a:t>
            </a:r>
            <a:r>
              <a:rPr sz="2400" b="1" dirty="0">
                <a:latin typeface="Calibri"/>
                <a:cs typeface="Calibri"/>
              </a:rPr>
              <a:t>Data</a:t>
            </a:r>
            <a:r>
              <a:rPr sz="2400" b="1" spc="-100" dirty="0">
                <a:latin typeface="Calibri"/>
                <a:cs typeface="Calibri"/>
              </a:rPr>
              <a:t> </a:t>
            </a:r>
            <a:r>
              <a:rPr sz="2400" b="1" spc="-10" dirty="0">
                <a:latin typeface="Calibri"/>
                <a:cs typeface="Calibri"/>
              </a:rPr>
              <a:t>Sources:</a:t>
            </a:r>
            <a:endParaRPr sz="2400" dirty="0">
              <a:latin typeface="Calibri"/>
              <a:cs typeface="Calibri"/>
            </a:endParaRPr>
          </a:p>
          <a:p>
            <a:pPr marL="1155700" lvl="2" indent="-228600">
              <a:lnSpc>
                <a:spcPct val="100000"/>
              </a:lnSpc>
              <a:spcBef>
                <a:spcPts val="285"/>
              </a:spcBef>
              <a:buFont typeface="Arial MT"/>
              <a:buChar char="•"/>
              <a:tabLst>
                <a:tab pos="1155700" algn="l"/>
              </a:tabLst>
            </a:pPr>
            <a:r>
              <a:rPr sz="2000" dirty="0">
                <a:latin typeface="Calibri"/>
                <a:cs typeface="Calibri"/>
              </a:rPr>
              <a:t>Files,</a:t>
            </a:r>
            <a:r>
              <a:rPr sz="2000" spc="-50" dirty="0">
                <a:latin typeface="Calibri"/>
                <a:cs typeface="Calibri"/>
              </a:rPr>
              <a:t> </a:t>
            </a:r>
            <a:r>
              <a:rPr sz="2000" dirty="0">
                <a:latin typeface="Calibri"/>
                <a:cs typeface="Calibri"/>
              </a:rPr>
              <a:t>databases,</a:t>
            </a:r>
            <a:r>
              <a:rPr sz="2000" spc="-45" dirty="0">
                <a:latin typeface="Calibri"/>
                <a:cs typeface="Calibri"/>
              </a:rPr>
              <a:t> </a:t>
            </a:r>
            <a:r>
              <a:rPr sz="2000" spc="-10" dirty="0">
                <a:latin typeface="Calibri"/>
                <a:cs typeface="Calibri"/>
              </a:rPr>
              <a:t>internet,</a:t>
            </a:r>
            <a:r>
              <a:rPr sz="2000" spc="-40" dirty="0">
                <a:latin typeface="Calibri"/>
                <a:cs typeface="Calibri"/>
              </a:rPr>
              <a:t> </a:t>
            </a:r>
            <a:r>
              <a:rPr sz="2000" dirty="0">
                <a:latin typeface="Calibri"/>
                <a:cs typeface="Calibri"/>
              </a:rPr>
              <a:t>mobile</a:t>
            </a:r>
            <a:r>
              <a:rPr sz="2000" spc="-50" dirty="0">
                <a:latin typeface="Calibri"/>
                <a:cs typeface="Calibri"/>
              </a:rPr>
              <a:t> </a:t>
            </a:r>
            <a:r>
              <a:rPr sz="2000" spc="-10" dirty="0">
                <a:latin typeface="Calibri"/>
                <a:cs typeface="Calibri"/>
              </a:rPr>
              <a:t>devices.</a:t>
            </a:r>
            <a:endParaRPr sz="2000" dirty="0">
              <a:latin typeface="Calibri"/>
              <a:cs typeface="Calibri"/>
            </a:endParaRPr>
          </a:p>
          <a:p>
            <a:pPr marL="697230" lvl="1" indent="-227329">
              <a:lnSpc>
                <a:spcPct val="100000"/>
              </a:lnSpc>
              <a:spcBef>
                <a:spcPts val="185"/>
              </a:spcBef>
              <a:buFont typeface="Arial MT"/>
              <a:buChar char="•"/>
              <a:tabLst>
                <a:tab pos="697230" algn="l"/>
              </a:tabLst>
            </a:pPr>
            <a:r>
              <a:rPr sz="2400" b="1" dirty="0">
                <a:latin typeface="Calibri"/>
                <a:cs typeface="Calibri"/>
              </a:rPr>
              <a:t>Collect</a:t>
            </a:r>
            <a:r>
              <a:rPr sz="2400" b="1" spc="-80" dirty="0">
                <a:latin typeface="Calibri"/>
                <a:cs typeface="Calibri"/>
              </a:rPr>
              <a:t> </a:t>
            </a:r>
            <a:r>
              <a:rPr sz="2400" b="1" spc="-20" dirty="0">
                <a:latin typeface="Calibri"/>
                <a:cs typeface="Calibri"/>
              </a:rPr>
              <a:t>Data:</a:t>
            </a:r>
            <a:endParaRPr sz="2400" dirty="0">
              <a:latin typeface="Calibri"/>
              <a:cs typeface="Calibri"/>
            </a:endParaRPr>
          </a:p>
          <a:p>
            <a:pPr marL="1155700" lvl="2" indent="-228600">
              <a:lnSpc>
                <a:spcPct val="100000"/>
              </a:lnSpc>
              <a:spcBef>
                <a:spcPts val="280"/>
              </a:spcBef>
              <a:buFont typeface="Arial MT"/>
              <a:buChar char="•"/>
              <a:tabLst>
                <a:tab pos="1155700" algn="l"/>
              </a:tabLst>
            </a:pPr>
            <a:r>
              <a:rPr sz="2000" dirty="0">
                <a:latin typeface="Calibri"/>
                <a:cs typeface="Calibri"/>
              </a:rPr>
              <a:t>Accumulate</a:t>
            </a:r>
            <a:r>
              <a:rPr sz="2000" spc="-75" dirty="0">
                <a:latin typeface="Calibri"/>
                <a:cs typeface="Calibri"/>
              </a:rPr>
              <a:t> </a:t>
            </a:r>
            <a:r>
              <a:rPr sz="2000" dirty="0">
                <a:latin typeface="Calibri"/>
                <a:cs typeface="Calibri"/>
              </a:rPr>
              <a:t>data</a:t>
            </a:r>
            <a:r>
              <a:rPr sz="2000" spc="-70" dirty="0">
                <a:latin typeface="Calibri"/>
                <a:cs typeface="Calibri"/>
              </a:rPr>
              <a:t> </a:t>
            </a:r>
            <a:r>
              <a:rPr sz="2000" dirty="0">
                <a:latin typeface="Calibri"/>
                <a:cs typeface="Calibri"/>
              </a:rPr>
              <a:t>from</a:t>
            </a:r>
            <a:r>
              <a:rPr sz="2000" spc="-70" dirty="0">
                <a:latin typeface="Calibri"/>
                <a:cs typeface="Calibri"/>
              </a:rPr>
              <a:t> </a:t>
            </a:r>
            <a:r>
              <a:rPr sz="2000" dirty="0">
                <a:latin typeface="Calibri"/>
                <a:cs typeface="Calibri"/>
              </a:rPr>
              <a:t>identified</a:t>
            </a:r>
            <a:r>
              <a:rPr sz="2000" spc="-60" dirty="0">
                <a:latin typeface="Calibri"/>
                <a:cs typeface="Calibri"/>
              </a:rPr>
              <a:t> </a:t>
            </a:r>
            <a:r>
              <a:rPr sz="2000" spc="-10" dirty="0">
                <a:latin typeface="Calibri"/>
                <a:cs typeface="Calibri"/>
              </a:rPr>
              <a:t>sources.</a:t>
            </a:r>
            <a:endParaRPr sz="2000" dirty="0">
              <a:latin typeface="Calibri"/>
              <a:cs typeface="Calibri"/>
            </a:endParaRPr>
          </a:p>
          <a:p>
            <a:pPr marL="697230" lvl="1" indent="-227329">
              <a:lnSpc>
                <a:spcPct val="100000"/>
              </a:lnSpc>
              <a:spcBef>
                <a:spcPts val="190"/>
              </a:spcBef>
              <a:buFont typeface="Arial MT"/>
              <a:buChar char="•"/>
              <a:tabLst>
                <a:tab pos="697230" algn="l"/>
              </a:tabLst>
            </a:pPr>
            <a:r>
              <a:rPr sz="2400" b="1" spc="-20" dirty="0">
                <a:latin typeface="Calibri"/>
                <a:cs typeface="Calibri"/>
              </a:rPr>
              <a:t>Integrate</a:t>
            </a:r>
            <a:r>
              <a:rPr sz="2400" b="1" spc="-65" dirty="0">
                <a:latin typeface="Calibri"/>
                <a:cs typeface="Calibri"/>
              </a:rPr>
              <a:t> </a:t>
            </a:r>
            <a:r>
              <a:rPr sz="2400" b="1" spc="-10" dirty="0">
                <a:latin typeface="Calibri"/>
                <a:cs typeface="Calibri"/>
              </a:rPr>
              <a:t>Data:</a:t>
            </a:r>
            <a:endParaRPr sz="2400" dirty="0">
              <a:latin typeface="Calibri"/>
              <a:cs typeface="Calibri"/>
            </a:endParaRPr>
          </a:p>
          <a:p>
            <a:pPr marL="1155700" lvl="2" indent="-228600">
              <a:lnSpc>
                <a:spcPct val="100000"/>
              </a:lnSpc>
              <a:spcBef>
                <a:spcPts val="295"/>
              </a:spcBef>
              <a:buFont typeface="Arial MT"/>
              <a:buChar char="•"/>
              <a:tabLst>
                <a:tab pos="1155700" algn="l"/>
              </a:tabLst>
            </a:pPr>
            <a:r>
              <a:rPr sz="2000" dirty="0">
                <a:latin typeface="Calibri"/>
                <a:cs typeface="Calibri"/>
              </a:rPr>
              <a:t>Combine</a:t>
            </a:r>
            <a:r>
              <a:rPr sz="2000" spc="-60" dirty="0">
                <a:latin typeface="Calibri"/>
                <a:cs typeface="Calibri"/>
              </a:rPr>
              <a:t> </a:t>
            </a:r>
            <a:r>
              <a:rPr sz="2000" dirty="0">
                <a:latin typeface="Calibri"/>
                <a:cs typeface="Calibri"/>
              </a:rPr>
              <a:t>data</a:t>
            </a:r>
            <a:r>
              <a:rPr sz="2000" spc="-45" dirty="0">
                <a:latin typeface="Calibri"/>
                <a:cs typeface="Calibri"/>
              </a:rPr>
              <a:t> </a:t>
            </a:r>
            <a:r>
              <a:rPr sz="2000" dirty="0">
                <a:latin typeface="Calibri"/>
                <a:cs typeface="Calibri"/>
              </a:rPr>
              <a:t>to</a:t>
            </a:r>
            <a:r>
              <a:rPr sz="2000" spc="-55" dirty="0">
                <a:latin typeface="Calibri"/>
                <a:cs typeface="Calibri"/>
              </a:rPr>
              <a:t> </a:t>
            </a:r>
            <a:r>
              <a:rPr sz="2000" dirty="0">
                <a:latin typeface="Calibri"/>
                <a:cs typeface="Calibri"/>
              </a:rPr>
              <a:t>create</a:t>
            </a:r>
            <a:r>
              <a:rPr sz="2000" spc="-20" dirty="0">
                <a:latin typeface="Calibri"/>
                <a:cs typeface="Calibri"/>
              </a:rPr>
              <a:t> </a:t>
            </a:r>
            <a:r>
              <a:rPr sz="2000" dirty="0">
                <a:latin typeface="Calibri"/>
                <a:cs typeface="Calibri"/>
              </a:rPr>
              <a:t>a</a:t>
            </a:r>
            <a:r>
              <a:rPr sz="2000" spc="-55" dirty="0">
                <a:latin typeface="Calibri"/>
                <a:cs typeface="Calibri"/>
              </a:rPr>
              <a:t> </a:t>
            </a:r>
            <a:r>
              <a:rPr sz="2000" dirty="0">
                <a:latin typeface="Calibri"/>
                <a:cs typeface="Calibri"/>
              </a:rPr>
              <a:t>unified</a:t>
            </a:r>
            <a:r>
              <a:rPr sz="2000" spc="-40" dirty="0">
                <a:latin typeface="Calibri"/>
                <a:cs typeface="Calibri"/>
              </a:rPr>
              <a:t> </a:t>
            </a:r>
            <a:r>
              <a:rPr sz="2000" spc="-10" dirty="0">
                <a:latin typeface="Calibri"/>
                <a:cs typeface="Calibri"/>
              </a:rPr>
              <a:t>dataset.</a:t>
            </a:r>
            <a:endParaRPr sz="2000" dirty="0">
              <a:latin typeface="Calibri"/>
              <a:cs typeface="Calibri"/>
            </a:endParaRPr>
          </a:p>
          <a:p>
            <a:pPr marL="240665" indent="-227965">
              <a:lnSpc>
                <a:spcPct val="100000"/>
              </a:lnSpc>
              <a:spcBef>
                <a:spcPts val="605"/>
              </a:spcBef>
              <a:buFont typeface="Arial MT"/>
              <a:buChar char="•"/>
              <a:tabLst>
                <a:tab pos="240665" algn="l"/>
              </a:tabLst>
            </a:pPr>
            <a:r>
              <a:rPr sz="2800" b="1" spc="-10" dirty="0">
                <a:latin typeface="Calibri"/>
                <a:cs typeface="Calibri"/>
              </a:rPr>
              <a:t>Importance:</a:t>
            </a:r>
            <a:endParaRPr sz="2800" dirty="0">
              <a:latin typeface="Calibri"/>
              <a:cs typeface="Calibri"/>
            </a:endParaRPr>
          </a:p>
          <a:p>
            <a:pPr marL="697230" lvl="1" indent="-227329">
              <a:lnSpc>
                <a:spcPct val="100000"/>
              </a:lnSpc>
              <a:spcBef>
                <a:spcPts val="240"/>
              </a:spcBef>
              <a:buFont typeface="Arial MT"/>
              <a:buChar char="•"/>
              <a:tabLst>
                <a:tab pos="697230" algn="l"/>
              </a:tabLst>
            </a:pPr>
            <a:r>
              <a:rPr sz="2400" dirty="0">
                <a:latin typeface="Calibri"/>
                <a:cs typeface="Calibri"/>
              </a:rPr>
              <a:t>Quality</a:t>
            </a:r>
            <a:r>
              <a:rPr sz="2400" spc="-75" dirty="0">
                <a:latin typeface="Calibri"/>
                <a:cs typeface="Calibri"/>
              </a:rPr>
              <a:t> </a:t>
            </a:r>
            <a:r>
              <a:rPr sz="2400" dirty="0">
                <a:latin typeface="Calibri"/>
                <a:cs typeface="Calibri"/>
              </a:rPr>
              <a:t>and</a:t>
            </a:r>
            <a:r>
              <a:rPr sz="2400" spc="-50" dirty="0">
                <a:latin typeface="Calibri"/>
                <a:cs typeface="Calibri"/>
              </a:rPr>
              <a:t> </a:t>
            </a:r>
            <a:r>
              <a:rPr sz="2400" dirty="0">
                <a:latin typeface="Calibri"/>
                <a:cs typeface="Calibri"/>
              </a:rPr>
              <a:t>quantity</a:t>
            </a:r>
            <a:r>
              <a:rPr sz="2400" spc="-55" dirty="0">
                <a:latin typeface="Calibri"/>
                <a:cs typeface="Calibri"/>
              </a:rPr>
              <a:t> </a:t>
            </a:r>
            <a:r>
              <a:rPr sz="2400" dirty="0">
                <a:latin typeface="Calibri"/>
                <a:cs typeface="Calibri"/>
              </a:rPr>
              <a:t>of</a:t>
            </a:r>
            <a:r>
              <a:rPr sz="2400" spc="-55" dirty="0">
                <a:latin typeface="Calibri"/>
                <a:cs typeface="Calibri"/>
              </a:rPr>
              <a:t> </a:t>
            </a:r>
            <a:r>
              <a:rPr sz="2400" dirty="0">
                <a:latin typeface="Calibri"/>
                <a:cs typeface="Calibri"/>
              </a:rPr>
              <a:t>data</a:t>
            </a:r>
            <a:r>
              <a:rPr sz="2400" spc="-60" dirty="0">
                <a:latin typeface="Calibri"/>
                <a:cs typeface="Calibri"/>
              </a:rPr>
              <a:t> </a:t>
            </a:r>
            <a:r>
              <a:rPr sz="2400" dirty="0">
                <a:latin typeface="Calibri"/>
                <a:cs typeface="Calibri"/>
              </a:rPr>
              <a:t>impact</a:t>
            </a:r>
            <a:r>
              <a:rPr sz="2400" spc="-75" dirty="0">
                <a:latin typeface="Calibri"/>
                <a:cs typeface="Calibri"/>
              </a:rPr>
              <a:t> </a:t>
            </a:r>
            <a:r>
              <a:rPr sz="2400" dirty="0">
                <a:latin typeface="Calibri"/>
                <a:cs typeface="Calibri"/>
              </a:rPr>
              <a:t>model</a:t>
            </a:r>
            <a:r>
              <a:rPr sz="2400" spc="-60" dirty="0">
                <a:latin typeface="Calibri"/>
                <a:cs typeface="Calibri"/>
              </a:rPr>
              <a:t> </a:t>
            </a:r>
            <a:r>
              <a:rPr sz="2400" dirty="0">
                <a:latin typeface="Calibri"/>
                <a:cs typeface="Calibri"/>
              </a:rPr>
              <a:t>efficiency</a:t>
            </a:r>
            <a:r>
              <a:rPr sz="2400" spc="-45" dirty="0">
                <a:latin typeface="Calibri"/>
                <a:cs typeface="Calibri"/>
              </a:rPr>
              <a:t> </a:t>
            </a:r>
            <a:r>
              <a:rPr sz="2400" dirty="0">
                <a:latin typeface="Calibri"/>
                <a:cs typeface="Calibri"/>
              </a:rPr>
              <a:t>and</a:t>
            </a:r>
            <a:r>
              <a:rPr sz="2400" spc="-50" dirty="0">
                <a:latin typeface="Calibri"/>
                <a:cs typeface="Calibri"/>
              </a:rPr>
              <a:t> </a:t>
            </a:r>
            <a:r>
              <a:rPr sz="2400" spc="-10" dirty="0">
                <a:latin typeface="Calibri"/>
                <a:cs typeface="Calibri"/>
              </a:rPr>
              <a:t>accuracy.</a:t>
            </a:r>
            <a:endParaRPr sz="2400" dirty="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22</a:t>
            </a:fld>
            <a:endParaRPr spc="-25" dirty="0"/>
          </a:p>
        </p:txBody>
      </p:sp>
      <p:sp>
        <p:nvSpPr>
          <p:cNvPr id="2" name="object 2"/>
          <p:cNvSpPr txBox="1"/>
          <p:nvPr/>
        </p:nvSpPr>
        <p:spPr>
          <a:xfrm>
            <a:off x="916939" y="416813"/>
            <a:ext cx="8262620" cy="4747895"/>
          </a:xfrm>
          <a:prstGeom prst="rect">
            <a:avLst/>
          </a:prstGeom>
        </p:spPr>
        <p:txBody>
          <a:bodyPr vert="horz" wrap="square" lIns="0" tIns="12065" rIns="0" bIns="0" rtlCol="0">
            <a:spAutoFit/>
          </a:bodyPr>
          <a:lstStyle/>
          <a:p>
            <a:pPr marL="12700">
              <a:lnSpc>
                <a:spcPct val="100000"/>
              </a:lnSpc>
              <a:spcBef>
                <a:spcPts val="95"/>
              </a:spcBef>
              <a:tabLst>
                <a:tab pos="240665" algn="l"/>
              </a:tabLst>
            </a:pPr>
            <a:r>
              <a:rPr sz="2800" b="1" dirty="0">
                <a:latin typeface="Calibri"/>
                <a:cs typeface="Calibri"/>
              </a:rPr>
              <a:t>2.</a:t>
            </a:r>
            <a:r>
              <a:rPr sz="2800" b="1" spc="-65" dirty="0">
                <a:latin typeface="Calibri"/>
                <a:cs typeface="Calibri"/>
              </a:rPr>
              <a:t> </a:t>
            </a:r>
            <a:r>
              <a:rPr sz="2800" b="1" dirty="0">
                <a:latin typeface="Calibri"/>
                <a:cs typeface="Calibri"/>
              </a:rPr>
              <a:t>Data</a:t>
            </a:r>
            <a:r>
              <a:rPr sz="2800" b="1" spc="-55" dirty="0">
                <a:latin typeface="Calibri"/>
                <a:cs typeface="Calibri"/>
              </a:rPr>
              <a:t> </a:t>
            </a:r>
            <a:r>
              <a:rPr sz="2800" b="1" spc="-10" dirty="0">
                <a:latin typeface="Calibri"/>
                <a:cs typeface="Calibri"/>
              </a:rPr>
              <a:t>Preparation</a:t>
            </a:r>
            <a:endParaRPr sz="2800" dirty="0">
              <a:latin typeface="Calibri"/>
              <a:cs typeface="Calibri"/>
            </a:endParaRPr>
          </a:p>
          <a:p>
            <a:pPr>
              <a:lnSpc>
                <a:spcPct val="100000"/>
              </a:lnSpc>
              <a:spcBef>
                <a:spcPts val="1275"/>
              </a:spcBef>
              <a:buFont typeface="Arial MT"/>
              <a:buChar char="•"/>
            </a:pPr>
            <a:endParaRPr sz="2800" dirty="0">
              <a:latin typeface="Calibri"/>
              <a:cs typeface="Calibri"/>
            </a:endParaRPr>
          </a:p>
          <a:p>
            <a:pPr marL="240665" indent="-227965">
              <a:lnSpc>
                <a:spcPct val="100000"/>
              </a:lnSpc>
              <a:buFont typeface="Arial MT"/>
              <a:buChar char="•"/>
              <a:tabLst>
                <a:tab pos="240665" algn="l"/>
              </a:tabLst>
            </a:pPr>
            <a:r>
              <a:rPr sz="2800" b="1" spc="-10" dirty="0">
                <a:latin typeface="Calibri"/>
                <a:cs typeface="Calibri"/>
              </a:rPr>
              <a:t>Objective:</a:t>
            </a:r>
            <a:endParaRPr sz="2800" dirty="0">
              <a:latin typeface="Calibri"/>
              <a:cs typeface="Calibri"/>
            </a:endParaRPr>
          </a:p>
          <a:p>
            <a:pPr marL="697230" lvl="1" indent="-227329">
              <a:lnSpc>
                <a:spcPct val="100000"/>
              </a:lnSpc>
              <a:spcBef>
                <a:spcPts val="245"/>
              </a:spcBef>
              <a:buFont typeface="Arial MT"/>
              <a:buChar char="•"/>
              <a:tabLst>
                <a:tab pos="697230" algn="l"/>
              </a:tabLst>
            </a:pPr>
            <a:r>
              <a:rPr sz="2400" spc="-10" dirty="0">
                <a:latin typeface="Calibri"/>
                <a:cs typeface="Calibri"/>
              </a:rPr>
              <a:t>Organize</a:t>
            </a:r>
            <a:r>
              <a:rPr sz="2400" spc="-80" dirty="0">
                <a:latin typeface="Calibri"/>
                <a:cs typeface="Calibri"/>
              </a:rPr>
              <a:t> </a:t>
            </a:r>
            <a:r>
              <a:rPr sz="2400" dirty="0">
                <a:latin typeface="Calibri"/>
                <a:cs typeface="Calibri"/>
              </a:rPr>
              <a:t>and</a:t>
            </a:r>
            <a:r>
              <a:rPr sz="2400" spc="-80" dirty="0">
                <a:latin typeface="Calibri"/>
                <a:cs typeface="Calibri"/>
              </a:rPr>
              <a:t> </a:t>
            </a:r>
            <a:r>
              <a:rPr sz="2400" dirty="0">
                <a:latin typeface="Calibri"/>
                <a:cs typeface="Calibri"/>
              </a:rPr>
              <a:t>format</a:t>
            </a:r>
            <a:r>
              <a:rPr sz="2400" spc="-90" dirty="0">
                <a:latin typeface="Calibri"/>
                <a:cs typeface="Calibri"/>
              </a:rPr>
              <a:t> </a:t>
            </a:r>
            <a:r>
              <a:rPr sz="2400" dirty="0">
                <a:latin typeface="Calibri"/>
                <a:cs typeface="Calibri"/>
              </a:rPr>
              <a:t>collected</a:t>
            </a:r>
            <a:r>
              <a:rPr sz="2400" spc="-100" dirty="0">
                <a:latin typeface="Calibri"/>
                <a:cs typeface="Calibri"/>
              </a:rPr>
              <a:t> </a:t>
            </a:r>
            <a:r>
              <a:rPr sz="2400" dirty="0">
                <a:latin typeface="Calibri"/>
                <a:cs typeface="Calibri"/>
              </a:rPr>
              <a:t>data</a:t>
            </a:r>
            <a:r>
              <a:rPr sz="2400" spc="-90" dirty="0">
                <a:latin typeface="Calibri"/>
                <a:cs typeface="Calibri"/>
              </a:rPr>
              <a:t> </a:t>
            </a:r>
            <a:r>
              <a:rPr sz="2400" dirty="0">
                <a:latin typeface="Calibri"/>
                <a:cs typeface="Calibri"/>
              </a:rPr>
              <a:t>for</a:t>
            </a:r>
            <a:r>
              <a:rPr sz="2400" spc="-75" dirty="0">
                <a:latin typeface="Calibri"/>
                <a:cs typeface="Calibri"/>
              </a:rPr>
              <a:t> </a:t>
            </a:r>
            <a:r>
              <a:rPr sz="2400" spc="-10" dirty="0">
                <a:latin typeface="Calibri"/>
                <a:cs typeface="Calibri"/>
              </a:rPr>
              <a:t>training.</a:t>
            </a:r>
            <a:endParaRPr sz="2400" dirty="0">
              <a:latin typeface="Calibri"/>
              <a:cs typeface="Calibri"/>
            </a:endParaRPr>
          </a:p>
          <a:p>
            <a:pPr marL="240029" indent="-227329">
              <a:lnSpc>
                <a:spcPct val="100000"/>
              </a:lnSpc>
              <a:spcBef>
                <a:spcPts val="630"/>
              </a:spcBef>
              <a:buFont typeface="Arial MT"/>
              <a:buChar char="•"/>
              <a:tabLst>
                <a:tab pos="240029" algn="l"/>
              </a:tabLst>
            </a:pPr>
            <a:r>
              <a:rPr sz="2800" b="1" spc="-10" dirty="0">
                <a:latin typeface="Calibri"/>
                <a:cs typeface="Calibri"/>
              </a:rPr>
              <a:t>Processes:</a:t>
            </a:r>
            <a:endParaRPr sz="2800" dirty="0">
              <a:latin typeface="Calibri"/>
              <a:cs typeface="Calibri"/>
            </a:endParaRPr>
          </a:p>
          <a:p>
            <a:pPr marL="697230" lvl="1" indent="-227329">
              <a:lnSpc>
                <a:spcPct val="100000"/>
              </a:lnSpc>
              <a:spcBef>
                <a:spcPts val="250"/>
              </a:spcBef>
              <a:buFont typeface="Arial MT"/>
              <a:buChar char="•"/>
              <a:tabLst>
                <a:tab pos="697230" algn="l"/>
              </a:tabLst>
            </a:pPr>
            <a:r>
              <a:rPr sz="2400" b="1" dirty="0">
                <a:latin typeface="Calibri"/>
                <a:cs typeface="Calibri"/>
              </a:rPr>
              <a:t>Data</a:t>
            </a:r>
            <a:r>
              <a:rPr sz="2400" b="1" spc="-95" dirty="0">
                <a:latin typeface="Calibri"/>
                <a:cs typeface="Calibri"/>
              </a:rPr>
              <a:t> </a:t>
            </a:r>
            <a:r>
              <a:rPr sz="2400" b="1" spc="-10" dirty="0">
                <a:latin typeface="Calibri"/>
                <a:cs typeface="Calibri"/>
              </a:rPr>
              <a:t>Exploration:</a:t>
            </a:r>
            <a:endParaRPr sz="2400" dirty="0">
              <a:latin typeface="Calibri"/>
              <a:cs typeface="Calibri"/>
            </a:endParaRPr>
          </a:p>
          <a:p>
            <a:pPr marL="1155700" lvl="2" indent="-228600">
              <a:lnSpc>
                <a:spcPct val="100000"/>
              </a:lnSpc>
              <a:spcBef>
                <a:spcPts val="280"/>
              </a:spcBef>
              <a:buFont typeface="Arial MT"/>
              <a:buChar char="•"/>
              <a:tabLst>
                <a:tab pos="1155700" algn="l"/>
              </a:tabLst>
            </a:pPr>
            <a:r>
              <a:rPr sz="2000" spc="-10" dirty="0">
                <a:latin typeface="Calibri"/>
                <a:cs typeface="Calibri"/>
              </a:rPr>
              <a:t>Understand</a:t>
            </a:r>
            <a:r>
              <a:rPr sz="2000" spc="-45" dirty="0">
                <a:latin typeface="Calibri"/>
                <a:cs typeface="Calibri"/>
              </a:rPr>
              <a:t> </a:t>
            </a:r>
            <a:r>
              <a:rPr sz="2000" spc="-10" dirty="0">
                <a:latin typeface="Calibri"/>
                <a:cs typeface="Calibri"/>
              </a:rPr>
              <a:t>characteristics,</a:t>
            </a:r>
            <a:r>
              <a:rPr sz="2000" spc="-25" dirty="0">
                <a:latin typeface="Calibri"/>
                <a:cs typeface="Calibri"/>
              </a:rPr>
              <a:t> </a:t>
            </a:r>
            <a:r>
              <a:rPr sz="2000" dirty="0">
                <a:latin typeface="Calibri"/>
                <a:cs typeface="Calibri"/>
              </a:rPr>
              <a:t>format,</a:t>
            </a:r>
            <a:r>
              <a:rPr sz="2000" spc="-40" dirty="0">
                <a:latin typeface="Calibri"/>
                <a:cs typeface="Calibri"/>
              </a:rPr>
              <a:t> </a:t>
            </a:r>
            <a:r>
              <a:rPr sz="2000" dirty="0">
                <a:latin typeface="Calibri"/>
                <a:cs typeface="Calibri"/>
              </a:rPr>
              <a:t>and</a:t>
            </a:r>
            <a:r>
              <a:rPr sz="2000" spc="-50" dirty="0">
                <a:latin typeface="Calibri"/>
                <a:cs typeface="Calibri"/>
              </a:rPr>
              <a:t> </a:t>
            </a:r>
            <a:r>
              <a:rPr sz="2000" spc="-10" dirty="0">
                <a:latin typeface="Calibri"/>
                <a:cs typeface="Calibri"/>
              </a:rPr>
              <a:t>quality.</a:t>
            </a:r>
            <a:endParaRPr sz="2000" dirty="0">
              <a:latin typeface="Calibri"/>
              <a:cs typeface="Calibri"/>
            </a:endParaRPr>
          </a:p>
          <a:p>
            <a:pPr marL="697230" lvl="1" indent="-227329">
              <a:lnSpc>
                <a:spcPct val="100000"/>
              </a:lnSpc>
              <a:spcBef>
                <a:spcPts val="185"/>
              </a:spcBef>
              <a:buFont typeface="Arial MT"/>
              <a:buChar char="•"/>
              <a:tabLst>
                <a:tab pos="697230" algn="l"/>
              </a:tabLst>
            </a:pPr>
            <a:r>
              <a:rPr sz="2400" b="1" dirty="0">
                <a:latin typeface="Calibri"/>
                <a:cs typeface="Calibri"/>
              </a:rPr>
              <a:t>Data</a:t>
            </a:r>
            <a:r>
              <a:rPr sz="2400" b="1" spc="-70" dirty="0">
                <a:latin typeface="Calibri"/>
                <a:cs typeface="Calibri"/>
              </a:rPr>
              <a:t> </a:t>
            </a:r>
            <a:r>
              <a:rPr sz="2400" b="1" spc="-20" dirty="0">
                <a:latin typeface="Calibri"/>
                <a:cs typeface="Calibri"/>
              </a:rPr>
              <a:t>Pre-</a:t>
            </a:r>
            <a:r>
              <a:rPr sz="2400" b="1" spc="-10" dirty="0">
                <a:latin typeface="Calibri"/>
                <a:cs typeface="Calibri"/>
              </a:rPr>
              <a:t>processing:</a:t>
            </a:r>
            <a:endParaRPr sz="2400" dirty="0">
              <a:latin typeface="Calibri"/>
              <a:cs typeface="Calibri"/>
            </a:endParaRPr>
          </a:p>
          <a:p>
            <a:pPr marL="1155700" lvl="2" indent="-228600">
              <a:lnSpc>
                <a:spcPct val="100000"/>
              </a:lnSpc>
              <a:spcBef>
                <a:spcPts val="280"/>
              </a:spcBef>
              <a:buFont typeface="Arial MT"/>
              <a:buChar char="•"/>
              <a:tabLst>
                <a:tab pos="1155700" algn="l"/>
              </a:tabLst>
            </a:pPr>
            <a:r>
              <a:rPr sz="2000" dirty="0">
                <a:latin typeface="Calibri"/>
                <a:cs typeface="Calibri"/>
              </a:rPr>
              <a:t>Clean</a:t>
            </a:r>
            <a:r>
              <a:rPr sz="2000" spc="-45" dirty="0">
                <a:latin typeface="Calibri"/>
                <a:cs typeface="Calibri"/>
              </a:rPr>
              <a:t> </a:t>
            </a:r>
            <a:r>
              <a:rPr sz="2000" dirty="0">
                <a:latin typeface="Calibri"/>
                <a:cs typeface="Calibri"/>
              </a:rPr>
              <a:t>and</a:t>
            </a:r>
            <a:r>
              <a:rPr sz="2000" spc="-60" dirty="0">
                <a:latin typeface="Calibri"/>
                <a:cs typeface="Calibri"/>
              </a:rPr>
              <a:t> </a:t>
            </a:r>
            <a:r>
              <a:rPr sz="2000" dirty="0">
                <a:latin typeface="Calibri"/>
                <a:cs typeface="Calibri"/>
              </a:rPr>
              <a:t>format</a:t>
            </a:r>
            <a:r>
              <a:rPr sz="2000" spc="-45" dirty="0">
                <a:latin typeface="Calibri"/>
                <a:cs typeface="Calibri"/>
              </a:rPr>
              <a:t> </a:t>
            </a:r>
            <a:r>
              <a:rPr sz="2000" spc="-20" dirty="0">
                <a:latin typeface="Calibri"/>
                <a:cs typeface="Calibri"/>
              </a:rPr>
              <a:t>data.</a:t>
            </a:r>
            <a:endParaRPr sz="2000" dirty="0">
              <a:latin typeface="Calibri"/>
              <a:cs typeface="Calibri"/>
            </a:endParaRPr>
          </a:p>
          <a:p>
            <a:pPr marL="240665" indent="-227965">
              <a:lnSpc>
                <a:spcPct val="100000"/>
              </a:lnSpc>
              <a:spcBef>
                <a:spcPts val="620"/>
              </a:spcBef>
              <a:buFont typeface="Arial MT"/>
              <a:buChar char="•"/>
              <a:tabLst>
                <a:tab pos="240665" algn="l"/>
              </a:tabLst>
            </a:pPr>
            <a:r>
              <a:rPr sz="2800" b="1" dirty="0">
                <a:latin typeface="Calibri"/>
                <a:cs typeface="Calibri"/>
              </a:rPr>
              <a:t>Key</a:t>
            </a:r>
            <a:r>
              <a:rPr sz="2800" b="1" spc="-114" dirty="0">
                <a:latin typeface="Calibri"/>
                <a:cs typeface="Calibri"/>
              </a:rPr>
              <a:t> </a:t>
            </a:r>
            <a:r>
              <a:rPr sz="2800" b="1" spc="-10" dirty="0">
                <a:latin typeface="Calibri"/>
                <a:cs typeface="Calibri"/>
              </a:rPr>
              <a:t>Steps:</a:t>
            </a:r>
            <a:endParaRPr sz="2800" dirty="0">
              <a:latin typeface="Calibri"/>
              <a:cs typeface="Calibri"/>
            </a:endParaRPr>
          </a:p>
          <a:p>
            <a:pPr marL="697230" lvl="1" indent="-227329">
              <a:lnSpc>
                <a:spcPct val="100000"/>
              </a:lnSpc>
              <a:spcBef>
                <a:spcPts val="245"/>
              </a:spcBef>
              <a:buFont typeface="Arial MT"/>
              <a:buChar char="•"/>
              <a:tabLst>
                <a:tab pos="697230" algn="l"/>
              </a:tabLst>
            </a:pPr>
            <a:r>
              <a:rPr sz="2400" spc="-10" dirty="0">
                <a:latin typeface="Calibri"/>
                <a:cs typeface="Calibri"/>
              </a:rPr>
              <a:t>Consolidate</a:t>
            </a:r>
            <a:r>
              <a:rPr sz="2400" spc="-60" dirty="0">
                <a:latin typeface="Calibri"/>
                <a:cs typeface="Calibri"/>
              </a:rPr>
              <a:t> </a:t>
            </a:r>
            <a:r>
              <a:rPr sz="2400" dirty="0">
                <a:latin typeface="Calibri"/>
                <a:cs typeface="Calibri"/>
              </a:rPr>
              <a:t>and</a:t>
            </a:r>
            <a:r>
              <a:rPr sz="2400" spc="-55" dirty="0">
                <a:latin typeface="Calibri"/>
                <a:cs typeface="Calibri"/>
              </a:rPr>
              <a:t> </a:t>
            </a:r>
            <a:r>
              <a:rPr sz="2400" dirty="0">
                <a:latin typeface="Calibri"/>
                <a:cs typeface="Calibri"/>
              </a:rPr>
              <a:t>randomize</a:t>
            </a:r>
            <a:r>
              <a:rPr sz="2400" spc="-55" dirty="0">
                <a:latin typeface="Calibri"/>
                <a:cs typeface="Calibri"/>
              </a:rPr>
              <a:t> </a:t>
            </a:r>
            <a:r>
              <a:rPr sz="2400" dirty="0">
                <a:latin typeface="Calibri"/>
                <a:cs typeface="Calibri"/>
              </a:rPr>
              <a:t>data</a:t>
            </a:r>
            <a:r>
              <a:rPr sz="2400" spc="-60" dirty="0">
                <a:latin typeface="Calibri"/>
                <a:cs typeface="Calibri"/>
              </a:rPr>
              <a:t> </a:t>
            </a:r>
            <a:r>
              <a:rPr sz="2400" dirty="0">
                <a:latin typeface="Calibri"/>
                <a:cs typeface="Calibri"/>
              </a:rPr>
              <a:t>for</a:t>
            </a:r>
            <a:r>
              <a:rPr sz="2400" spc="-50" dirty="0">
                <a:latin typeface="Calibri"/>
                <a:cs typeface="Calibri"/>
              </a:rPr>
              <a:t> </a:t>
            </a:r>
            <a:r>
              <a:rPr sz="2400" dirty="0">
                <a:latin typeface="Calibri"/>
                <a:cs typeface="Calibri"/>
              </a:rPr>
              <a:t>a</a:t>
            </a:r>
            <a:r>
              <a:rPr sz="2400" spc="-55" dirty="0">
                <a:latin typeface="Calibri"/>
                <a:cs typeface="Calibri"/>
              </a:rPr>
              <a:t> </a:t>
            </a:r>
            <a:r>
              <a:rPr sz="2400" spc="-20" dirty="0">
                <a:latin typeface="Calibri"/>
                <a:cs typeface="Calibri"/>
              </a:rPr>
              <a:t>representative</a:t>
            </a:r>
            <a:r>
              <a:rPr sz="2400" spc="-45" dirty="0">
                <a:latin typeface="Calibri"/>
                <a:cs typeface="Calibri"/>
              </a:rPr>
              <a:t> </a:t>
            </a:r>
            <a:r>
              <a:rPr sz="2400" spc="-10" dirty="0">
                <a:latin typeface="Calibri"/>
                <a:cs typeface="Calibri"/>
              </a:rPr>
              <a:t>dataset.</a:t>
            </a:r>
            <a:endParaRPr sz="2400" dirty="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23</a:t>
            </a:fld>
            <a:endParaRPr spc="-25" dirty="0"/>
          </a:p>
        </p:txBody>
      </p:sp>
      <p:sp>
        <p:nvSpPr>
          <p:cNvPr id="2" name="object 2"/>
          <p:cNvSpPr txBox="1"/>
          <p:nvPr/>
        </p:nvSpPr>
        <p:spPr>
          <a:xfrm>
            <a:off x="916939" y="671575"/>
            <a:ext cx="9507220" cy="5031740"/>
          </a:xfrm>
          <a:prstGeom prst="rect">
            <a:avLst/>
          </a:prstGeom>
        </p:spPr>
        <p:txBody>
          <a:bodyPr vert="horz" wrap="square" lIns="0" tIns="12065" rIns="0" bIns="0" rtlCol="0">
            <a:spAutoFit/>
          </a:bodyPr>
          <a:lstStyle/>
          <a:p>
            <a:pPr marL="12700">
              <a:lnSpc>
                <a:spcPct val="100000"/>
              </a:lnSpc>
              <a:spcBef>
                <a:spcPts val="95"/>
              </a:spcBef>
              <a:tabLst>
                <a:tab pos="240665" algn="l"/>
              </a:tabLst>
            </a:pPr>
            <a:r>
              <a:rPr sz="2800" b="1" dirty="0">
                <a:latin typeface="Calibri"/>
                <a:cs typeface="Calibri"/>
              </a:rPr>
              <a:t>3.</a:t>
            </a:r>
            <a:r>
              <a:rPr sz="2800" b="1" spc="-65" dirty="0">
                <a:latin typeface="Calibri"/>
                <a:cs typeface="Calibri"/>
              </a:rPr>
              <a:t> </a:t>
            </a:r>
            <a:r>
              <a:rPr sz="2800" b="1" dirty="0">
                <a:latin typeface="Calibri"/>
                <a:cs typeface="Calibri"/>
              </a:rPr>
              <a:t>Data</a:t>
            </a:r>
            <a:r>
              <a:rPr sz="2800" b="1" spc="-55" dirty="0">
                <a:latin typeface="Calibri"/>
                <a:cs typeface="Calibri"/>
              </a:rPr>
              <a:t> </a:t>
            </a:r>
            <a:r>
              <a:rPr sz="2800" b="1" spc="-10" dirty="0">
                <a:latin typeface="Calibri"/>
                <a:cs typeface="Calibri"/>
              </a:rPr>
              <a:t>Wrangling</a:t>
            </a:r>
            <a:endParaRPr sz="2800" dirty="0">
              <a:latin typeface="Calibri"/>
              <a:cs typeface="Calibri"/>
            </a:endParaRPr>
          </a:p>
          <a:p>
            <a:pPr>
              <a:lnSpc>
                <a:spcPct val="100000"/>
              </a:lnSpc>
              <a:spcBef>
                <a:spcPts val="605"/>
              </a:spcBef>
              <a:buFont typeface="Arial MT"/>
              <a:buChar char="•"/>
            </a:pPr>
            <a:endParaRPr sz="2800" dirty="0">
              <a:latin typeface="Calibri"/>
              <a:cs typeface="Calibri"/>
            </a:endParaRPr>
          </a:p>
          <a:p>
            <a:pPr marL="240665" indent="-227965">
              <a:lnSpc>
                <a:spcPts val="3325"/>
              </a:lnSpc>
              <a:buFont typeface="Arial MT"/>
              <a:buChar char="•"/>
              <a:tabLst>
                <a:tab pos="240665" algn="l"/>
              </a:tabLst>
            </a:pPr>
            <a:r>
              <a:rPr sz="2800" b="1" spc="-10" dirty="0">
                <a:latin typeface="Calibri"/>
                <a:cs typeface="Calibri"/>
              </a:rPr>
              <a:t>Objective:</a:t>
            </a:r>
            <a:endParaRPr sz="2800" dirty="0">
              <a:latin typeface="Calibri"/>
              <a:cs typeface="Calibri"/>
            </a:endParaRPr>
          </a:p>
          <a:p>
            <a:pPr marL="697230" lvl="1" indent="-227329">
              <a:lnSpc>
                <a:spcPts val="2845"/>
              </a:lnSpc>
              <a:buFont typeface="Arial MT"/>
              <a:buChar char="•"/>
              <a:tabLst>
                <a:tab pos="697230" algn="l"/>
              </a:tabLst>
            </a:pPr>
            <a:r>
              <a:rPr sz="2400" dirty="0">
                <a:latin typeface="Calibri"/>
                <a:cs typeface="Calibri"/>
              </a:rPr>
              <a:t>Clean</a:t>
            </a:r>
            <a:r>
              <a:rPr sz="2400" spc="-85" dirty="0">
                <a:latin typeface="Calibri"/>
                <a:cs typeface="Calibri"/>
              </a:rPr>
              <a:t> </a:t>
            </a:r>
            <a:r>
              <a:rPr sz="2400" dirty="0">
                <a:latin typeface="Calibri"/>
                <a:cs typeface="Calibri"/>
              </a:rPr>
              <a:t>and</a:t>
            </a:r>
            <a:r>
              <a:rPr sz="2400" spc="-75" dirty="0">
                <a:latin typeface="Calibri"/>
                <a:cs typeface="Calibri"/>
              </a:rPr>
              <a:t> </a:t>
            </a:r>
            <a:r>
              <a:rPr sz="2400" dirty="0">
                <a:latin typeface="Calibri"/>
                <a:cs typeface="Calibri"/>
              </a:rPr>
              <a:t>convert</a:t>
            </a:r>
            <a:r>
              <a:rPr sz="2400" spc="-70" dirty="0">
                <a:latin typeface="Calibri"/>
                <a:cs typeface="Calibri"/>
              </a:rPr>
              <a:t> </a:t>
            </a:r>
            <a:r>
              <a:rPr sz="2400" dirty="0">
                <a:latin typeface="Calibri"/>
                <a:cs typeface="Calibri"/>
              </a:rPr>
              <a:t>raw</a:t>
            </a:r>
            <a:r>
              <a:rPr sz="2400" spc="-95" dirty="0">
                <a:latin typeface="Calibri"/>
                <a:cs typeface="Calibri"/>
              </a:rPr>
              <a:t> </a:t>
            </a:r>
            <a:r>
              <a:rPr sz="2400" dirty="0">
                <a:latin typeface="Calibri"/>
                <a:cs typeface="Calibri"/>
              </a:rPr>
              <a:t>data</a:t>
            </a:r>
            <a:r>
              <a:rPr sz="2400" spc="-85" dirty="0">
                <a:latin typeface="Calibri"/>
                <a:cs typeface="Calibri"/>
              </a:rPr>
              <a:t> </a:t>
            </a:r>
            <a:r>
              <a:rPr sz="2400" dirty="0">
                <a:latin typeface="Calibri"/>
                <a:cs typeface="Calibri"/>
              </a:rPr>
              <a:t>into</a:t>
            </a:r>
            <a:r>
              <a:rPr sz="2400" spc="-75" dirty="0">
                <a:latin typeface="Calibri"/>
                <a:cs typeface="Calibri"/>
              </a:rPr>
              <a:t> </a:t>
            </a:r>
            <a:r>
              <a:rPr sz="2400" dirty="0">
                <a:latin typeface="Calibri"/>
                <a:cs typeface="Calibri"/>
              </a:rPr>
              <a:t>a</a:t>
            </a:r>
            <a:r>
              <a:rPr sz="2400" spc="-75" dirty="0">
                <a:latin typeface="Calibri"/>
                <a:cs typeface="Calibri"/>
              </a:rPr>
              <a:t> </a:t>
            </a:r>
            <a:r>
              <a:rPr sz="2400" dirty="0">
                <a:latin typeface="Calibri"/>
                <a:cs typeface="Calibri"/>
              </a:rPr>
              <a:t>usable</a:t>
            </a:r>
            <a:r>
              <a:rPr sz="2400" spc="-70" dirty="0">
                <a:latin typeface="Calibri"/>
                <a:cs typeface="Calibri"/>
              </a:rPr>
              <a:t> </a:t>
            </a:r>
            <a:r>
              <a:rPr sz="2400" spc="-10" dirty="0">
                <a:latin typeface="Calibri"/>
                <a:cs typeface="Calibri"/>
              </a:rPr>
              <a:t>format.</a:t>
            </a:r>
            <a:endParaRPr sz="2400" dirty="0">
              <a:latin typeface="Calibri"/>
              <a:cs typeface="Calibri"/>
            </a:endParaRPr>
          </a:p>
          <a:p>
            <a:pPr marL="240665" indent="-227965">
              <a:lnSpc>
                <a:spcPts val="3325"/>
              </a:lnSpc>
              <a:spcBef>
                <a:spcPts val="320"/>
              </a:spcBef>
              <a:buFont typeface="Arial MT"/>
              <a:buChar char="•"/>
              <a:tabLst>
                <a:tab pos="240665" algn="l"/>
              </a:tabLst>
            </a:pPr>
            <a:r>
              <a:rPr sz="2800" b="1" spc="-10" dirty="0">
                <a:latin typeface="Calibri"/>
                <a:cs typeface="Calibri"/>
              </a:rPr>
              <a:t>Tasks:</a:t>
            </a:r>
            <a:endParaRPr sz="2800" dirty="0">
              <a:latin typeface="Calibri"/>
              <a:cs typeface="Calibri"/>
            </a:endParaRPr>
          </a:p>
          <a:p>
            <a:pPr marL="697230" lvl="1" indent="-227329">
              <a:lnSpc>
                <a:spcPts val="2845"/>
              </a:lnSpc>
              <a:buFont typeface="Arial MT"/>
              <a:buChar char="•"/>
              <a:tabLst>
                <a:tab pos="697230" algn="l"/>
              </a:tabLst>
            </a:pPr>
            <a:r>
              <a:rPr sz="2400" b="1" dirty="0">
                <a:latin typeface="Calibri"/>
                <a:cs typeface="Calibri"/>
              </a:rPr>
              <a:t>Cleaning</a:t>
            </a:r>
            <a:r>
              <a:rPr sz="2400" b="1" spc="-15" dirty="0">
                <a:latin typeface="Calibri"/>
                <a:cs typeface="Calibri"/>
              </a:rPr>
              <a:t> </a:t>
            </a:r>
            <a:r>
              <a:rPr sz="2400" b="1" spc="-20" dirty="0">
                <a:latin typeface="Calibri"/>
                <a:cs typeface="Calibri"/>
              </a:rPr>
              <a:t>Data:</a:t>
            </a:r>
            <a:endParaRPr sz="2400" dirty="0">
              <a:latin typeface="Calibri"/>
              <a:cs typeface="Calibri"/>
            </a:endParaRPr>
          </a:p>
          <a:p>
            <a:pPr marL="1155700" lvl="2" indent="-228600">
              <a:lnSpc>
                <a:spcPts val="2355"/>
              </a:lnSpc>
              <a:spcBef>
                <a:spcPts val="40"/>
              </a:spcBef>
              <a:buFont typeface="Arial MT"/>
              <a:buChar char="•"/>
              <a:tabLst>
                <a:tab pos="1155700" algn="l"/>
              </a:tabLst>
            </a:pPr>
            <a:r>
              <a:rPr sz="2000" dirty="0">
                <a:latin typeface="Calibri"/>
                <a:cs typeface="Calibri"/>
              </a:rPr>
              <a:t>Address</a:t>
            </a:r>
            <a:r>
              <a:rPr sz="2000" spc="-80" dirty="0">
                <a:latin typeface="Calibri"/>
                <a:cs typeface="Calibri"/>
              </a:rPr>
              <a:t> </a:t>
            </a:r>
            <a:r>
              <a:rPr sz="2000" dirty="0">
                <a:latin typeface="Calibri"/>
                <a:cs typeface="Calibri"/>
              </a:rPr>
              <a:t>missing</a:t>
            </a:r>
            <a:r>
              <a:rPr sz="2000" spc="-60" dirty="0">
                <a:latin typeface="Calibri"/>
                <a:cs typeface="Calibri"/>
              </a:rPr>
              <a:t> </a:t>
            </a:r>
            <a:r>
              <a:rPr sz="2000" dirty="0">
                <a:latin typeface="Calibri"/>
                <a:cs typeface="Calibri"/>
              </a:rPr>
              <a:t>values,</a:t>
            </a:r>
            <a:r>
              <a:rPr sz="2000" spc="-65" dirty="0">
                <a:latin typeface="Calibri"/>
                <a:cs typeface="Calibri"/>
              </a:rPr>
              <a:t> </a:t>
            </a:r>
            <a:r>
              <a:rPr sz="2000" spc="-10" dirty="0">
                <a:latin typeface="Calibri"/>
                <a:cs typeface="Calibri"/>
              </a:rPr>
              <a:t>duplicates,</a:t>
            </a:r>
            <a:r>
              <a:rPr sz="2000" spc="-70" dirty="0">
                <a:latin typeface="Calibri"/>
                <a:cs typeface="Calibri"/>
              </a:rPr>
              <a:t> </a:t>
            </a:r>
            <a:r>
              <a:rPr sz="2000" dirty="0">
                <a:latin typeface="Calibri"/>
                <a:cs typeface="Calibri"/>
              </a:rPr>
              <a:t>invalid</a:t>
            </a:r>
            <a:r>
              <a:rPr sz="2000" spc="-70" dirty="0">
                <a:latin typeface="Calibri"/>
                <a:cs typeface="Calibri"/>
              </a:rPr>
              <a:t> </a:t>
            </a:r>
            <a:r>
              <a:rPr sz="2000" spc="-10" dirty="0">
                <a:latin typeface="Calibri"/>
                <a:cs typeface="Calibri"/>
              </a:rPr>
              <a:t>data.</a:t>
            </a:r>
            <a:endParaRPr sz="2000" dirty="0">
              <a:latin typeface="Calibri"/>
              <a:cs typeface="Calibri"/>
            </a:endParaRPr>
          </a:p>
          <a:p>
            <a:pPr marL="697230" lvl="1" indent="-227329">
              <a:lnSpc>
                <a:spcPts val="2835"/>
              </a:lnSpc>
              <a:buFont typeface="Arial MT"/>
              <a:buChar char="•"/>
              <a:tabLst>
                <a:tab pos="697230" algn="l"/>
              </a:tabLst>
            </a:pPr>
            <a:r>
              <a:rPr sz="2400" b="1" dirty="0">
                <a:latin typeface="Calibri"/>
                <a:cs typeface="Calibri"/>
              </a:rPr>
              <a:t>Selecting</a:t>
            </a:r>
            <a:r>
              <a:rPr sz="2400" b="1" spc="-125" dirty="0">
                <a:latin typeface="Calibri"/>
                <a:cs typeface="Calibri"/>
              </a:rPr>
              <a:t> </a:t>
            </a:r>
            <a:r>
              <a:rPr sz="2400" b="1" spc="-10" dirty="0">
                <a:latin typeface="Calibri"/>
                <a:cs typeface="Calibri"/>
              </a:rPr>
              <a:t>Variables:</a:t>
            </a:r>
            <a:endParaRPr sz="2400" dirty="0">
              <a:latin typeface="Calibri"/>
              <a:cs typeface="Calibri"/>
            </a:endParaRPr>
          </a:p>
          <a:p>
            <a:pPr marL="1155700" lvl="2" indent="-228600">
              <a:lnSpc>
                <a:spcPts val="2355"/>
              </a:lnSpc>
              <a:spcBef>
                <a:spcPts val="30"/>
              </a:spcBef>
              <a:buFont typeface="Arial MT"/>
              <a:buChar char="•"/>
              <a:tabLst>
                <a:tab pos="1155700" algn="l"/>
              </a:tabLst>
            </a:pPr>
            <a:r>
              <a:rPr sz="2000" dirty="0">
                <a:latin typeface="Calibri"/>
                <a:cs typeface="Calibri"/>
              </a:rPr>
              <a:t>Choose</a:t>
            </a:r>
            <a:r>
              <a:rPr sz="2000" spc="-85" dirty="0">
                <a:latin typeface="Calibri"/>
                <a:cs typeface="Calibri"/>
              </a:rPr>
              <a:t> </a:t>
            </a:r>
            <a:r>
              <a:rPr sz="2000" spc="-10" dirty="0">
                <a:latin typeface="Calibri"/>
                <a:cs typeface="Calibri"/>
              </a:rPr>
              <a:t>relevant</a:t>
            </a:r>
            <a:r>
              <a:rPr sz="2000" spc="-50" dirty="0">
                <a:latin typeface="Calibri"/>
                <a:cs typeface="Calibri"/>
              </a:rPr>
              <a:t> </a:t>
            </a:r>
            <a:r>
              <a:rPr sz="2000" dirty="0">
                <a:latin typeface="Calibri"/>
                <a:cs typeface="Calibri"/>
              </a:rPr>
              <a:t>variables</a:t>
            </a:r>
            <a:r>
              <a:rPr sz="2000" spc="-45" dirty="0">
                <a:latin typeface="Calibri"/>
                <a:cs typeface="Calibri"/>
              </a:rPr>
              <a:t> </a:t>
            </a:r>
            <a:r>
              <a:rPr sz="2000" dirty="0">
                <a:latin typeface="Calibri"/>
                <a:cs typeface="Calibri"/>
              </a:rPr>
              <a:t>for</a:t>
            </a:r>
            <a:r>
              <a:rPr sz="2000" spc="-70" dirty="0">
                <a:latin typeface="Calibri"/>
                <a:cs typeface="Calibri"/>
              </a:rPr>
              <a:t> </a:t>
            </a:r>
            <a:r>
              <a:rPr sz="2000" spc="-10" dirty="0">
                <a:latin typeface="Calibri"/>
                <a:cs typeface="Calibri"/>
              </a:rPr>
              <a:t>analysis.</a:t>
            </a:r>
            <a:endParaRPr sz="2000" dirty="0">
              <a:latin typeface="Calibri"/>
              <a:cs typeface="Calibri"/>
            </a:endParaRPr>
          </a:p>
          <a:p>
            <a:pPr marL="697230" lvl="1" indent="-227329">
              <a:lnSpc>
                <a:spcPts val="2835"/>
              </a:lnSpc>
              <a:buFont typeface="Arial MT"/>
              <a:buChar char="•"/>
              <a:tabLst>
                <a:tab pos="697230" algn="l"/>
              </a:tabLst>
            </a:pPr>
            <a:r>
              <a:rPr sz="2400" b="1" spc="-20" dirty="0">
                <a:latin typeface="Calibri"/>
                <a:cs typeface="Calibri"/>
              </a:rPr>
              <a:t>Transforming</a:t>
            </a:r>
            <a:r>
              <a:rPr sz="2400" b="1" spc="-75" dirty="0">
                <a:latin typeface="Calibri"/>
                <a:cs typeface="Calibri"/>
              </a:rPr>
              <a:t> </a:t>
            </a:r>
            <a:r>
              <a:rPr sz="2400" b="1" spc="-20" dirty="0">
                <a:latin typeface="Calibri"/>
                <a:cs typeface="Calibri"/>
              </a:rPr>
              <a:t>Data:</a:t>
            </a:r>
            <a:endParaRPr sz="2400" dirty="0">
              <a:latin typeface="Calibri"/>
              <a:cs typeface="Calibri"/>
            </a:endParaRPr>
          </a:p>
          <a:p>
            <a:pPr marL="1155700" lvl="2" indent="-228600">
              <a:lnSpc>
                <a:spcPct val="100000"/>
              </a:lnSpc>
              <a:spcBef>
                <a:spcPts val="40"/>
              </a:spcBef>
              <a:buFont typeface="Arial MT"/>
              <a:buChar char="•"/>
              <a:tabLst>
                <a:tab pos="1155700" algn="l"/>
              </a:tabLst>
            </a:pPr>
            <a:r>
              <a:rPr sz="2000" dirty="0">
                <a:latin typeface="Calibri"/>
                <a:cs typeface="Calibri"/>
              </a:rPr>
              <a:t>Properly</a:t>
            </a:r>
            <a:r>
              <a:rPr sz="2000" spc="-60" dirty="0">
                <a:latin typeface="Calibri"/>
                <a:cs typeface="Calibri"/>
              </a:rPr>
              <a:t> </a:t>
            </a:r>
            <a:r>
              <a:rPr sz="2000" dirty="0">
                <a:latin typeface="Calibri"/>
                <a:cs typeface="Calibri"/>
              </a:rPr>
              <a:t>format</a:t>
            </a:r>
            <a:r>
              <a:rPr sz="2000" spc="-60" dirty="0">
                <a:latin typeface="Calibri"/>
                <a:cs typeface="Calibri"/>
              </a:rPr>
              <a:t> </a:t>
            </a:r>
            <a:r>
              <a:rPr sz="2000" dirty="0">
                <a:latin typeface="Calibri"/>
                <a:cs typeface="Calibri"/>
              </a:rPr>
              <a:t>data</a:t>
            </a:r>
            <a:r>
              <a:rPr sz="2000" spc="-55" dirty="0">
                <a:latin typeface="Calibri"/>
                <a:cs typeface="Calibri"/>
              </a:rPr>
              <a:t> </a:t>
            </a:r>
            <a:r>
              <a:rPr sz="2000" dirty="0">
                <a:latin typeface="Calibri"/>
                <a:cs typeface="Calibri"/>
              </a:rPr>
              <a:t>for</a:t>
            </a:r>
            <a:r>
              <a:rPr sz="2000" spc="-70" dirty="0">
                <a:latin typeface="Calibri"/>
                <a:cs typeface="Calibri"/>
              </a:rPr>
              <a:t> </a:t>
            </a:r>
            <a:r>
              <a:rPr sz="2000" dirty="0">
                <a:latin typeface="Calibri"/>
                <a:cs typeface="Calibri"/>
              </a:rPr>
              <a:t>further</a:t>
            </a:r>
            <a:r>
              <a:rPr sz="2000" spc="-65" dirty="0">
                <a:latin typeface="Calibri"/>
                <a:cs typeface="Calibri"/>
              </a:rPr>
              <a:t> </a:t>
            </a:r>
            <a:r>
              <a:rPr sz="2000" spc="-10" dirty="0">
                <a:latin typeface="Calibri"/>
                <a:cs typeface="Calibri"/>
              </a:rPr>
              <a:t>analysis.</a:t>
            </a:r>
            <a:endParaRPr sz="2000" dirty="0">
              <a:latin typeface="Calibri"/>
              <a:cs typeface="Calibri"/>
            </a:endParaRPr>
          </a:p>
          <a:p>
            <a:pPr marL="240665" indent="-227965">
              <a:lnSpc>
                <a:spcPts val="3329"/>
              </a:lnSpc>
              <a:spcBef>
                <a:spcPts val="295"/>
              </a:spcBef>
              <a:buFont typeface="Arial MT"/>
              <a:buChar char="•"/>
              <a:tabLst>
                <a:tab pos="240665" algn="l"/>
              </a:tabLst>
            </a:pPr>
            <a:r>
              <a:rPr sz="2800" b="1" spc="-10" dirty="0">
                <a:latin typeface="Calibri"/>
                <a:cs typeface="Calibri"/>
              </a:rPr>
              <a:t>Importance:</a:t>
            </a:r>
            <a:endParaRPr sz="2800" dirty="0">
              <a:latin typeface="Calibri"/>
              <a:cs typeface="Calibri"/>
            </a:endParaRPr>
          </a:p>
          <a:p>
            <a:pPr marL="697230" lvl="1" indent="-227329">
              <a:lnSpc>
                <a:spcPts val="2850"/>
              </a:lnSpc>
              <a:buFont typeface="Arial MT"/>
              <a:buChar char="•"/>
              <a:tabLst>
                <a:tab pos="697230" algn="l"/>
              </a:tabLst>
            </a:pPr>
            <a:r>
              <a:rPr sz="2400" spc="-10" dirty="0">
                <a:latin typeface="Calibri"/>
                <a:cs typeface="Calibri"/>
              </a:rPr>
              <a:t>Affects</a:t>
            </a:r>
            <a:r>
              <a:rPr sz="2400" spc="-65" dirty="0">
                <a:latin typeface="Calibri"/>
                <a:cs typeface="Calibri"/>
              </a:rPr>
              <a:t> </a:t>
            </a:r>
            <a:r>
              <a:rPr sz="2400" dirty="0">
                <a:latin typeface="Calibri"/>
                <a:cs typeface="Calibri"/>
              </a:rPr>
              <a:t>quality</a:t>
            </a:r>
            <a:r>
              <a:rPr sz="2400" spc="-60" dirty="0">
                <a:latin typeface="Calibri"/>
                <a:cs typeface="Calibri"/>
              </a:rPr>
              <a:t> </a:t>
            </a:r>
            <a:r>
              <a:rPr sz="2400" dirty="0">
                <a:latin typeface="Calibri"/>
                <a:cs typeface="Calibri"/>
              </a:rPr>
              <a:t>and</a:t>
            </a:r>
            <a:r>
              <a:rPr sz="2400" spc="-50" dirty="0">
                <a:latin typeface="Calibri"/>
                <a:cs typeface="Calibri"/>
              </a:rPr>
              <a:t> </a:t>
            </a:r>
            <a:r>
              <a:rPr sz="2400" spc="-10" dirty="0">
                <a:latin typeface="Calibri"/>
                <a:cs typeface="Calibri"/>
              </a:rPr>
              <a:t>effectiveness</a:t>
            </a:r>
            <a:r>
              <a:rPr sz="2400" spc="-50" dirty="0">
                <a:latin typeface="Calibri"/>
                <a:cs typeface="Calibri"/>
              </a:rPr>
              <a:t> </a:t>
            </a:r>
            <a:r>
              <a:rPr sz="2400" dirty="0">
                <a:latin typeface="Calibri"/>
                <a:cs typeface="Calibri"/>
              </a:rPr>
              <a:t>of</a:t>
            </a:r>
            <a:r>
              <a:rPr sz="2400" spc="-50" dirty="0">
                <a:latin typeface="Calibri"/>
                <a:cs typeface="Calibri"/>
              </a:rPr>
              <a:t> </a:t>
            </a:r>
            <a:r>
              <a:rPr sz="2400" dirty="0">
                <a:latin typeface="Calibri"/>
                <a:cs typeface="Calibri"/>
              </a:rPr>
              <a:t>analysis,</a:t>
            </a:r>
            <a:r>
              <a:rPr sz="2400" spc="-65" dirty="0">
                <a:latin typeface="Calibri"/>
                <a:cs typeface="Calibri"/>
              </a:rPr>
              <a:t> </a:t>
            </a:r>
            <a:r>
              <a:rPr sz="2400" dirty="0">
                <a:latin typeface="Calibri"/>
                <a:cs typeface="Calibri"/>
              </a:rPr>
              <a:t>improving</a:t>
            </a:r>
            <a:r>
              <a:rPr sz="2400" spc="-55" dirty="0">
                <a:latin typeface="Calibri"/>
                <a:cs typeface="Calibri"/>
              </a:rPr>
              <a:t> </a:t>
            </a:r>
            <a:r>
              <a:rPr sz="2400" dirty="0">
                <a:latin typeface="Calibri"/>
                <a:cs typeface="Calibri"/>
              </a:rPr>
              <a:t>model</a:t>
            </a:r>
            <a:r>
              <a:rPr sz="2400" spc="-60" dirty="0">
                <a:latin typeface="Calibri"/>
                <a:cs typeface="Calibri"/>
              </a:rPr>
              <a:t> </a:t>
            </a:r>
            <a:r>
              <a:rPr sz="2400" spc="-10" dirty="0">
                <a:latin typeface="Calibri"/>
                <a:cs typeface="Calibri"/>
              </a:rPr>
              <a:t>accuracy.</a:t>
            </a:r>
            <a:endParaRPr sz="2400" dirty="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24</a:t>
            </a:fld>
            <a:endParaRPr spc="-25" dirty="0"/>
          </a:p>
        </p:txBody>
      </p:sp>
      <p:sp>
        <p:nvSpPr>
          <p:cNvPr id="2" name="object 2"/>
          <p:cNvSpPr txBox="1"/>
          <p:nvPr/>
        </p:nvSpPr>
        <p:spPr>
          <a:xfrm>
            <a:off x="916939" y="419557"/>
            <a:ext cx="9084310" cy="5478780"/>
          </a:xfrm>
          <a:prstGeom prst="rect">
            <a:avLst/>
          </a:prstGeom>
        </p:spPr>
        <p:txBody>
          <a:bodyPr vert="horz" wrap="square" lIns="0" tIns="12065" rIns="0" bIns="0" rtlCol="0">
            <a:spAutoFit/>
          </a:bodyPr>
          <a:lstStyle/>
          <a:p>
            <a:pPr marL="12700">
              <a:lnSpc>
                <a:spcPct val="100000"/>
              </a:lnSpc>
              <a:spcBef>
                <a:spcPts val="95"/>
              </a:spcBef>
              <a:tabLst>
                <a:tab pos="240029" algn="l"/>
              </a:tabLst>
            </a:pPr>
            <a:r>
              <a:rPr sz="2800" b="1" dirty="0">
                <a:latin typeface="Calibri"/>
                <a:cs typeface="Calibri"/>
              </a:rPr>
              <a:t>4.</a:t>
            </a:r>
            <a:r>
              <a:rPr sz="2800" b="1" spc="-70" dirty="0">
                <a:latin typeface="Calibri"/>
                <a:cs typeface="Calibri"/>
              </a:rPr>
              <a:t> </a:t>
            </a:r>
            <a:r>
              <a:rPr sz="2800" b="1" dirty="0">
                <a:latin typeface="Calibri"/>
                <a:cs typeface="Calibri"/>
              </a:rPr>
              <a:t>Data</a:t>
            </a:r>
            <a:r>
              <a:rPr sz="2800" b="1" spc="-55" dirty="0">
                <a:latin typeface="Calibri"/>
                <a:cs typeface="Calibri"/>
              </a:rPr>
              <a:t> </a:t>
            </a:r>
            <a:r>
              <a:rPr sz="2800" b="1" spc="-10" dirty="0">
                <a:latin typeface="Calibri"/>
                <a:cs typeface="Calibri"/>
              </a:rPr>
              <a:t>Analysis</a:t>
            </a:r>
            <a:endParaRPr sz="2800" dirty="0">
              <a:latin typeface="Calibri"/>
              <a:cs typeface="Calibri"/>
            </a:endParaRPr>
          </a:p>
          <a:p>
            <a:pPr>
              <a:lnSpc>
                <a:spcPct val="100000"/>
              </a:lnSpc>
              <a:spcBef>
                <a:spcPts val="1275"/>
              </a:spcBef>
              <a:buFont typeface="Arial MT"/>
              <a:buChar char="•"/>
            </a:pPr>
            <a:endParaRPr sz="2800" dirty="0">
              <a:latin typeface="Calibri"/>
              <a:cs typeface="Calibri"/>
            </a:endParaRPr>
          </a:p>
          <a:p>
            <a:pPr marL="240665" indent="-227965">
              <a:lnSpc>
                <a:spcPct val="100000"/>
              </a:lnSpc>
              <a:spcBef>
                <a:spcPts val="5"/>
              </a:spcBef>
              <a:buFont typeface="Arial MT"/>
              <a:buChar char="•"/>
              <a:tabLst>
                <a:tab pos="240665" algn="l"/>
              </a:tabLst>
            </a:pPr>
            <a:r>
              <a:rPr sz="2800" b="1" spc="-10" dirty="0">
                <a:latin typeface="Calibri"/>
                <a:cs typeface="Calibri"/>
              </a:rPr>
              <a:t>Objective:</a:t>
            </a:r>
            <a:endParaRPr sz="2800" dirty="0">
              <a:latin typeface="Calibri"/>
              <a:cs typeface="Calibri"/>
            </a:endParaRPr>
          </a:p>
          <a:p>
            <a:pPr marL="697230" lvl="1" indent="-227329">
              <a:lnSpc>
                <a:spcPct val="100000"/>
              </a:lnSpc>
              <a:spcBef>
                <a:spcPts val="240"/>
              </a:spcBef>
              <a:buFont typeface="Arial MT"/>
              <a:buChar char="•"/>
              <a:tabLst>
                <a:tab pos="697230" algn="l"/>
              </a:tabLst>
            </a:pPr>
            <a:r>
              <a:rPr sz="2400" dirty="0">
                <a:latin typeface="Calibri"/>
                <a:cs typeface="Calibri"/>
              </a:rPr>
              <a:t>Analyze</a:t>
            </a:r>
            <a:r>
              <a:rPr sz="2400" spc="-45" dirty="0">
                <a:latin typeface="Calibri"/>
                <a:cs typeface="Calibri"/>
              </a:rPr>
              <a:t> </a:t>
            </a:r>
            <a:r>
              <a:rPr sz="2400" dirty="0">
                <a:latin typeface="Calibri"/>
                <a:cs typeface="Calibri"/>
              </a:rPr>
              <a:t>cleaned</a:t>
            </a:r>
            <a:r>
              <a:rPr sz="2400" spc="-45" dirty="0">
                <a:latin typeface="Calibri"/>
                <a:cs typeface="Calibri"/>
              </a:rPr>
              <a:t> </a:t>
            </a:r>
            <a:r>
              <a:rPr sz="2400" dirty="0">
                <a:latin typeface="Calibri"/>
                <a:cs typeface="Calibri"/>
              </a:rPr>
              <a:t>data</a:t>
            </a:r>
            <a:r>
              <a:rPr sz="2400" spc="-45" dirty="0">
                <a:latin typeface="Calibri"/>
                <a:cs typeface="Calibri"/>
              </a:rPr>
              <a:t> </a:t>
            </a:r>
            <a:r>
              <a:rPr sz="2400" dirty="0">
                <a:latin typeface="Calibri"/>
                <a:cs typeface="Calibri"/>
              </a:rPr>
              <a:t>to</a:t>
            </a:r>
            <a:r>
              <a:rPr sz="2400" spc="-45" dirty="0">
                <a:latin typeface="Calibri"/>
                <a:cs typeface="Calibri"/>
              </a:rPr>
              <a:t> </a:t>
            </a:r>
            <a:r>
              <a:rPr sz="2400" dirty="0">
                <a:latin typeface="Calibri"/>
                <a:cs typeface="Calibri"/>
              </a:rPr>
              <a:t>build</a:t>
            </a:r>
            <a:r>
              <a:rPr sz="2400" spc="-40" dirty="0">
                <a:latin typeface="Calibri"/>
                <a:cs typeface="Calibri"/>
              </a:rPr>
              <a:t> </a:t>
            </a:r>
            <a:r>
              <a:rPr sz="2400" dirty="0">
                <a:latin typeface="Calibri"/>
                <a:cs typeface="Calibri"/>
              </a:rPr>
              <a:t>a</a:t>
            </a:r>
            <a:r>
              <a:rPr sz="2400" spc="-30" dirty="0">
                <a:latin typeface="Calibri"/>
                <a:cs typeface="Calibri"/>
              </a:rPr>
              <a:t> </a:t>
            </a:r>
            <a:r>
              <a:rPr sz="2400" dirty="0">
                <a:latin typeface="Calibri"/>
                <a:cs typeface="Calibri"/>
              </a:rPr>
              <a:t>machine</a:t>
            </a:r>
            <a:r>
              <a:rPr sz="2400" spc="-50" dirty="0">
                <a:latin typeface="Calibri"/>
                <a:cs typeface="Calibri"/>
              </a:rPr>
              <a:t> </a:t>
            </a:r>
            <a:r>
              <a:rPr sz="2400" dirty="0">
                <a:latin typeface="Calibri"/>
                <a:cs typeface="Calibri"/>
              </a:rPr>
              <a:t>learning</a:t>
            </a:r>
            <a:r>
              <a:rPr sz="2400" spc="-50" dirty="0">
                <a:latin typeface="Calibri"/>
                <a:cs typeface="Calibri"/>
              </a:rPr>
              <a:t> </a:t>
            </a:r>
            <a:r>
              <a:rPr sz="2400" spc="-10" dirty="0">
                <a:latin typeface="Calibri"/>
                <a:cs typeface="Calibri"/>
              </a:rPr>
              <a:t>model.</a:t>
            </a:r>
            <a:endParaRPr sz="2400" dirty="0">
              <a:latin typeface="Calibri"/>
              <a:cs typeface="Calibri"/>
            </a:endParaRPr>
          </a:p>
          <a:p>
            <a:pPr marL="240665" indent="-227965">
              <a:lnSpc>
                <a:spcPct val="100000"/>
              </a:lnSpc>
              <a:spcBef>
                <a:spcPts val="635"/>
              </a:spcBef>
              <a:buFont typeface="Arial MT"/>
              <a:buChar char="•"/>
              <a:tabLst>
                <a:tab pos="240665" algn="l"/>
              </a:tabLst>
            </a:pPr>
            <a:r>
              <a:rPr sz="2800" b="1" spc="-10" dirty="0">
                <a:latin typeface="Calibri"/>
                <a:cs typeface="Calibri"/>
              </a:rPr>
              <a:t>Tasks:</a:t>
            </a:r>
            <a:endParaRPr sz="2800" dirty="0">
              <a:latin typeface="Calibri"/>
              <a:cs typeface="Calibri"/>
            </a:endParaRPr>
          </a:p>
          <a:p>
            <a:pPr marL="697230" lvl="1" indent="-227329">
              <a:lnSpc>
                <a:spcPct val="100000"/>
              </a:lnSpc>
              <a:spcBef>
                <a:spcPts val="245"/>
              </a:spcBef>
              <a:buFont typeface="Arial MT"/>
              <a:buChar char="•"/>
              <a:tabLst>
                <a:tab pos="697230" algn="l"/>
              </a:tabLst>
            </a:pPr>
            <a:r>
              <a:rPr sz="2400" b="1" dirty="0">
                <a:latin typeface="Calibri"/>
                <a:cs typeface="Calibri"/>
              </a:rPr>
              <a:t>Selection</a:t>
            </a:r>
            <a:r>
              <a:rPr sz="2400" b="1" spc="-50" dirty="0">
                <a:latin typeface="Calibri"/>
                <a:cs typeface="Calibri"/>
              </a:rPr>
              <a:t> </a:t>
            </a:r>
            <a:r>
              <a:rPr sz="2400" b="1" dirty="0">
                <a:latin typeface="Calibri"/>
                <a:cs typeface="Calibri"/>
              </a:rPr>
              <a:t>of</a:t>
            </a:r>
            <a:r>
              <a:rPr sz="2400" b="1" spc="-35" dirty="0">
                <a:latin typeface="Calibri"/>
                <a:cs typeface="Calibri"/>
              </a:rPr>
              <a:t> </a:t>
            </a:r>
            <a:r>
              <a:rPr sz="2400" b="1" dirty="0">
                <a:latin typeface="Calibri"/>
                <a:cs typeface="Calibri"/>
              </a:rPr>
              <a:t>Analytical</a:t>
            </a:r>
            <a:r>
              <a:rPr sz="2400" b="1" spc="-50" dirty="0">
                <a:latin typeface="Calibri"/>
                <a:cs typeface="Calibri"/>
              </a:rPr>
              <a:t> </a:t>
            </a:r>
            <a:r>
              <a:rPr sz="2400" b="1" spc="-10" dirty="0">
                <a:latin typeface="Calibri"/>
                <a:cs typeface="Calibri"/>
              </a:rPr>
              <a:t>Techniques:</a:t>
            </a:r>
            <a:endParaRPr sz="2400" dirty="0">
              <a:latin typeface="Calibri"/>
              <a:cs typeface="Calibri"/>
            </a:endParaRPr>
          </a:p>
          <a:p>
            <a:pPr marL="1155700" lvl="2" indent="-228600">
              <a:lnSpc>
                <a:spcPct val="100000"/>
              </a:lnSpc>
              <a:spcBef>
                <a:spcPts val="280"/>
              </a:spcBef>
              <a:buFont typeface="Arial MT"/>
              <a:buChar char="•"/>
              <a:tabLst>
                <a:tab pos="1155700" algn="l"/>
              </a:tabLst>
            </a:pPr>
            <a:r>
              <a:rPr sz="2000" dirty="0">
                <a:latin typeface="Calibri"/>
                <a:cs typeface="Calibri"/>
              </a:rPr>
              <a:t>Choose</a:t>
            </a:r>
            <a:r>
              <a:rPr sz="2000" spc="-45" dirty="0">
                <a:latin typeface="Calibri"/>
                <a:cs typeface="Calibri"/>
              </a:rPr>
              <a:t> </a:t>
            </a:r>
            <a:r>
              <a:rPr sz="2000" dirty="0">
                <a:latin typeface="Calibri"/>
                <a:cs typeface="Calibri"/>
              </a:rPr>
              <a:t>methods</a:t>
            </a:r>
            <a:r>
              <a:rPr sz="2000" spc="-15" dirty="0">
                <a:latin typeface="Calibri"/>
                <a:cs typeface="Calibri"/>
              </a:rPr>
              <a:t> </a:t>
            </a:r>
            <a:r>
              <a:rPr sz="2000" spc="-10" dirty="0">
                <a:latin typeface="Calibri"/>
                <a:cs typeface="Calibri"/>
              </a:rPr>
              <a:t>(Classification,</a:t>
            </a:r>
            <a:r>
              <a:rPr sz="2000" spc="5" dirty="0">
                <a:latin typeface="Calibri"/>
                <a:cs typeface="Calibri"/>
              </a:rPr>
              <a:t> </a:t>
            </a:r>
            <a:r>
              <a:rPr sz="2000" spc="-10" dirty="0">
                <a:latin typeface="Calibri"/>
                <a:cs typeface="Calibri"/>
              </a:rPr>
              <a:t>Regression,</a:t>
            </a:r>
            <a:r>
              <a:rPr sz="2000" spc="-15" dirty="0">
                <a:latin typeface="Calibri"/>
                <a:cs typeface="Calibri"/>
              </a:rPr>
              <a:t> </a:t>
            </a:r>
            <a:r>
              <a:rPr sz="2000" spc="-10" dirty="0">
                <a:latin typeface="Calibri"/>
                <a:cs typeface="Calibri"/>
              </a:rPr>
              <a:t>Clustering).</a:t>
            </a:r>
            <a:endParaRPr sz="2000" dirty="0">
              <a:latin typeface="Calibri"/>
              <a:cs typeface="Calibri"/>
            </a:endParaRPr>
          </a:p>
          <a:p>
            <a:pPr marL="697230" lvl="1" indent="-227329">
              <a:lnSpc>
                <a:spcPct val="100000"/>
              </a:lnSpc>
              <a:spcBef>
                <a:spcPts val="190"/>
              </a:spcBef>
              <a:buFont typeface="Arial MT"/>
              <a:buChar char="•"/>
              <a:tabLst>
                <a:tab pos="697230" algn="l"/>
              </a:tabLst>
            </a:pPr>
            <a:r>
              <a:rPr sz="2400" b="1" dirty="0">
                <a:latin typeface="Calibri"/>
                <a:cs typeface="Calibri"/>
              </a:rPr>
              <a:t>Building</a:t>
            </a:r>
            <a:r>
              <a:rPr sz="2400" b="1" spc="-60" dirty="0">
                <a:latin typeface="Calibri"/>
                <a:cs typeface="Calibri"/>
              </a:rPr>
              <a:t> </a:t>
            </a:r>
            <a:r>
              <a:rPr sz="2400" b="1" spc="-10" dirty="0">
                <a:latin typeface="Calibri"/>
                <a:cs typeface="Calibri"/>
              </a:rPr>
              <a:t>Models:</a:t>
            </a:r>
            <a:endParaRPr sz="2400" dirty="0">
              <a:latin typeface="Calibri"/>
              <a:cs typeface="Calibri"/>
            </a:endParaRPr>
          </a:p>
          <a:p>
            <a:pPr marL="1155700" lvl="2" indent="-228600">
              <a:lnSpc>
                <a:spcPct val="100000"/>
              </a:lnSpc>
              <a:spcBef>
                <a:spcPts val="280"/>
              </a:spcBef>
              <a:buFont typeface="Arial MT"/>
              <a:buChar char="•"/>
              <a:tabLst>
                <a:tab pos="1155700" algn="l"/>
              </a:tabLst>
            </a:pPr>
            <a:r>
              <a:rPr sz="2000" dirty="0">
                <a:latin typeface="Calibri"/>
                <a:cs typeface="Calibri"/>
              </a:rPr>
              <a:t>Construct</a:t>
            </a:r>
            <a:r>
              <a:rPr sz="2000" spc="-55" dirty="0">
                <a:latin typeface="Calibri"/>
                <a:cs typeface="Calibri"/>
              </a:rPr>
              <a:t> </a:t>
            </a:r>
            <a:r>
              <a:rPr sz="2000" dirty="0">
                <a:latin typeface="Calibri"/>
                <a:cs typeface="Calibri"/>
              </a:rPr>
              <a:t>models</a:t>
            </a:r>
            <a:r>
              <a:rPr sz="2000" spc="-50" dirty="0">
                <a:latin typeface="Calibri"/>
                <a:cs typeface="Calibri"/>
              </a:rPr>
              <a:t> </a:t>
            </a:r>
            <a:r>
              <a:rPr sz="2000" dirty="0">
                <a:latin typeface="Calibri"/>
                <a:cs typeface="Calibri"/>
              </a:rPr>
              <a:t>using</a:t>
            </a:r>
            <a:r>
              <a:rPr sz="2000" spc="-55" dirty="0">
                <a:latin typeface="Calibri"/>
                <a:cs typeface="Calibri"/>
              </a:rPr>
              <a:t> </a:t>
            </a:r>
            <a:r>
              <a:rPr sz="2000" dirty="0">
                <a:latin typeface="Calibri"/>
                <a:cs typeface="Calibri"/>
              </a:rPr>
              <a:t>prepared</a:t>
            </a:r>
            <a:r>
              <a:rPr sz="2000" spc="-55" dirty="0">
                <a:latin typeface="Calibri"/>
                <a:cs typeface="Calibri"/>
              </a:rPr>
              <a:t> </a:t>
            </a:r>
            <a:r>
              <a:rPr sz="2000" spc="-10" dirty="0">
                <a:latin typeface="Calibri"/>
                <a:cs typeface="Calibri"/>
              </a:rPr>
              <a:t>data.</a:t>
            </a:r>
            <a:endParaRPr sz="2000" dirty="0">
              <a:latin typeface="Calibri"/>
              <a:cs typeface="Calibri"/>
            </a:endParaRPr>
          </a:p>
          <a:p>
            <a:pPr marL="697230" lvl="1" indent="-227329">
              <a:lnSpc>
                <a:spcPct val="100000"/>
              </a:lnSpc>
              <a:spcBef>
                <a:spcPts val="190"/>
              </a:spcBef>
              <a:buFont typeface="Arial MT"/>
              <a:buChar char="•"/>
              <a:tabLst>
                <a:tab pos="697230" algn="l"/>
              </a:tabLst>
            </a:pPr>
            <a:r>
              <a:rPr sz="2400" b="1" spc="-10" dirty="0">
                <a:latin typeface="Calibri"/>
                <a:cs typeface="Calibri"/>
              </a:rPr>
              <a:t>Reviewing</a:t>
            </a:r>
            <a:r>
              <a:rPr sz="2400" b="1" spc="-60" dirty="0">
                <a:latin typeface="Calibri"/>
                <a:cs typeface="Calibri"/>
              </a:rPr>
              <a:t> </a:t>
            </a:r>
            <a:r>
              <a:rPr sz="2400" b="1" spc="-10" dirty="0">
                <a:latin typeface="Calibri"/>
                <a:cs typeface="Calibri"/>
              </a:rPr>
              <a:t>Results:</a:t>
            </a:r>
            <a:endParaRPr sz="2400" dirty="0">
              <a:latin typeface="Calibri"/>
              <a:cs typeface="Calibri"/>
            </a:endParaRPr>
          </a:p>
          <a:p>
            <a:pPr marL="1155700" lvl="2" indent="-228600">
              <a:lnSpc>
                <a:spcPct val="100000"/>
              </a:lnSpc>
              <a:spcBef>
                <a:spcPts val="290"/>
              </a:spcBef>
              <a:buFont typeface="Arial MT"/>
              <a:buChar char="•"/>
              <a:tabLst>
                <a:tab pos="1155700" algn="l"/>
              </a:tabLst>
            </a:pPr>
            <a:r>
              <a:rPr sz="2000" spc="-10" dirty="0">
                <a:latin typeface="Calibri"/>
                <a:cs typeface="Calibri"/>
              </a:rPr>
              <a:t>Evaluate</a:t>
            </a:r>
            <a:r>
              <a:rPr sz="2000" spc="-45" dirty="0">
                <a:latin typeface="Calibri"/>
                <a:cs typeface="Calibri"/>
              </a:rPr>
              <a:t> </a:t>
            </a:r>
            <a:r>
              <a:rPr sz="2000" dirty="0">
                <a:latin typeface="Calibri"/>
                <a:cs typeface="Calibri"/>
              </a:rPr>
              <a:t>and</a:t>
            </a:r>
            <a:r>
              <a:rPr sz="2000" spc="-45" dirty="0">
                <a:latin typeface="Calibri"/>
                <a:cs typeface="Calibri"/>
              </a:rPr>
              <a:t> </a:t>
            </a:r>
            <a:r>
              <a:rPr sz="2000" dirty="0">
                <a:latin typeface="Calibri"/>
                <a:cs typeface="Calibri"/>
              </a:rPr>
              <a:t>adjust</a:t>
            </a:r>
            <a:r>
              <a:rPr sz="2000" spc="-50" dirty="0">
                <a:latin typeface="Calibri"/>
                <a:cs typeface="Calibri"/>
              </a:rPr>
              <a:t> </a:t>
            </a:r>
            <a:r>
              <a:rPr sz="2000" dirty="0">
                <a:latin typeface="Calibri"/>
                <a:cs typeface="Calibri"/>
              </a:rPr>
              <a:t>model</a:t>
            </a:r>
            <a:r>
              <a:rPr sz="2000" spc="-50" dirty="0">
                <a:latin typeface="Calibri"/>
                <a:cs typeface="Calibri"/>
              </a:rPr>
              <a:t> </a:t>
            </a:r>
            <a:r>
              <a:rPr sz="2000" spc="-10" dirty="0">
                <a:latin typeface="Calibri"/>
                <a:cs typeface="Calibri"/>
              </a:rPr>
              <a:t>performance.</a:t>
            </a:r>
            <a:endParaRPr sz="2000" dirty="0">
              <a:latin typeface="Calibri"/>
              <a:cs typeface="Calibri"/>
            </a:endParaRPr>
          </a:p>
          <a:p>
            <a:pPr marL="240029" indent="-227329">
              <a:lnSpc>
                <a:spcPct val="100000"/>
              </a:lnSpc>
              <a:spcBef>
                <a:spcPts val="605"/>
              </a:spcBef>
              <a:buFont typeface="Arial MT"/>
              <a:buChar char="•"/>
              <a:tabLst>
                <a:tab pos="240029" algn="l"/>
              </a:tabLst>
            </a:pPr>
            <a:r>
              <a:rPr sz="2800" b="1" spc="-20" dirty="0">
                <a:latin typeface="Calibri"/>
                <a:cs typeface="Calibri"/>
              </a:rPr>
              <a:t>Aim:</a:t>
            </a:r>
            <a:endParaRPr sz="2800" dirty="0">
              <a:latin typeface="Calibri"/>
              <a:cs typeface="Calibri"/>
            </a:endParaRPr>
          </a:p>
          <a:p>
            <a:pPr marL="697230" lvl="1" indent="-227329">
              <a:lnSpc>
                <a:spcPct val="100000"/>
              </a:lnSpc>
              <a:spcBef>
                <a:spcPts val="245"/>
              </a:spcBef>
              <a:buFont typeface="Arial MT"/>
              <a:buChar char="•"/>
              <a:tabLst>
                <a:tab pos="697230" algn="l"/>
              </a:tabLst>
            </a:pPr>
            <a:r>
              <a:rPr sz="2400" dirty="0">
                <a:latin typeface="Calibri"/>
                <a:cs typeface="Calibri"/>
              </a:rPr>
              <a:t>Build</a:t>
            </a:r>
            <a:r>
              <a:rPr sz="2400" spc="-65" dirty="0">
                <a:latin typeface="Calibri"/>
                <a:cs typeface="Calibri"/>
              </a:rPr>
              <a:t> </a:t>
            </a:r>
            <a:r>
              <a:rPr sz="2400" dirty="0">
                <a:latin typeface="Calibri"/>
                <a:cs typeface="Calibri"/>
              </a:rPr>
              <a:t>a</a:t>
            </a:r>
            <a:r>
              <a:rPr sz="2400" spc="-50" dirty="0">
                <a:latin typeface="Calibri"/>
                <a:cs typeface="Calibri"/>
              </a:rPr>
              <a:t> </a:t>
            </a:r>
            <a:r>
              <a:rPr sz="2400" dirty="0">
                <a:latin typeface="Calibri"/>
                <a:cs typeface="Calibri"/>
              </a:rPr>
              <a:t>model</a:t>
            </a:r>
            <a:r>
              <a:rPr sz="2400" spc="-65" dirty="0">
                <a:latin typeface="Calibri"/>
                <a:cs typeface="Calibri"/>
              </a:rPr>
              <a:t> </a:t>
            </a:r>
            <a:r>
              <a:rPr sz="2400" dirty="0">
                <a:latin typeface="Calibri"/>
                <a:cs typeface="Calibri"/>
              </a:rPr>
              <a:t>that</a:t>
            </a:r>
            <a:r>
              <a:rPr sz="2400" spc="-50" dirty="0">
                <a:latin typeface="Calibri"/>
                <a:cs typeface="Calibri"/>
              </a:rPr>
              <a:t> </a:t>
            </a:r>
            <a:r>
              <a:rPr sz="2400" spc="-10" dirty="0">
                <a:latin typeface="Calibri"/>
                <a:cs typeface="Calibri"/>
              </a:rPr>
              <a:t>effectively</a:t>
            </a:r>
            <a:r>
              <a:rPr sz="2400" spc="-45" dirty="0">
                <a:latin typeface="Calibri"/>
                <a:cs typeface="Calibri"/>
              </a:rPr>
              <a:t> </a:t>
            </a:r>
            <a:r>
              <a:rPr sz="2400" spc="-10" dirty="0">
                <a:latin typeface="Calibri"/>
                <a:cs typeface="Calibri"/>
              </a:rPr>
              <a:t>analyzes</a:t>
            </a:r>
            <a:r>
              <a:rPr sz="2400" spc="-60" dirty="0">
                <a:latin typeface="Calibri"/>
                <a:cs typeface="Calibri"/>
              </a:rPr>
              <a:t> </a:t>
            </a:r>
            <a:r>
              <a:rPr sz="2400" dirty="0">
                <a:latin typeface="Calibri"/>
                <a:cs typeface="Calibri"/>
              </a:rPr>
              <a:t>data</a:t>
            </a:r>
            <a:r>
              <a:rPr sz="2400" spc="-60" dirty="0">
                <a:latin typeface="Calibri"/>
                <a:cs typeface="Calibri"/>
              </a:rPr>
              <a:t> </a:t>
            </a:r>
            <a:r>
              <a:rPr sz="2400" dirty="0">
                <a:latin typeface="Calibri"/>
                <a:cs typeface="Calibri"/>
              </a:rPr>
              <a:t>and</a:t>
            </a:r>
            <a:r>
              <a:rPr sz="2400" spc="-55" dirty="0">
                <a:latin typeface="Calibri"/>
                <a:cs typeface="Calibri"/>
              </a:rPr>
              <a:t> </a:t>
            </a:r>
            <a:r>
              <a:rPr sz="2400" dirty="0">
                <a:latin typeface="Calibri"/>
                <a:cs typeface="Calibri"/>
              </a:rPr>
              <a:t>solves</a:t>
            </a:r>
            <a:r>
              <a:rPr sz="2400" spc="-45" dirty="0">
                <a:latin typeface="Calibri"/>
                <a:cs typeface="Calibri"/>
              </a:rPr>
              <a:t> </a:t>
            </a:r>
            <a:r>
              <a:rPr sz="2400" dirty="0">
                <a:latin typeface="Calibri"/>
                <a:cs typeface="Calibri"/>
              </a:rPr>
              <a:t>the</a:t>
            </a:r>
            <a:r>
              <a:rPr sz="2400" spc="-55" dirty="0">
                <a:latin typeface="Calibri"/>
                <a:cs typeface="Calibri"/>
              </a:rPr>
              <a:t> </a:t>
            </a:r>
            <a:r>
              <a:rPr sz="2400" spc="-10" dirty="0">
                <a:latin typeface="Calibri"/>
                <a:cs typeface="Calibri"/>
              </a:rPr>
              <a:t>problem.</a:t>
            </a:r>
            <a:endParaRPr sz="2400" dirty="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25</a:t>
            </a:fld>
            <a:endParaRPr spc="-25" dirty="0"/>
          </a:p>
        </p:txBody>
      </p:sp>
      <p:sp>
        <p:nvSpPr>
          <p:cNvPr id="2" name="object 2"/>
          <p:cNvSpPr txBox="1"/>
          <p:nvPr/>
        </p:nvSpPr>
        <p:spPr>
          <a:xfrm>
            <a:off x="916939" y="419557"/>
            <a:ext cx="8507730" cy="4071620"/>
          </a:xfrm>
          <a:prstGeom prst="rect">
            <a:avLst/>
          </a:prstGeom>
        </p:spPr>
        <p:txBody>
          <a:bodyPr vert="horz" wrap="square" lIns="0" tIns="12065" rIns="0" bIns="0" rtlCol="0">
            <a:spAutoFit/>
          </a:bodyPr>
          <a:lstStyle/>
          <a:p>
            <a:pPr marL="240029" indent="-227329">
              <a:lnSpc>
                <a:spcPct val="100000"/>
              </a:lnSpc>
              <a:spcBef>
                <a:spcPts val="95"/>
              </a:spcBef>
              <a:buFont typeface="Arial MT"/>
              <a:buChar char="•"/>
              <a:tabLst>
                <a:tab pos="240029" algn="l"/>
              </a:tabLst>
            </a:pPr>
            <a:r>
              <a:rPr sz="2800" b="1" dirty="0">
                <a:latin typeface="Calibri"/>
                <a:cs typeface="Calibri"/>
              </a:rPr>
              <a:t>5.</a:t>
            </a:r>
            <a:r>
              <a:rPr sz="2800" b="1" spc="-75" dirty="0">
                <a:latin typeface="Calibri"/>
                <a:cs typeface="Calibri"/>
              </a:rPr>
              <a:t> </a:t>
            </a:r>
            <a:r>
              <a:rPr sz="2800" b="1" spc="-30" dirty="0">
                <a:latin typeface="Calibri"/>
                <a:cs typeface="Calibri"/>
              </a:rPr>
              <a:t>Train</a:t>
            </a:r>
            <a:r>
              <a:rPr sz="2800" b="1" spc="-65" dirty="0">
                <a:latin typeface="Calibri"/>
                <a:cs typeface="Calibri"/>
              </a:rPr>
              <a:t> </a:t>
            </a:r>
            <a:r>
              <a:rPr sz="2800" b="1" spc="-10" dirty="0">
                <a:latin typeface="Calibri"/>
                <a:cs typeface="Calibri"/>
              </a:rPr>
              <a:t>Model</a:t>
            </a:r>
            <a:endParaRPr sz="2800">
              <a:latin typeface="Calibri"/>
              <a:cs typeface="Calibri"/>
            </a:endParaRPr>
          </a:p>
          <a:p>
            <a:pPr>
              <a:lnSpc>
                <a:spcPct val="100000"/>
              </a:lnSpc>
              <a:spcBef>
                <a:spcPts val="1275"/>
              </a:spcBef>
              <a:buFont typeface="Arial MT"/>
              <a:buChar char="•"/>
            </a:pPr>
            <a:endParaRPr sz="2800">
              <a:latin typeface="Calibri"/>
              <a:cs typeface="Calibri"/>
            </a:endParaRPr>
          </a:p>
          <a:p>
            <a:pPr marL="240665" indent="-227965">
              <a:lnSpc>
                <a:spcPct val="100000"/>
              </a:lnSpc>
              <a:spcBef>
                <a:spcPts val="5"/>
              </a:spcBef>
              <a:buFont typeface="Arial MT"/>
              <a:buChar char="•"/>
              <a:tabLst>
                <a:tab pos="240665" algn="l"/>
              </a:tabLst>
            </a:pPr>
            <a:r>
              <a:rPr sz="2800" b="1" spc="-10" dirty="0">
                <a:latin typeface="Calibri"/>
                <a:cs typeface="Calibri"/>
              </a:rPr>
              <a:t>Objective:</a:t>
            </a:r>
            <a:endParaRPr sz="2800">
              <a:latin typeface="Calibri"/>
              <a:cs typeface="Calibri"/>
            </a:endParaRPr>
          </a:p>
          <a:p>
            <a:pPr marL="697230" lvl="1" indent="-227329">
              <a:lnSpc>
                <a:spcPct val="100000"/>
              </a:lnSpc>
              <a:spcBef>
                <a:spcPts val="240"/>
              </a:spcBef>
              <a:buFont typeface="Arial MT"/>
              <a:buChar char="•"/>
              <a:tabLst>
                <a:tab pos="697230" algn="l"/>
              </a:tabLst>
            </a:pPr>
            <a:r>
              <a:rPr sz="2400" dirty="0">
                <a:latin typeface="Calibri"/>
                <a:cs typeface="Calibri"/>
              </a:rPr>
              <a:t>Enhance</a:t>
            </a:r>
            <a:r>
              <a:rPr sz="2400" spc="-75" dirty="0">
                <a:latin typeface="Calibri"/>
                <a:cs typeface="Calibri"/>
              </a:rPr>
              <a:t> </a:t>
            </a:r>
            <a:r>
              <a:rPr sz="2400" dirty="0">
                <a:latin typeface="Calibri"/>
                <a:cs typeface="Calibri"/>
              </a:rPr>
              <a:t>model</a:t>
            </a:r>
            <a:r>
              <a:rPr sz="2400" spc="-90" dirty="0">
                <a:latin typeface="Calibri"/>
                <a:cs typeface="Calibri"/>
              </a:rPr>
              <a:t> </a:t>
            </a:r>
            <a:r>
              <a:rPr sz="2400" dirty="0">
                <a:latin typeface="Calibri"/>
                <a:cs typeface="Calibri"/>
              </a:rPr>
              <a:t>performance</a:t>
            </a:r>
            <a:r>
              <a:rPr sz="2400" spc="-90" dirty="0">
                <a:latin typeface="Calibri"/>
                <a:cs typeface="Calibri"/>
              </a:rPr>
              <a:t> </a:t>
            </a:r>
            <a:r>
              <a:rPr sz="2400" dirty="0">
                <a:latin typeface="Calibri"/>
                <a:cs typeface="Calibri"/>
              </a:rPr>
              <a:t>through</a:t>
            </a:r>
            <a:r>
              <a:rPr sz="2400" spc="-90" dirty="0">
                <a:latin typeface="Calibri"/>
                <a:cs typeface="Calibri"/>
              </a:rPr>
              <a:t> </a:t>
            </a:r>
            <a:r>
              <a:rPr sz="2400" spc="-10" dirty="0">
                <a:latin typeface="Calibri"/>
                <a:cs typeface="Calibri"/>
              </a:rPr>
              <a:t>training.</a:t>
            </a:r>
            <a:endParaRPr sz="2400">
              <a:latin typeface="Calibri"/>
              <a:cs typeface="Calibri"/>
            </a:endParaRPr>
          </a:p>
          <a:p>
            <a:pPr marL="240665" indent="-227965">
              <a:lnSpc>
                <a:spcPct val="100000"/>
              </a:lnSpc>
              <a:spcBef>
                <a:spcPts val="635"/>
              </a:spcBef>
              <a:buFont typeface="Arial MT"/>
              <a:buChar char="•"/>
              <a:tabLst>
                <a:tab pos="240665" algn="l"/>
              </a:tabLst>
            </a:pPr>
            <a:r>
              <a:rPr sz="2800" b="1" spc="-10" dirty="0">
                <a:latin typeface="Calibri"/>
                <a:cs typeface="Calibri"/>
              </a:rPr>
              <a:t>Tasks:</a:t>
            </a:r>
            <a:endParaRPr sz="2800">
              <a:latin typeface="Calibri"/>
              <a:cs typeface="Calibri"/>
            </a:endParaRPr>
          </a:p>
          <a:p>
            <a:pPr marL="697230" lvl="1" indent="-227329">
              <a:lnSpc>
                <a:spcPct val="100000"/>
              </a:lnSpc>
              <a:spcBef>
                <a:spcPts val="245"/>
              </a:spcBef>
              <a:buFont typeface="Arial MT"/>
              <a:buChar char="•"/>
              <a:tabLst>
                <a:tab pos="697230" algn="l"/>
              </a:tabLst>
            </a:pPr>
            <a:r>
              <a:rPr sz="2400" dirty="0">
                <a:latin typeface="Calibri"/>
                <a:cs typeface="Calibri"/>
              </a:rPr>
              <a:t>Use</a:t>
            </a:r>
            <a:r>
              <a:rPr sz="2400" spc="-50" dirty="0">
                <a:latin typeface="Calibri"/>
                <a:cs typeface="Calibri"/>
              </a:rPr>
              <a:t> </a:t>
            </a:r>
            <a:r>
              <a:rPr sz="2400" spc="-10" dirty="0">
                <a:latin typeface="Calibri"/>
                <a:cs typeface="Calibri"/>
              </a:rPr>
              <a:t>datasets</a:t>
            </a:r>
            <a:r>
              <a:rPr sz="2400" spc="-65" dirty="0">
                <a:latin typeface="Calibri"/>
                <a:cs typeface="Calibri"/>
              </a:rPr>
              <a:t> </a:t>
            </a:r>
            <a:r>
              <a:rPr sz="2400" dirty="0">
                <a:latin typeface="Calibri"/>
                <a:cs typeface="Calibri"/>
              </a:rPr>
              <a:t>to</a:t>
            </a:r>
            <a:r>
              <a:rPr sz="2400" spc="-60" dirty="0">
                <a:latin typeface="Calibri"/>
                <a:cs typeface="Calibri"/>
              </a:rPr>
              <a:t> </a:t>
            </a:r>
            <a:r>
              <a:rPr sz="2400" dirty="0">
                <a:latin typeface="Calibri"/>
                <a:cs typeface="Calibri"/>
              </a:rPr>
              <a:t>train</a:t>
            </a:r>
            <a:r>
              <a:rPr sz="2400" spc="-60" dirty="0">
                <a:latin typeface="Calibri"/>
                <a:cs typeface="Calibri"/>
              </a:rPr>
              <a:t> </a:t>
            </a:r>
            <a:r>
              <a:rPr sz="2400" dirty="0">
                <a:latin typeface="Calibri"/>
                <a:cs typeface="Calibri"/>
              </a:rPr>
              <a:t>with</a:t>
            </a:r>
            <a:r>
              <a:rPr sz="2400" spc="-70" dirty="0">
                <a:latin typeface="Calibri"/>
                <a:cs typeface="Calibri"/>
              </a:rPr>
              <a:t> </a:t>
            </a:r>
            <a:r>
              <a:rPr sz="2400" dirty="0">
                <a:latin typeface="Calibri"/>
                <a:cs typeface="Calibri"/>
              </a:rPr>
              <a:t>various</a:t>
            </a:r>
            <a:r>
              <a:rPr sz="2400" spc="-50" dirty="0">
                <a:latin typeface="Calibri"/>
                <a:cs typeface="Calibri"/>
              </a:rPr>
              <a:t> </a:t>
            </a:r>
            <a:r>
              <a:rPr sz="2400" dirty="0">
                <a:latin typeface="Calibri"/>
                <a:cs typeface="Calibri"/>
              </a:rPr>
              <a:t>machine</a:t>
            </a:r>
            <a:r>
              <a:rPr sz="2400" spc="-60" dirty="0">
                <a:latin typeface="Calibri"/>
                <a:cs typeface="Calibri"/>
              </a:rPr>
              <a:t> </a:t>
            </a:r>
            <a:r>
              <a:rPr sz="2400" dirty="0">
                <a:latin typeface="Calibri"/>
                <a:cs typeface="Calibri"/>
              </a:rPr>
              <a:t>learning</a:t>
            </a:r>
            <a:r>
              <a:rPr sz="2400" spc="-60" dirty="0">
                <a:latin typeface="Calibri"/>
                <a:cs typeface="Calibri"/>
              </a:rPr>
              <a:t> </a:t>
            </a:r>
            <a:r>
              <a:rPr sz="2400" spc="-10" dirty="0">
                <a:latin typeface="Calibri"/>
                <a:cs typeface="Calibri"/>
              </a:rPr>
              <a:t>algorithms.</a:t>
            </a:r>
            <a:endParaRPr sz="2400">
              <a:latin typeface="Calibri"/>
              <a:cs typeface="Calibri"/>
            </a:endParaRPr>
          </a:p>
          <a:p>
            <a:pPr marL="697230" lvl="1" indent="-227329">
              <a:lnSpc>
                <a:spcPct val="100000"/>
              </a:lnSpc>
              <a:spcBef>
                <a:spcPts val="204"/>
              </a:spcBef>
              <a:buFont typeface="Arial MT"/>
              <a:buChar char="•"/>
              <a:tabLst>
                <a:tab pos="697230" algn="l"/>
              </a:tabLst>
            </a:pPr>
            <a:r>
              <a:rPr sz="2400" dirty="0">
                <a:latin typeface="Calibri"/>
                <a:cs typeface="Calibri"/>
              </a:rPr>
              <a:t>Enable</a:t>
            </a:r>
            <a:r>
              <a:rPr sz="2400" spc="-45" dirty="0">
                <a:latin typeface="Calibri"/>
                <a:cs typeface="Calibri"/>
              </a:rPr>
              <a:t> </a:t>
            </a:r>
            <a:r>
              <a:rPr sz="2400" dirty="0">
                <a:latin typeface="Calibri"/>
                <a:cs typeface="Calibri"/>
              </a:rPr>
              <a:t>the</a:t>
            </a:r>
            <a:r>
              <a:rPr sz="2400" spc="-55" dirty="0">
                <a:latin typeface="Calibri"/>
                <a:cs typeface="Calibri"/>
              </a:rPr>
              <a:t> </a:t>
            </a:r>
            <a:r>
              <a:rPr sz="2400" dirty="0">
                <a:latin typeface="Calibri"/>
                <a:cs typeface="Calibri"/>
              </a:rPr>
              <a:t>model</a:t>
            </a:r>
            <a:r>
              <a:rPr sz="2400" spc="-45" dirty="0">
                <a:latin typeface="Calibri"/>
                <a:cs typeface="Calibri"/>
              </a:rPr>
              <a:t> </a:t>
            </a:r>
            <a:r>
              <a:rPr sz="2400" dirty="0">
                <a:latin typeface="Calibri"/>
                <a:cs typeface="Calibri"/>
              </a:rPr>
              <a:t>to</a:t>
            </a:r>
            <a:r>
              <a:rPr sz="2400" spc="-50" dirty="0">
                <a:latin typeface="Calibri"/>
                <a:cs typeface="Calibri"/>
              </a:rPr>
              <a:t> </a:t>
            </a:r>
            <a:r>
              <a:rPr sz="2400" dirty="0">
                <a:latin typeface="Calibri"/>
                <a:cs typeface="Calibri"/>
              </a:rPr>
              <a:t>learn</a:t>
            </a:r>
            <a:r>
              <a:rPr sz="2400" spc="-60" dirty="0">
                <a:latin typeface="Calibri"/>
                <a:cs typeface="Calibri"/>
              </a:rPr>
              <a:t> </a:t>
            </a:r>
            <a:r>
              <a:rPr sz="2400" spc="-10" dirty="0">
                <a:latin typeface="Calibri"/>
                <a:cs typeface="Calibri"/>
              </a:rPr>
              <a:t>patterns</a:t>
            </a:r>
            <a:r>
              <a:rPr sz="2400" spc="-60" dirty="0">
                <a:latin typeface="Calibri"/>
                <a:cs typeface="Calibri"/>
              </a:rPr>
              <a:t> </a:t>
            </a:r>
            <a:r>
              <a:rPr sz="2400" dirty="0">
                <a:latin typeface="Calibri"/>
                <a:cs typeface="Calibri"/>
              </a:rPr>
              <a:t>and</a:t>
            </a:r>
            <a:r>
              <a:rPr sz="2400" spc="-40" dirty="0">
                <a:latin typeface="Calibri"/>
                <a:cs typeface="Calibri"/>
              </a:rPr>
              <a:t> </a:t>
            </a:r>
            <a:r>
              <a:rPr sz="2400" spc="-10" dirty="0">
                <a:latin typeface="Calibri"/>
                <a:cs typeface="Calibri"/>
              </a:rPr>
              <a:t>rules.</a:t>
            </a:r>
            <a:endParaRPr sz="2400">
              <a:latin typeface="Calibri"/>
              <a:cs typeface="Calibri"/>
            </a:endParaRPr>
          </a:p>
          <a:p>
            <a:pPr marL="240029" indent="-227329">
              <a:lnSpc>
                <a:spcPct val="100000"/>
              </a:lnSpc>
              <a:spcBef>
                <a:spcPts val="645"/>
              </a:spcBef>
              <a:buFont typeface="Arial MT"/>
              <a:buChar char="•"/>
              <a:tabLst>
                <a:tab pos="240029" algn="l"/>
              </a:tabLst>
            </a:pPr>
            <a:r>
              <a:rPr sz="2800" b="1" spc="-10" dirty="0">
                <a:latin typeface="Calibri"/>
                <a:cs typeface="Calibri"/>
              </a:rPr>
              <a:t>Importance:</a:t>
            </a:r>
            <a:endParaRPr sz="2800">
              <a:latin typeface="Calibri"/>
              <a:cs typeface="Calibri"/>
            </a:endParaRPr>
          </a:p>
          <a:p>
            <a:pPr marL="697230" lvl="1" indent="-227329">
              <a:lnSpc>
                <a:spcPct val="100000"/>
              </a:lnSpc>
              <a:spcBef>
                <a:spcPts val="234"/>
              </a:spcBef>
              <a:buFont typeface="Arial MT"/>
              <a:buChar char="•"/>
              <a:tabLst>
                <a:tab pos="697230" algn="l"/>
              </a:tabLst>
            </a:pPr>
            <a:r>
              <a:rPr sz="2400" dirty="0">
                <a:latin typeface="Calibri"/>
                <a:cs typeface="Calibri"/>
              </a:rPr>
              <a:t>Essential</a:t>
            </a:r>
            <a:r>
              <a:rPr sz="2400" spc="-80" dirty="0">
                <a:latin typeface="Calibri"/>
                <a:cs typeface="Calibri"/>
              </a:rPr>
              <a:t> </a:t>
            </a:r>
            <a:r>
              <a:rPr sz="2400" dirty="0">
                <a:latin typeface="Calibri"/>
                <a:cs typeface="Calibri"/>
              </a:rPr>
              <a:t>for</a:t>
            </a:r>
            <a:r>
              <a:rPr sz="2400" spc="-55" dirty="0">
                <a:latin typeface="Calibri"/>
                <a:cs typeface="Calibri"/>
              </a:rPr>
              <a:t> </a:t>
            </a:r>
            <a:r>
              <a:rPr sz="2400" spc="-10" dirty="0">
                <a:latin typeface="Calibri"/>
                <a:cs typeface="Calibri"/>
              </a:rPr>
              <a:t>understanding</a:t>
            </a:r>
            <a:r>
              <a:rPr sz="2400" spc="-90" dirty="0">
                <a:latin typeface="Calibri"/>
                <a:cs typeface="Calibri"/>
              </a:rPr>
              <a:t> </a:t>
            </a:r>
            <a:r>
              <a:rPr sz="2400" dirty="0">
                <a:latin typeface="Calibri"/>
                <a:cs typeface="Calibri"/>
              </a:rPr>
              <a:t>and</a:t>
            </a:r>
            <a:r>
              <a:rPr sz="2400" spc="-70" dirty="0">
                <a:latin typeface="Calibri"/>
                <a:cs typeface="Calibri"/>
              </a:rPr>
              <a:t> </a:t>
            </a:r>
            <a:r>
              <a:rPr sz="2400" dirty="0">
                <a:latin typeface="Calibri"/>
                <a:cs typeface="Calibri"/>
              </a:rPr>
              <a:t>predicting</a:t>
            </a:r>
            <a:r>
              <a:rPr sz="2400" spc="-60" dirty="0">
                <a:latin typeface="Calibri"/>
                <a:cs typeface="Calibri"/>
              </a:rPr>
              <a:t> </a:t>
            </a:r>
            <a:r>
              <a:rPr sz="2400" spc="-10" dirty="0">
                <a:latin typeface="Calibri"/>
                <a:cs typeface="Calibri"/>
              </a:rPr>
              <a:t>outcomes.</a:t>
            </a:r>
            <a:endParaRPr sz="240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26</a:t>
            </a:fld>
            <a:endParaRPr spc="-25" dirty="0"/>
          </a:p>
        </p:txBody>
      </p:sp>
      <p:sp>
        <p:nvSpPr>
          <p:cNvPr id="2" name="object 2"/>
          <p:cNvSpPr txBox="1"/>
          <p:nvPr/>
        </p:nvSpPr>
        <p:spPr>
          <a:xfrm>
            <a:off x="916939" y="429894"/>
            <a:ext cx="7992745" cy="4070985"/>
          </a:xfrm>
          <a:prstGeom prst="rect">
            <a:avLst/>
          </a:prstGeom>
        </p:spPr>
        <p:txBody>
          <a:bodyPr vert="horz" wrap="square" lIns="0" tIns="12065" rIns="0" bIns="0" rtlCol="0">
            <a:spAutoFit/>
          </a:bodyPr>
          <a:lstStyle/>
          <a:p>
            <a:pPr marL="12700">
              <a:lnSpc>
                <a:spcPct val="100000"/>
              </a:lnSpc>
              <a:spcBef>
                <a:spcPts val="95"/>
              </a:spcBef>
              <a:tabLst>
                <a:tab pos="240665" algn="l"/>
              </a:tabLst>
            </a:pPr>
            <a:r>
              <a:rPr sz="2800" b="1" dirty="0">
                <a:latin typeface="Calibri"/>
                <a:cs typeface="Calibri"/>
              </a:rPr>
              <a:t>6.</a:t>
            </a:r>
            <a:r>
              <a:rPr sz="2800" b="1" spc="-70" dirty="0">
                <a:latin typeface="Calibri"/>
                <a:cs typeface="Calibri"/>
              </a:rPr>
              <a:t> </a:t>
            </a:r>
            <a:r>
              <a:rPr sz="2800" b="1" spc="-50" dirty="0">
                <a:latin typeface="Calibri"/>
                <a:cs typeface="Calibri"/>
              </a:rPr>
              <a:t>Test </a:t>
            </a:r>
            <a:r>
              <a:rPr sz="2800" b="1" spc="-10" dirty="0">
                <a:latin typeface="Calibri"/>
                <a:cs typeface="Calibri"/>
              </a:rPr>
              <a:t>Model</a:t>
            </a:r>
            <a:endParaRPr sz="2800" dirty="0">
              <a:latin typeface="Calibri"/>
              <a:cs typeface="Calibri"/>
            </a:endParaRPr>
          </a:p>
          <a:p>
            <a:pPr>
              <a:lnSpc>
                <a:spcPct val="100000"/>
              </a:lnSpc>
              <a:spcBef>
                <a:spcPts val="1275"/>
              </a:spcBef>
              <a:buFont typeface="Arial MT"/>
              <a:buChar char="•"/>
            </a:pPr>
            <a:endParaRPr sz="2800" dirty="0">
              <a:latin typeface="Calibri"/>
              <a:cs typeface="Calibri"/>
            </a:endParaRPr>
          </a:p>
          <a:p>
            <a:pPr marL="240029" indent="-227329">
              <a:lnSpc>
                <a:spcPct val="100000"/>
              </a:lnSpc>
              <a:buFont typeface="Arial MT"/>
              <a:buChar char="•"/>
              <a:tabLst>
                <a:tab pos="240029" algn="l"/>
              </a:tabLst>
            </a:pPr>
            <a:r>
              <a:rPr sz="2800" b="1" spc="-10" dirty="0">
                <a:latin typeface="Calibri"/>
                <a:cs typeface="Calibri"/>
              </a:rPr>
              <a:t>Objective:</a:t>
            </a:r>
            <a:endParaRPr sz="2800" dirty="0">
              <a:latin typeface="Calibri"/>
              <a:cs typeface="Calibri"/>
            </a:endParaRPr>
          </a:p>
          <a:p>
            <a:pPr marL="697230" lvl="1" indent="-227329">
              <a:lnSpc>
                <a:spcPct val="100000"/>
              </a:lnSpc>
              <a:spcBef>
                <a:spcPts val="245"/>
              </a:spcBef>
              <a:buFont typeface="Arial MT"/>
              <a:buChar char="•"/>
              <a:tabLst>
                <a:tab pos="697230" algn="l"/>
              </a:tabLst>
            </a:pPr>
            <a:r>
              <a:rPr sz="2400" spc="-20" dirty="0">
                <a:latin typeface="Calibri"/>
                <a:cs typeface="Calibri"/>
              </a:rPr>
              <a:t>Evaluate</a:t>
            </a:r>
            <a:r>
              <a:rPr sz="2400" spc="-60" dirty="0">
                <a:latin typeface="Calibri"/>
                <a:cs typeface="Calibri"/>
              </a:rPr>
              <a:t> </a:t>
            </a:r>
            <a:r>
              <a:rPr sz="2400" dirty="0">
                <a:latin typeface="Calibri"/>
                <a:cs typeface="Calibri"/>
              </a:rPr>
              <a:t>accuracy</a:t>
            </a:r>
            <a:r>
              <a:rPr sz="2400" spc="-85" dirty="0">
                <a:latin typeface="Calibri"/>
                <a:cs typeface="Calibri"/>
              </a:rPr>
              <a:t> </a:t>
            </a:r>
            <a:r>
              <a:rPr sz="2400" dirty="0">
                <a:latin typeface="Calibri"/>
                <a:cs typeface="Calibri"/>
              </a:rPr>
              <a:t>and</a:t>
            </a:r>
            <a:r>
              <a:rPr sz="2400" spc="-65" dirty="0">
                <a:latin typeface="Calibri"/>
                <a:cs typeface="Calibri"/>
              </a:rPr>
              <a:t> </a:t>
            </a:r>
            <a:r>
              <a:rPr sz="2400" dirty="0">
                <a:latin typeface="Calibri"/>
                <a:cs typeface="Calibri"/>
              </a:rPr>
              <a:t>performance</a:t>
            </a:r>
            <a:r>
              <a:rPr sz="2400" spc="-65" dirty="0">
                <a:latin typeface="Calibri"/>
                <a:cs typeface="Calibri"/>
              </a:rPr>
              <a:t> </a:t>
            </a:r>
            <a:r>
              <a:rPr sz="2400" dirty="0">
                <a:latin typeface="Calibri"/>
                <a:cs typeface="Calibri"/>
              </a:rPr>
              <a:t>of</a:t>
            </a:r>
            <a:r>
              <a:rPr sz="2400" spc="-60" dirty="0">
                <a:latin typeface="Calibri"/>
                <a:cs typeface="Calibri"/>
              </a:rPr>
              <a:t> </a:t>
            </a:r>
            <a:r>
              <a:rPr sz="2400" dirty="0">
                <a:latin typeface="Calibri"/>
                <a:cs typeface="Calibri"/>
              </a:rPr>
              <a:t>the</a:t>
            </a:r>
            <a:r>
              <a:rPr sz="2400" spc="-70" dirty="0">
                <a:latin typeface="Calibri"/>
                <a:cs typeface="Calibri"/>
              </a:rPr>
              <a:t> </a:t>
            </a:r>
            <a:r>
              <a:rPr sz="2400" dirty="0">
                <a:latin typeface="Calibri"/>
                <a:cs typeface="Calibri"/>
              </a:rPr>
              <a:t>trained</a:t>
            </a:r>
            <a:r>
              <a:rPr sz="2400" spc="-65" dirty="0">
                <a:latin typeface="Calibri"/>
                <a:cs typeface="Calibri"/>
              </a:rPr>
              <a:t> </a:t>
            </a:r>
            <a:r>
              <a:rPr sz="2400" spc="-10" dirty="0">
                <a:latin typeface="Calibri"/>
                <a:cs typeface="Calibri"/>
              </a:rPr>
              <a:t>model.</a:t>
            </a:r>
            <a:endParaRPr sz="2400" dirty="0">
              <a:latin typeface="Calibri"/>
              <a:cs typeface="Calibri"/>
            </a:endParaRPr>
          </a:p>
          <a:p>
            <a:pPr marL="240665" indent="-227965">
              <a:lnSpc>
                <a:spcPct val="100000"/>
              </a:lnSpc>
              <a:spcBef>
                <a:spcPts val="630"/>
              </a:spcBef>
              <a:buFont typeface="Arial MT"/>
              <a:buChar char="•"/>
              <a:tabLst>
                <a:tab pos="240665" algn="l"/>
              </a:tabLst>
            </a:pPr>
            <a:r>
              <a:rPr sz="2800" b="1" spc="-10" dirty="0">
                <a:latin typeface="Calibri"/>
                <a:cs typeface="Calibri"/>
              </a:rPr>
              <a:t>Tasks:</a:t>
            </a:r>
            <a:endParaRPr sz="2800" dirty="0">
              <a:latin typeface="Calibri"/>
              <a:cs typeface="Calibri"/>
            </a:endParaRPr>
          </a:p>
          <a:p>
            <a:pPr marL="697230" lvl="1" indent="-227329">
              <a:lnSpc>
                <a:spcPct val="100000"/>
              </a:lnSpc>
              <a:spcBef>
                <a:spcPts val="245"/>
              </a:spcBef>
              <a:buFont typeface="Arial MT"/>
              <a:buChar char="•"/>
              <a:tabLst>
                <a:tab pos="697230" algn="l"/>
              </a:tabLst>
            </a:pPr>
            <a:r>
              <a:rPr sz="2400" dirty="0">
                <a:latin typeface="Calibri"/>
                <a:cs typeface="Calibri"/>
              </a:rPr>
              <a:t>Provide</a:t>
            </a:r>
            <a:r>
              <a:rPr sz="2400" spc="-70" dirty="0">
                <a:latin typeface="Calibri"/>
                <a:cs typeface="Calibri"/>
              </a:rPr>
              <a:t> </a:t>
            </a:r>
            <a:r>
              <a:rPr sz="2400" dirty="0">
                <a:latin typeface="Calibri"/>
                <a:cs typeface="Calibri"/>
              </a:rPr>
              <a:t>a</a:t>
            </a:r>
            <a:r>
              <a:rPr sz="2400" spc="-70" dirty="0">
                <a:latin typeface="Calibri"/>
                <a:cs typeface="Calibri"/>
              </a:rPr>
              <a:t> </a:t>
            </a:r>
            <a:r>
              <a:rPr sz="2400" dirty="0">
                <a:latin typeface="Calibri"/>
                <a:cs typeface="Calibri"/>
              </a:rPr>
              <a:t>test</a:t>
            </a:r>
            <a:r>
              <a:rPr sz="2400" spc="-75" dirty="0">
                <a:latin typeface="Calibri"/>
                <a:cs typeface="Calibri"/>
              </a:rPr>
              <a:t> </a:t>
            </a:r>
            <a:r>
              <a:rPr sz="2400" spc="-10" dirty="0">
                <a:latin typeface="Calibri"/>
                <a:cs typeface="Calibri"/>
              </a:rPr>
              <a:t>dataset.</a:t>
            </a:r>
            <a:endParaRPr sz="2400" dirty="0">
              <a:latin typeface="Calibri"/>
              <a:cs typeface="Calibri"/>
            </a:endParaRPr>
          </a:p>
          <a:p>
            <a:pPr marL="697230" lvl="1" indent="-227329">
              <a:lnSpc>
                <a:spcPct val="100000"/>
              </a:lnSpc>
              <a:spcBef>
                <a:spcPts val="204"/>
              </a:spcBef>
              <a:buFont typeface="Arial MT"/>
              <a:buChar char="•"/>
              <a:tabLst>
                <a:tab pos="697230" algn="l"/>
              </a:tabLst>
            </a:pPr>
            <a:r>
              <a:rPr sz="2400" dirty="0">
                <a:latin typeface="Calibri"/>
                <a:cs typeface="Calibri"/>
              </a:rPr>
              <a:t>Measure</a:t>
            </a:r>
            <a:r>
              <a:rPr sz="2400" spc="-70" dirty="0">
                <a:latin typeface="Calibri"/>
                <a:cs typeface="Calibri"/>
              </a:rPr>
              <a:t> </a:t>
            </a:r>
            <a:r>
              <a:rPr sz="2400" dirty="0">
                <a:latin typeface="Calibri"/>
                <a:cs typeface="Calibri"/>
              </a:rPr>
              <a:t>accuracy</a:t>
            </a:r>
            <a:r>
              <a:rPr sz="2400" spc="-90" dirty="0">
                <a:latin typeface="Calibri"/>
                <a:cs typeface="Calibri"/>
              </a:rPr>
              <a:t> </a:t>
            </a:r>
            <a:r>
              <a:rPr sz="2400" dirty="0">
                <a:latin typeface="Calibri"/>
                <a:cs typeface="Calibri"/>
              </a:rPr>
              <a:t>to</a:t>
            </a:r>
            <a:r>
              <a:rPr sz="2400" spc="-80" dirty="0">
                <a:latin typeface="Calibri"/>
                <a:cs typeface="Calibri"/>
              </a:rPr>
              <a:t> </a:t>
            </a:r>
            <a:r>
              <a:rPr sz="2400" dirty="0">
                <a:latin typeface="Calibri"/>
                <a:cs typeface="Calibri"/>
              </a:rPr>
              <a:t>ensure</a:t>
            </a:r>
            <a:r>
              <a:rPr sz="2400" spc="-65" dirty="0">
                <a:latin typeface="Calibri"/>
                <a:cs typeface="Calibri"/>
              </a:rPr>
              <a:t> </a:t>
            </a:r>
            <a:r>
              <a:rPr sz="2400" dirty="0">
                <a:latin typeface="Calibri"/>
                <a:cs typeface="Calibri"/>
              </a:rPr>
              <a:t>project</a:t>
            </a:r>
            <a:r>
              <a:rPr sz="2400" spc="-75" dirty="0">
                <a:latin typeface="Calibri"/>
                <a:cs typeface="Calibri"/>
              </a:rPr>
              <a:t> </a:t>
            </a:r>
            <a:r>
              <a:rPr sz="2400" spc="-10" dirty="0">
                <a:latin typeface="Calibri"/>
                <a:cs typeface="Calibri"/>
              </a:rPr>
              <a:t>requirements</a:t>
            </a:r>
            <a:r>
              <a:rPr sz="2400" spc="-65" dirty="0">
                <a:latin typeface="Calibri"/>
                <a:cs typeface="Calibri"/>
              </a:rPr>
              <a:t> </a:t>
            </a:r>
            <a:r>
              <a:rPr sz="2400" dirty="0">
                <a:latin typeface="Calibri"/>
                <a:cs typeface="Calibri"/>
              </a:rPr>
              <a:t>are</a:t>
            </a:r>
            <a:r>
              <a:rPr sz="2400" spc="-65" dirty="0">
                <a:latin typeface="Calibri"/>
                <a:cs typeface="Calibri"/>
              </a:rPr>
              <a:t> </a:t>
            </a:r>
            <a:r>
              <a:rPr sz="2400" spc="-20" dirty="0">
                <a:latin typeface="Calibri"/>
                <a:cs typeface="Calibri"/>
              </a:rPr>
              <a:t>met.</a:t>
            </a:r>
            <a:endParaRPr sz="2400" dirty="0">
              <a:latin typeface="Calibri"/>
              <a:cs typeface="Calibri"/>
            </a:endParaRPr>
          </a:p>
          <a:p>
            <a:pPr marL="240665" indent="-227965">
              <a:lnSpc>
                <a:spcPct val="100000"/>
              </a:lnSpc>
              <a:spcBef>
                <a:spcPts val="645"/>
              </a:spcBef>
              <a:buFont typeface="Arial MT"/>
              <a:buChar char="•"/>
              <a:tabLst>
                <a:tab pos="240665" algn="l"/>
              </a:tabLst>
            </a:pPr>
            <a:r>
              <a:rPr sz="2800" b="1" spc="-10" dirty="0">
                <a:latin typeface="Calibri"/>
                <a:cs typeface="Calibri"/>
              </a:rPr>
              <a:t>Importance:</a:t>
            </a:r>
            <a:endParaRPr sz="2800" dirty="0">
              <a:latin typeface="Calibri"/>
              <a:cs typeface="Calibri"/>
            </a:endParaRPr>
          </a:p>
          <a:p>
            <a:pPr marL="697230" lvl="1" indent="-227329">
              <a:lnSpc>
                <a:spcPct val="100000"/>
              </a:lnSpc>
              <a:spcBef>
                <a:spcPts val="235"/>
              </a:spcBef>
              <a:buFont typeface="Arial MT"/>
              <a:buChar char="•"/>
              <a:tabLst>
                <a:tab pos="697230" algn="l"/>
              </a:tabLst>
            </a:pPr>
            <a:r>
              <a:rPr sz="2400" spc="-20" dirty="0">
                <a:latin typeface="Calibri"/>
                <a:cs typeface="Calibri"/>
              </a:rPr>
              <a:t>Verifies</a:t>
            </a:r>
            <a:r>
              <a:rPr sz="2400" spc="-60" dirty="0">
                <a:latin typeface="Calibri"/>
                <a:cs typeface="Calibri"/>
              </a:rPr>
              <a:t> </a:t>
            </a:r>
            <a:r>
              <a:rPr sz="2400" dirty="0">
                <a:latin typeface="Calibri"/>
                <a:cs typeface="Calibri"/>
              </a:rPr>
              <a:t>model</a:t>
            </a:r>
            <a:r>
              <a:rPr sz="2400" spc="-50" dirty="0">
                <a:latin typeface="Calibri"/>
                <a:cs typeface="Calibri"/>
              </a:rPr>
              <a:t> </a:t>
            </a:r>
            <a:r>
              <a:rPr sz="2400" spc="-10" dirty="0">
                <a:latin typeface="Calibri"/>
                <a:cs typeface="Calibri"/>
              </a:rPr>
              <a:t>effectiveness</a:t>
            </a:r>
            <a:r>
              <a:rPr sz="2400" spc="-55" dirty="0">
                <a:latin typeface="Calibri"/>
                <a:cs typeface="Calibri"/>
              </a:rPr>
              <a:t> </a:t>
            </a:r>
            <a:r>
              <a:rPr sz="2400" dirty="0">
                <a:latin typeface="Calibri"/>
                <a:cs typeface="Calibri"/>
              </a:rPr>
              <a:t>and</a:t>
            </a:r>
            <a:r>
              <a:rPr sz="2400" spc="-55" dirty="0">
                <a:latin typeface="Calibri"/>
                <a:cs typeface="Calibri"/>
              </a:rPr>
              <a:t> </a:t>
            </a:r>
            <a:r>
              <a:rPr sz="2400" dirty="0">
                <a:latin typeface="Calibri"/>
                <a:cs typeface="Calibri"/>
              </a:rPr>
              <a:t>allows</a:t>
            </a:r>
            <a:r>
              <a:rPr sz="2400" spc="-55" dirty="0">
                <a:latin typeface="Calibri"/>
                <a:cs typeface="Calibri"/>
              </a:rPr>
              <a:t> </a:t>
            </a:r>
            <a:r>
              <a:rPr sz="2400" dirty="0">
                <a:latin typeface="Calibri"/>
                <a:cs typeface="Calibri"/>
              </a:rPr>
              <a:t>for</a:t>
            </a:r>
            <a:r>
              <a:rPr sz="2400" spc="-50" dirty="0">
                <a:latin typeface="Calibri"/>
                <a:cs typeface="Calibri"/>
              </a:rPr>
              <a:t> </a:t>
            </a:r>
            <a:r>
              <a:rPr sz="2400" spc="-10" dirty="0">
                <a:latin typeface="Calibri"/>
                <a:cs typeface="Calibri"/>
              </a:rPr>
              <a:t>fine-tuning.</a:t>
            </a:r>
            <a:endParaRPr sz="2400" dirty="0">
              <a:latin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27</a:t>
            </a:fld>
            <a:endParaRPr spc="-25" dirty="0"/>
          </a:p>
        </p:txBody>
      </p:sp>
      <p:sp>
        <p:nvSpPr>
          <p:cNvPr id="2" name="object 2"/>
          <p:cNvSpPr txBox="1"/>
          <p:nvPr/>
        </p:nvSpPr>
        <p:spPr>
          <a:xfrm>
            <a:off x="916939" y="271983"/>
            <a:ext cx="9922510" cy="4071620"/>
          </a:xfrm>
          <a:prstGeom prst="rect">
            <a:avLst/>
          </a:prstGeom>
        </p:spPr>
        <p:txBody>
          <a:bodyPr vert="horz" wrap="square" lIns="0" tIns="12065" rIns="0" bIns="0" rtlCol="0">
            <a:spAutoFit/>
          </a:bodyPr>
          <a:lstStyle/>
          <a:p>
            <a:pPr marL="12700">
              <a:lnSpc>
                <a:spcPct val="100000"/>
              </a:lnSpc>
              <a:spcBef>
                <a:spcPts val="95"/>
              </a:spcBef>
              <a:tabLst>
                <a:tab pos="240029" algn="l"/>
              </a:tabLst>
            </a:pPr>
            <a:r>
              <a:rPr sz="2800" b="1" dirty="0">
                <a:latin typeface="Calibri"/>
                <a:cs typeface="Calibri"/>
              </a:rPr>
              <a:t>7.</a:t>
            </a:r>
            <a:r>
              <a:rPr sz="2800" b="1" spc="-30" dirty="0">
                <a:latin typeface="Calibri"/>
                <a:cs typeface="Calibri"/>
              </a:rPr>
              <a:t> </a:t>
            </a:r>
            <a:r>
              <a:rPr sz="2800" b="1" spc="-10" dirty="0">
                <a:latin typeface="Calibri"/>
                <a:cs typeface="Calibri"/>
              </a:rPr>
              <a:t>Deployment</a:t>
            </a:r>
            <a:endParaRPr sz="2800" dirty="0">
              <a:latin typeface="Calibri"/>
              <a:cs typeface="Calibri"/>
            </a:endParaRPr>
          </a:p>
          <a:p>
            <a:pPr>
              <a:lnSpc>
                <a:spcPct val="100000"/>
              </a:lnSpc>
              <a:spcBef>
                <a:spcPts val="1275"/>
              </a:spcBef>
              <a:buFont typeface="Arial MT"/>
              <a:buChar char="•"/>
            </a:pPr>
            <a:endParaRPr sz="2800" dirty="0">
              <a:latin typeface="Calibri"/>
              <a:cs typeface="Calibri"/>
            </a:endParaRPr>
          </a:p>
          <a:p>
            <a:pPr marL="240665" indent="-227965">
              <a:lnSpc>
                <a:spcPct val="100000"/>
              </a:lnSpc>
              <a:spcBef>
                <a:spcPts val="5"/>
              </a:spcBef>
              <a:buFont typeface="Arial MT"/>
              <a:buChar char="•"/>
              <a:tabLst>
                <a:tab pos="240665" algn="l"/>
              </a:tabLst>
            </a:pPr>
            <a:r>
              <a:rPr sz="2800" b="1" spc="-10" dirty="0">
                <a:latin typeface="Calibri"/>
                <a:cs typeface="Calibri"/>
              </a:rPr>
              <a:t>Objective:</a:t>
            </a:r>
            <a:endParaRPr sz="2800" dirty="0">
              <a:latin typeface="Calibri"/>
              <a:cs typeface="Calibri"/>
            </a:endParaRPr>
          </a:p>
          <a:p>
            <a:pPr marL="697230" lvl="1" indent="-227329">
              <a:lnSpc>
                <a:spcPct val="100000"/>
              </a:lnSpc>
              <a:spcBef>
                <a:spcPts val="240"/>
              </a:spcBef>
              <a:buFont typeface="Arial MT"/>
              <a:buChar char="•"/>
              <a:tabLst>
                <a:tab pos="697230" algn="l"/>
              </a:tabLst>
            </a:pPr>
            <a:r>
              <a:rPr sz="2400" dirty="0">
                <a:latin typeface="Calibri"/>
                <a:cs typeface="Calibri"/>
              </a:rPr>
              <a:t>Deploy</a:t>
            </a:r>
            <a:r>
              <a:rPr sz="2400" spc="-50" dirty="0">
                <a:latin typeface="Calibri"/>
                <a:cs typeface="Calibri"/>
              </a:rPr>
              <a:t> </a:t>
            </a:r>
            <a:r>
              <a:rPr sz="2400" dirty="0">
                <a:latin typeface="Calibri"/>
                <a:cs typeface="Calibri"/>
              </a:rPr>
              <a:t>the</a:t>
            </a:r>
            <a:r>
              <a:rPr sz="2400" spc="-30" dirty="0">
                <a:latin typeface="Calibri"/>
                <a:cs typeface="Calibri"/>
              </a:rPr>
              <a:t> </a:t>
            </a:r>
            <a:r>
              <a:rPr sz="2400" spc="-10" dirty="0">
                <a:latin typeface="Calibri"/>
                <a:cs typeface="Calibri"/>
              </a:rPr>
              <a:t>trained</a:t>
            </a:r>
            <a:r>
              <a:rPr sz="2400" spc="-35" dirty="0">
                <a:latin typeface="Calibri"/>
                <a:cs typeface="Calibri"/>
              </a:rPr>
              <a:t> </a:t>
            </a:r>
            <a:r>
              <a:rPr sz="2400" dirty="0">
                <a:latin typeface="Calibri"/>
                <a:cs typeface="Calibri"/>
              </a:rPr>
              <a:t>model</a:t>
            </a:r>
            <a:r>
              <a:rPr sz="2400" spc="-20" dirty="0">
                <a:latin typeface="Calibri"/>
                <a:cs typeface="Calibri"/>
              </a:rPr>
              <a:t> </a:t>
            </a:r>
            <a:r>
              <a:rPr sz="2400" dirty="0">
                <a:latin typeface="Calibri"/>
                <a:cs typeface="Calibri"/>
              </a:rPr>
              <a:t>in</a:t>
            </a:r>
            <a:r>
              <a:rPr sz="2400" spc="-30" dirty="0">
                <a:latin typeface="Calibri"/>
                <a:cs typeface="Calibri"/>
              </a:rPr>
              <a:t> </a:t>
            </a:r>
            <a:r>
              <a:rPr sz="2400" dirty="0">
                <a:latin typeface="Calibri"/>
                <a:cs typeface="Calibri"/>
              </a:rPr>
              <a:t>a</a:t>
            </a:r>
            <a:r>
              <a:rPr sz="2400" spc="-40" dirty="0">
                <a:latin typeface="Calibri"/>
                <a:cs typeface="Calibri"/>
              </a:rPr>
              <a:t> </a:t>
            </a:r>
            <a:r>
              <a:rPr sz="2400" spc="-25" dirty="0">
                <a:latin typeface="Calibri"/>
                <a:cs typeface="Calibri"/>
              </a:rPr>
              <a:t>real-</a:t>
            </a:r>
            <a:r>
              <a:rPr sz="2400" dirty="0">
                <a:latin typeface="Calibri"/>
                <a:cs typeface="Calibri"/>
              </a:rPr>
              <a:t>world</a:t>
            </a:r>
            <a:r>
              <a:rPr sz="2400" spc="-35" dirty="0">
                <a:latin typeface="Calibri"/>
                <a:cs typeface="Calibri"/>
              </a:rPr>
              <a:t> </a:t>
            </a:r>
            <a:r>
              <a:rPr sz="2400" spc="-10" dirty="0">
                <a:latin typeface="Calibri"/>
                <a:cs typeface="Calibri"/>
              </a:rPr>
              <a:t>system.</a:t>
            </a:r>
            <a:endParaRPr sz="2400" dirty="0">
              <a:latin typeface="Calibri"/>
              <a:cs typeface="Calibri"/>
            </a:endParaRPr>
          </a:p>
          <a:p>
            <a:pPr marL="240665" indent="-227965">
              <a:lnSpc>
                <a:spcPct val="100000"/>
              </a:lnSpc>
              <a:spcBef>
                <a:spcPts val="635"/>
              </a:spcBef>
              <a:buFont typeface="Arial MT"/>
              <a:buChar char="•"/>
              <a:tabLst>
                <a:tab pos="240665" algn="l"/>
              </a:tabLst>
            </a:pPr>
            <a:r>
              <a:rPr sz="2800" b="1" spc="-10" dirty="0">
                <a:latin typeface="Calibri"/>
                <a:cs typeface="Calibri"/>
              </a:rPr>
              <a:t>Tasks:</a:t>
            </a:r>
            <a:endParaRPr sz="2800" dirty="0">
              <a:latin typeface="Calibri"/>
              <a:cs typeface="Calibri"/>
            </a:endParaRPr>
          </a:p>
          <a:p>
            <a:pPr marL="697230" lvl="1" indent="-227329">
              <a:lnSpc>
                <a:spcPct val="100000"/>
              </a:lnSpc>
              <a:spcBef>
                <a:spcPts val="245"/>
              </a:spcBef>
              <a:buFont typeface="Arial MT"/>
              <a:buChar char="•"/>
              <a:tabLst>
                <a:tab pos="697230" algn="l"/>
              </a:tabLst>
            </a:pPr>
            <a:r>
              <a:rPr sz="2400" dirty="0">
                <a:latin typeface="Calibri"/>
                <a:cs typeface="Calibri"/>
              </a:rPr>
              <a:t>Implement</a:t>
            </a:r>
            <a:r>
              <a:rPr sz="2400" spc="-55" dirty="0">
                <a:latin typeface="Calibri"/>
                <a:cs typeface="Calibri"/>
              </a:rPr>
              <a:t> </a:t>
            </a:r>
            <a:r>
              <a:rPr sz="2400" dirty="0">
                <a:latin typeface="Calibri"/>
                <a:cs typeface="Calibri"/>
              </a:rPr>
              <a:t>in</a:t>
            </a:r>
            <a:r>
              <a:rPr sz="2400" spc="-60" dirty="0">
                <a:latin typeface="Calibri"/>
                <a:cs typeface="Calibri"/>
              </a:rPr>
              <a:t> </a:t>
            </a:r>
            <a:r>
              <a:rPr sz="2400" dirty="0">
                <a:latin typeface="Calibri"/>
                <a:cs typeface="Calibri"/>
              </a:rPr>
              <a:t>a</a:t>
            </a:r>
            <a:r>
              <a:rPr sz="2400" spc="-45" dirty="0">
                <a:latin typeface="Calibri"/>
                <a:cs typeface="Calibri"/>
              </a:rPr>
              <a:t> </a:t>
            </a:r>
            <a:r>
              <a:rPr sz="2400" dirty="0">
                <a:latin typeface="Calibri"/>
                <a:cs typeface="Calibri"/>
              </a:rPr>
              <a:t>production</a:t>
            </a:r>
            <a:r>
              <a:rPr sz="2400" spc="-50" dirty="0">
                <a:latin typeface="Calibri"/>
                <a:cs typeface="Calibri"/>
              </a:rPr>
              <a:t> </a:t>
            </a:r>
            <a:r>
              <a:rPr sz="2400" spc="-10" dirty="0">
                <a:latin typeface="Calibri"/>
                <a:cs typeface="Calibri"/>
              </a:rPr>
              <a:t>environment.</a:t>
            </a:r>
            <a:endParaRPr sz="2400" dirty="0">
              <a:latin typeface="Calibri"/>
              <a:cs typeface="Calibri"/>
            </a:endParaRPr>
          </a:p>
          <a:p>
            <a:pPr marL="697230" lvl="1" indent="-227329">
              <a:lnSpc>
                <a:spcPct val="100000"/>
              </a:lnSpc>
              <a:spcBef>
                <a:spcPts val="204"/>
              </a:spcBef>
              <a:buFont typeface="Arial MT"/>
              <a:buChar char="•"/>
              <a:tabLst>
                <a:tab pos="697230" algn="l"/>
              </a:tabLst>
            </a:pPr>
            <a:r>
              <a:rPr sz="2400" dirty="0">
                <a:latin typeface="Calibri"/>
                <a:cs typeface="Calibri"/>
              </a:rPr>
              <a:t>Ensure</a:t>
            </a:r>
            <a:r>
              <a:rPr sz="2400" spc="-50" dirty="0">
                <a:latin typeface="Calibri"/>
                <a:cs typeface="Calibri"/>
              </a:rPr>
              <a:t> </a:t>
            </a:r>
            <a:r>
              <a:rPr sz="2400" dirty="0">
                <a:latin typeface="Calibri"/>
                <a:cs typeface="Calibri"/>
              </a:rPr>
              <a:t>model</a:t>
            </a:r>
            <a:r>
              <a:rPr sz="2400" spc="-45" dirty="0">
                <a:latin typeface="Calibri"/>
                <a:cs typeface="Calibri"/>
              </a:rPr>
              <a:t> </a:t>
            </a:r>
            <a:r>
              <a:rPr sz="2400" dirty="0">
                <a:latin typeface="Calibri"/>
                <a:cs typeface="Calibri"/>
              </a:rPr>
              <a:t>accuracy</a:t>
            </a:r>
            <a:r>
              <a:rPr sz="2400" spc="-75" dirty="0">
                <a:latin typeface="Calibri"/>
                <a:cs typeface="Calibri"/>
              </a:rPr>
              <a:t> </a:t>
            </a:r>
            <a:r>
              <a:rPr sz="2400" dirty="0">
                <a:latin typeface="Calibri"/>
                <a:cs typeface="Calibri"/>
              </a:rPr>
              <a:t>and</a:t>
            </a:r>
            <a:r>
              <a:rPr sz="2400" spc="-50" dirty="0">
                <a:latin typeface="Calibri"/>
                <a:cs typeface="Calibri"/>
              </a:rPr>
              <a:t> </a:t>
            </a:r>
            <a:r>
              <a:rPr sz="2400" spc="-10" dirty="0">
                <a:latin typeface="Calibri"/>
                <a:cs typeface="Calibri"/>
              </a:rPr>
              <a:t>efficiency.</a:t>
            </a:r>
            <a:endParaRPr sz="2400" dirty="0">
              <a:latin typeface="Calibri"/>
              <a:cs typeface="Calibri"/>
            </a:endParaRPr>
          </a:p>
          <a:p>
            <a:pPr marL="240665" indent="-227965">
              <a:lnSpc>
                <a:spcPct val="100000"/>
              </a:lnSpc>
              <a:spcBef>
                <a:spcPts val="645"/>
              </a:spcBef>
              <a:buFont typeface="Arial MT"/>
              <a:buChar char="•"/>
              <a:tabLst>
                <a:tab pos="240665" algn="l"/>
              </a:tabLst>
            </a:pPr>
            <a:r>
              <a:rPr sz="2800" b="1" spc="-10" dirty="0">
                <a:latin typeface="Calibri"/>
                <a:cs typeface="Calibri"/>
              </a:rPr>
              <a:t>Importance:</a:t>
            </a:r>
            <a:endParaRPr sz="2800" dirty="0">
              <a:latin typeface="Calibri"/>
              <a:cs typeface="Calibri"/>
            </a:endParaRPr>
          </a:p>
          <a:p>
            <a:pPr marL="697230" lvl="1" indent="-227329">
              <a:lnSpc>
                <a:spcPct val="100000"/>
              </a:lnSpc>
              <a:spcBef>
                <a:spcPts val="234"/>
              </a:spcBef>
              <a:buFont typeface="Arial MT"/>
              <a:buChar char="•"/>
              <a:tabLst>
                <a:tab pos="697230" algn="l"/>
              </a:tabLst>
            </a:pPr>
            <a:r>
              <a:rPr sz="2400" dirty="0">
                <a:latin typeface="Calibri"/>
                <a:cs typeface="Calibri"/>
              </a:rPr>
              <a:t>Final</a:t>
            </a:r>
            <a:r>
              <a:rPr sz="2400" spc="-65" dirty="0">
                <a:latin typeface="Calibri"/>
                <a:cs typeface="Calibri"/>
              </a:rPr>
              <a:t> </a:t>
            </a:r>
            <a:r>
              <a:rPr sz="2400" dirty="0">
                <a:latin typeface="Calibri"/>
                <a:cs typeface="Calibri"/>
              </a:rPr>
              <a:t>step,</a:t>
            </a:r>
            <a:r>
              <a:rPr sz="2400" spc="-50" dirty="0">
                <a:latin typeface="Calibri"/>
                <a:cs typeface="Calibri"/>
              </a:rPr>
              <a:t> </a:t>
            </a:r>
            <a:r>
              <a:rPr sz="2400" spc="-10" dirty="0">
                <a:latin typeface="Calibri"/>
                <a:cs typeface="Calibri"/>
              </a:rPr>
              <a:t>integrating</a:t>
            </a:r>
            <a:r>
              <a:rPr sz="2400" spc="-80" dirty="0">
                <a:latin typeface="Calibri"/>
                <a:cs typeface="Calibri"/>
              </a:rPr>
              <a:t> </a:t>
            </a:r>
            <a:r>
              <a:rPr sz="2400" dirty="0">
                <a:latin typeface="Calibri"/>
                <a:cs typeface="Calibri"/>
              </a:rPr>
              <a:t>the</a:t>
            </a:r>
            <a:r>
              <a:rPr sz="2400" spc="-55" dirty="0">
                <a:latin typeface="Calibri"/>
                <a:cs typeface="Calibri"/>
              </a:rPr>
              <a:t> </a:t>
            </a:r>
            <a:r>
              <a:rPr sz="2400" dirty="0">
                <a:latin typeface="Calibri"/>
                <a:cs typeface="Calibri"/>
              </a:rPr>
              <a:t>model</a:t>
            </a:r>
            <a:r>
              <a:rPr sz="2400" spc="-60" dirty="0">
                <a:latin typeface="Calibri"/>
                <a:cs typeface="Calibri"/>
              </a:rPr>
              <a:t> </a:t>
            </a:r>
            <a:r>
              <a:rPr sz="2400" dirty="0">
                <a:latin typeface="Calibri"/>
                <a:cs typeface="Calibri"/>
              </a:rPr>
              <a:t>into</a:t>
            </a:r>
            <a:r>
              <a:rPr sz="2400" spc="-60" dirty="0">
                <a:latin typeface="Calibri"/>
                <a:cs typeface="Calibri"/>
              </a:rPr>
              <a:t> </a:t>
            </a:r>
            <a:r>
              <a:rPr sz="2400" spc="-10" dirty="0">
                <a:latin typeface="Calibri"/>
                <a:cs typeface="Calibri"/>
              </a:rPr>
              <a:t>operational</a:t>
            </a:r>
            <a:r>
              <a:rPr sz="2400" spc="-75" dirty="0">
                <a:latin typeface="Calibri"/>
                <a:cs typeface="Calibri"/>
              </a:rPr>
              <a:t> </a:t>
            </a:r>
            <a:r>
              <a:rPr sz="2400" spc="-10" dirty="0">
                <a:latin typeface="Calibri"/>
                <a:cs typeface="Calibri"/>
              </a:rPr>
              <a:t>systems</a:t>
            </a:r>
            <a:r>
              <a:rPr sz="2400" spc="-65" dirty="0">
                <a:latin typeface="Calibri"/>
                <a:cs typeface="Calibri"/>
              </a:rPr>
              <a:t> </a:t>
            </a:r>
            <a:r>
              <a:rPr sz="2400" dirty="0">
                <a:latin typeface="Calibri"/>
                <a:cs typeface="Calibri"/>
              </a:rPr>
              <a:t>for</a:t>
            </a:r>
            <a:r>
              <a:rPr sz="2400" spc="-50" dirty="0">
                <a:latin typeface="Calibri"/>
                <a:cs typeface="Calibri"/>
              </a:rPr>
              <a:t> </a:t>
            </a:r>
            <a:r>
              <a:rPr sz="2400" dirty="0">
                <a:latin typeface="Calibri"/>
                <a:cs typeface="Calibri"/>
              </a:rPr>
              <a:t>practical</a:t>
            </a:r>
            <a:r>
              <a:rPr sz="2400" spc="-75" dirty="0">
                <a:latin typeface="Calibri"/>
                <a:cs typeface="Calibri"/>
              </a:rPr>
              <a:t> </a:t>
            </a:r>
            <a:r>
              <a:rPr sz="2400" spc="-20" dirty="0">
                <a:latin typeface="Calibri"/>
                <a:cs typeface="Calibri"/>
              </a:rPr>
              <a:t>use.</a:t>
            </a:r>
            <a:endParaRPr sz="2400" dirty="0">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88735" y="487680"/>
            <a:ext cx="7763087" cy="5117395"/>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28</a:t>
            </a:fld>
            <a:endParaRPr spc="-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67EF60-CB5A-032A-1F8F-9CB51D6AE191}"/>
              </a:ext>
            </a:extLst>
          </p:cNvPr>
          <p:cNvSpPr>
            <a:spLocks noGrp="1"/>
          </p:cNvSpPr>
          <p:nvPr>
            <p:ph type="title"/>
          </p:nvPr>
        </p:nvSpPr>
        <p:spPr>
          <a:xfrm>
            <a:off x="916939" y="99441"/>
            <a:ext cx="9994900" cy="677108"/>
          </a:xfrm>
        </p:spPr>
        <p:txBody>
          <a:bodyPr/>
          <a:lstStyle/>
          <a:p>
            <a:r>
              <a:rPr lang="en-US" b="1" dirty="0">
                <a:solidFill>
                  <a:srgbClr val="FF0000"/>
                </a:solidFill>
              </a:rPr>
              <a:t>SUPERVISED MACHINE LEARNING</a:t>
            </a:r>
            <a:endParaRPr lang="en-IN" b="1" dirty="0">
              <a:solidFill>
                <a:srgbClr val="FF0000"/>
              </a:solidFill>
            </a:endParaRPr>
          </a:p>
        </p:txBody>
      </p:sp>
      <p:sp>
        <p:nvSpPr>
          <p:cNvPr id="4" name="Text Placeholder 3">
            <a:extLst>
              <a:ext uri="{FF2B5EF4-FFF2-40B4-BE49-F238E27FC236}">
                <a16:creationId xmlns:a16="http://schemas.microsoft.com/office/drawing/2014/main" id="{5A9CB521-2F43-2D31-F59C-ECC860A1B5B9}"/>
              </a:ext>
            </a:extLst>
          </p:cNvPr>
          <p:cNvSpPr>
            <a:spLocks noGrp="1"/>
          </p:cNvSpPr>
          <p:nvPr>
            <p:ph type="body" idx="1"/>
          </p:nvPr>
        </p:nvSpPr>
        <p:spPr>
          <a:xfrm>
            <a:off x="915035" y="914400"/>
            <a:ext cx="10361929" cy="3877985"/>
          </a:xfrm>
        </p:spPr>
        <p:txBody>
          <a:bodyPr/>
          <a:lstStyle/>
          <a:p>
            <a:pPr marL="457200" indent="-457200">
              <a:buFont typeface="Arial" panose="020B0604020202020204" pitchFamily="34" charset="0"/>
              <a:buChar char="•"/>
            </a:pPr>
            <a:r>
              <a:rPr lang="en-US" dirty="0"/>
              <a:t>Supervised learning is a type of machine learning where a model learns from labelled data—meaning every input has a corresponding correct output. </a:t>
            </a:r>
          </a:p>
          <a:p>
            <a:pPr marL="457200" indent="-457200">
              <a:buFont typeface="Arial" panose="020B0604020202020204" pitchFamily="34" charset="0"/>
              <a:buChar char="•"/>
            </a:pPr>
            <a:r>
              <a:rPr lang="en-US" dirty="0"/>
              <a:t>The model makes predictions and compares them with the true outputs, adjusting itself to reduce errors and improve accuracy over time. </a:t>
            </a:r>
          </a:p>
          <a:p>
            <a:pPr marL="457200" indent="-457200">
              <a:buFont typeface="Arial" panose="020B0604020202020204" pitchFamily="34" charset="0"/>
              <a:buChar char="•"/>
            </a:pPr>
            <a:r>
              <a:rPr lang="en-US" dirty="0"/>
              <a:t>The goal is to make accurate predictions on new, unseen data. </a:t>
            </a:r>
          </a:p>
          <a:p>
            <a:pPr marL="457200" indent="-457200">
              <a:buFont typeface="Arial" panose="020B0604020202020204" pitchFamily="34" charset="0"/>
              <a:buChar char="•"/>
            </a:pPr>
            <a:r>
              <a:rPr lang="en-US" dirty="0"/>
              <a:t>For example, a model trained on images of handwritten digits can </a:t>
            </a:r>
            <a:r>
              <a:rPr lang="en-US" dirty="0" err="1"/>
              <a:t>recognise</a:t>
            </a:r>
            <a:r>
              <a:rPr lang="en-US" dirty="0"/>
              <a:t> new digits it has never seen before.</a:t>
            </a:r>
            <a:endParaRPr lang="en-IN" dirty="0"/>
          </a:p>
        </p:txBody>
      </p:sp>
      <p:sp>
        <p:nvSpPr>
          <p:cNvPr id="2" name="Slide Number Placeholder 1">
            <a:extLst>
              <a:ext uri="{FF2B5EF4-FFF2-40B4-BE49-F238E27FC236}">
                <a16:creationId xmlns:a16="http://schemas.microsoft.com/office/drawing/2014/main" id="{E0D9F78B-83FF-F7C3-A593-CB29D91C674E}"/>
              </a:ext>
            </a:extLst>
          </p:cNvPr>
          <p:cNvSpPr>
            <a:spLocks noGrp="1"/>
          </p:cNvSpPr>
          <p:nvPr>
            <p:ph type="sldNum" sz="quarter" idx="7"/>
          </p:nvPr>
        </p:nvSpPr>
        <p:spPr/>
        <p:txBody>
          <a:bodyPr/>
          <a:lstStyle/>
          <a:p>
            <a:pPr marL="38100">
              <a:lnSpc>
                <a:spcPts val="1240"/>
              </a:lnSpc>
            </a:pPr>
            <a:fld id="{81D60167-4931-47E6-BA6A-407CBD079E47}" type="slidenum">
              <a:rPr lang="en-IN" spc="-25" smtClean="0"/>
              <a:t>29</a:t>
            </a:fld>
            <a:endParaRPr lang="en-IN" spc="-25" dirty="0"/>
          </a:p>
        </p:txBody>
      </p:sp>
    </p:spTree>
    <p:extLst>
      <p:ext uri="{BB962C8B-B14F-4D97-AF65-F5344CB8AC3E}">
        <p14:creationId xmlns:p14="http://schemas.microsoft.com/office/powerpoint/2010/main" val="346956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2DB41B-9FFF-4DF0-525C-1118E4C1D477}"/>
              </a:ext>
            </a:extLst>
          </p:cNvPr>
          <p:cNvSpPr>
            <a:spLocks noGrp="1"/>
          </p:cNvSpPr>
          <p:nvPr>
            <p:ph type="sldNum" sz="quarter" idx="7"/>
          </p:nvPr>
        </p:nvSpPr>
        <p:spPr/>
        <p:txBody>
          <a:bodyPr/>
          <a:lstStyle/>
          <a:p>
            <a:pPr marL="38100">
              <a:lnSpc>
                <a:spcPts val="1240"/>
              </a:lnSpc>
            </a:pPr>
            <a:fld id="{81D60167-4931-47E6-BA6A-407CBD079E47}" type="slidenum">
              <a:rPr lang="en-IN" spc="-25" smtClean="0"/>
              <a:t>30</a:t>
            </a:fld>
            <a:endParaRPr lang="en-IN" spc="-25" dirty="0"/>
          </a:p>
        </p:txBody>
      </p:sp>
      <p:pic>
        <p:nvPicPr>
          <p:cNvPr id="6" name="Picture 5">
            <a:extLst>
              <a:ext uri="{FF2B5EF4-FFF2-40B4-BE49-F238E27FC236}">
                <a16:creationId xmlns:a16="http://schemas.microsoft.com/office/drawing/2014/main" id="{2728F741-591D-5E71-7859-1FF819AB9507}"/>
              </a:ext>
            </a:extLst>
          </p:cNvPr>
          <p:cNvPicPr>
            <a:picLocks noChangeAspect="1"/>
          </p:cNvPicPr>
          <p:nvPr/>
        </p:nvPicPr>
        <p:blipFill>
          <a:blip r:embed="rId2"/>
          <a:stretch>
            <a:fillRect/>
          </a:stretch>
        </p:blipFill>
        <p:spPr>
          <a:xfrm>
            <a:off x="914400" y="457200"/>
            <a:ext cx="10154411" cy="5334000"/>
          </a:xfrm>
          <a:prstGeom prst="rect">
            <a:avLst/>
          </a:prstGeom>
        </p:spPr>
      </p:pic>
    </p:spTree>
    <p:extLst>
      <p:ext uri="{BB962C8B-B14F-4D97-AF65-F5344CB8AC3E}">
        <p14:creationId xmlns:p14="http://schemas.microsoft.com/office/powerpoint/2010/main" val="32842791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8326DB-8415-9B8C-3966-2604DC3363A8}"/>
              </a:ext>
            </a:extLst>
          </p:cNvPr>
          <p:cNvSpPr>
            <a:spLocks noGrp="1"/>
          </p:cNvSpPr>
          <p:nvPr>
            <p:ph type="sldNum" sz="quarter" idx="7"/>
          </p:nvPr>
        </p:nvSpPr>
        <p:spPr/>
        <p:txBody>
          <a:bodyPr/>
          <a:lstStyle/>
          <a:p>
            <a:pPr marL="38100">
              <a:lnSpc>
                <a:spcPts val="1240"/>
              </a:lnSpc>
            </a:pPr>
            <a:fld id="{81D60167-4931-47E6-BA6A-407CBD079E47}" type="slidenum">
              <a:rPr lang="en-IN" spc="-25" smtClean="0"/>
              <a:t>31</a:t>
            </a:fld>
            <a:endParaRPr lang="en-IN" spc="-25" dirty="0"/>
          </a:p>
        </p:txBody>
      </p:sp>
      <p:pic>
        <p:nvPicPr>
          <p:cNvPr id="6" name="Picture 5">
            <a:extLst>
              <a:ext uri="{FF2B5EF4-FFF2-40B4-BE49-F238E27FC236}">
                <a16:creationId xmlns:a16="http://schemas.microsoft.com/office/drawing/2014/main" id="{6B7A5775-A140-F3FE-7229-39E02AB0D21F}"/>
              </a:ext>
            </a:extLst>
          </p:cNvPr>
          <p:cNvPicPr>
            <a:picLocks noChangeAspect="1"/>
          </p:cNvPicPr>
          <p:nvPr/>
        </p:nvPicPr>
        <p:blipFill>
          <a:blip r:embed="rId2"/>
          <a:stretch>
            <a:fillRect/>
          </a:stretch>
        </p:blipFill>
        <p:spPr>
          <a:xfrm>
            <a:off x="838200" y="381000"/>
            <a:ext cx="10475086" cy="4786555"/>
          </a:xfrm>
          <a:prstGeom prst="rect">
            <a:avLst/>
          </a:prstGeom>
        </p:spPr>
      </p:pic>
    </p:spTree>
    <p:extLst>
      <p:ext uri="{BB962C8B-B14F-4D97-AF65-F5344CB8AC3E}">
        <p14:creationId xmlns:p14="http://schemas.microsoft.com/office/powerpoint/2010/main" val="1792049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ECE3DF8-31C3-51F1-5B4F-084F953056DE}"/>
              </a:ext>
            </a:extLst>
          </p:cNvPr>
          <p:cNvSpPr>
            <a:spLocks noGrp="1"/>
          </p:cNvSpPr>
          <p:nvPr>
            <p:ph type="body" idx="1"/>
          </p:nvPr>
        </p:nvSpPr>
        <p:spPr>
          <a:xfrm>
            <a:off x="915035" y="381000"/>
            <a:ext cx="10361929" cy="2743200"/>
          </a:xfrm>
        </p:spPr>
        <p:txBody>
          <a:bodyPr/>
          <a:lstStyle/>
          <a:p>
            <a:pPr marL="457200" indent="-457200" rtl="0" fontAlgn="base">
              <a:buFont typeface="Arial" panose="020B0604020202020204" pitchFamily="34" charset="0"/>
              <a:buChar char="•"/>
            </a:pPr>
            <a:r>
              <a:rPr lang="en-US" dirty="0"/>
              <a:t>While training the model, data is usually split in the ratio of 80:20 i.e. 80% as training data and the rest as testing data.</a:t>
            </a:r>
          </a:p>
          <a:p>
            <a:pPr marL="457200" indent="-457200" rtl="0" fontAlgn="base">
              <a:buFont typeface="Arial" panose="020B0604020202020204" pitchFamily="34" charset="0"/>
              <a:buChar char="•"/>
            </a:pPr>
            <a:r>
              <a:rPr lang="en-US" dirty="0"/>
              <a:t>In training data, we feed input as well as output for 80% of data. </a:t>
            </a:r>
          </a:p>
          <a:p>
            <a:pPr marL="457200" indent="-457200" rtl="0" fontAlgn="base">
              <a:buFont typeface="Arial" panose="020B0604020202020204" pitchFamily="34" charset="0"/>
              <a:buChar char="•"/>
            </a:pPr>
            <a:r>
              <a:rPr lang="en-US" dirty="0"/>
              <a:t>The model learns from training data only. </a:t>
            </a:r>
          </a:p>
          <a:p>
            <a:pPr marL="457200" indent="-457200" rtl="0" fontAlgn="base">
              <a:buFont typeface="Arial" panose="020B0604020202020204" pitchFamily="34" charset="0"/>
              <a:buChar char="•"/>
            </a:pPr>
            <a:r>
              <a:rPr lang="en-US" dirty="0"/>
              <a:t>We use different supervised learning algorithms (which we will discuss in detail in the next section) to build our model.</a:t>
            </a:r>
          </a:p>
          <a:p>
            <a:pPr rtl="0" fontAlgn="base"/>
            <a:endParaRPr lang="en-IN" dirty="0"/>
          </a:p>
        </p:txBody>
      </p:sp>
      <p:sp>
        <p:nvSpPr>
          <p:cNvPr id="4" name="Slide Number Placeholder 3">
            <a:extLst>
              <a:ext uri="{FF2B5EF4-FFF2-40B4-BE49-F238E27FC236}">
                <a16:creationId xmlns:a16="http://schemas.microsoft.com/office/drawing/2014/main" id="{D6E55038-855F-8871-1C0C-C3F0C427E9D8}"/>
              </a:ext>
            </a:extLst>
          </p:cNvPr>
          <p:cNvSpPr>
            <a:spLocks noGrp="1"/>
          </p:cNvSpPr>
          <p:nvPr>
            <p:ph type="sldNum" sz="quarter" idx="7"/>
          </p:nvPr>
        </p:nvSpPr>
        <p:spPr/>
        <p:txBody>
          <a:bodyPr/>
          <a:lstStyle/>
          <a:p>
            <a:pPr marL="38100">
              <a:lnSpc>
                <a:spcPts val="1240"/>
              </a:lnSpc>
            </a:pPr>
            <a:fld id="{81D60167-4931-47E6-BA6A-407CBD079E47}" type="slidenum">
              <a:rPr lang="en-IN" spc="-25" smtClean="0"/>
              <a:t>32</a:t>
            </a:fld>
            <a:endParaRPr lang="en-IN" spc="-25" dirty="0"/>
          </a:p>
        </p:txBody>
      </p:sp>
    </p:spTree>
    <p:extLst>
      <p:ext uri="{BB962C8B-B14F-4D97-AF65-F5344CB8AC3E}">
        <p14:creationId xmlns:p14="http://schemas.microsoft.com/office/powerpoint/2010/main" val="12175171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22BC7-2DF3-3479-5AF9-1C68FFA904C4}"/>
              </a:ext>
            </a:extLst>
          </p:cNvPr>
          <p:cNvSpPr>
            <a:spLocks noGrp="1"/>
          </p:cNvSpPr>
          <p:nvPr>
            <p:ph type="title"/>
          </p:nvPr>
        </p:nvSpPr>
        <p:spPr>
          <a:xfrm>
            <a:off x="916939" y="99441"/>
            <a:ext cx="9994900" cy="1354217"/>
          </a:xfrm>
        </p:spPr>
        <p:txBody>
          <a:bodyPr/>
          <a:lstStyle/>
          <a:p>
            <a:r>
              <a:rPr lang="en-US" b="1" dirty="0"/>
              <a:t>Let's first understand the classification and regression data through the table below:</a:t>
            </a:r>
            <a:endParaRPr lang="en-IN" b="1" dirty="0"/>
          </a:p>
        </p:txBody>
      </p:sp>
      <p:sp>
        <p:nvSpPr>
          <p:cNvPr id="4" name="Slide Number Placeholder 3">
            <a:extLst>
              <a:ext uri="{FF2B5EF4-FFF2-40B4-BE49-F238E27FC236}">
                <a16:creationId xmlns:a16="http://schemas.microsoft.com/office/drawing/2014/main" id="{1F3CD4EC-367D-D38C-403D-50D68C485C2F}"/>
              </a:ext>
            </a:extLst>
          </p:cNvPr>
          <p:cNvSpPr>
            <a:spLocks noGrp="1"/>
          </p:cNvSpPr>
          <p:nvPr>
            <p:ph type="sldNum" sz="quarter" idx="7"/>
          </p:nvPr>
        </p:nvSpPr>
        <p:spPr/>
        <p:txBody>
          <a:bodyPr/>
          <a:lstStyle/>
          <a:p>
            <a:pPr marL="38100">
              <a:lnSpc>
                <a:spcPts val="1240"/>
              </a:lnSpc>
            </a:pPr>
            <a:fld id="{81D60167-4931-47E6-BA6A-407CBD079E47}" type="slidenum">
              <a:rPr lang="en-IN" spc="-25" smtClean="0"/>
              <a:t>33</a:t>
            </a:fld>
            <a:endParaRPr lang="en-IN" spc="-25" dirty="0"/>
          </a:p>
        </p:txBody>
      </p:sp>
      <p:pic>
        <p:nvPicPr>
          <p:cNvPr id="10" name="Picture 9">
            <a:extLst>
              <a:ext uri="{FF2B5EF4-FFF2-40B4-BE49-F238E27FC236}">
                <a16:creationId xmlns:a16="http://schemas.microsoft.com/office/drawing/2014/main" id="{32D813B4-492D-B6F6-733A-C2C6AC6DDC8C}"/>
              </a:ext>
            </a:extLst>
          </p:cNvPr>
          <p:cNvPicPr>
            <a:picLocks noChangeAspect="1"/>
          </p:cNvPicPr>
          <p:nvPr/>
        </p:nvPicPr>
        <p:blipFill>
          <a:blip r:embed="rId2"/>
          <a:stretch>
            <a:fillRect/>
          </a:stretch>
        </p:blipFill>
        <p:spPr>
          <a:xfrm>
            <a:off x="762000" y="1752600"/>
            <a:ext cx="10551285" cy="4712080"/>
          </a:xfrm>
          <a:prstGeom prst="rect">
            <a:avLst/>
          </a:prstGeom>
        </p:spPr>
      </p:pic>
    </p:spTree>
    <p:extLst>
      <p:ext uri="{BB962C8B-B14F-4D97-AF65-F5344CB8AC3E}">
        <p14:creationId xmlns:p14="http://schemas.microsoft.com/office/powerpoint/2010/main" val="478355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4E1703-BDE5-109A-0E10-43D45239A59C}"/>
              </a:ext>
            </a:extLst>
          </p:cNvPr>
          <p:cNvSpPr>
            <a:spLocks noGrp="1"/>
          </p:cNvSpPr>
          <p:nvPr>
            <p:ph type="body" idx="1"/>
          </p:nvPr>
        </p:nvSpPr>
        <p:spPr>
          <a:xfrm>
            <a:off x="915035" y="609600"/>
            <a:ext cx="10361929" cy="6032421"/>
          </a:xfrm>
        </p:spPr>
        <p:txBody>
          <a:bodyPr/>
          <a:lstStyle/>
          <a:p>
            <a:pPr rtl="0" fontAlgn="base"/>
            <a:r>
              <a:rPr lang="en-US" dirty="0"/>
              <a:t>Both the above figures have labelled data set as follows:</a:t>
            </a:r>
          </a:p>
          <a:p>
            <a:pPr rtl="0" fontAlgn="base"/>
            <a:r>
              <a:rPr lang="en-US" b="1" dirty="0"/>
              <a:t>Figure A</a:t>
            </a:r>
            <a:r>
              <a:rPr lang="en-US" dirty="0"/>
              <a:t>: It is a dataset of a shopping store that is useful in predicting whether a customer will purchase a particular product under consideration or not based on his/her gender, age and salary.</a:t>
            </a:r>
          </a:p>
          <a:p>
            <a:pPr fontAlgn="base"/>
            <a:r>
              <a:rPr lang="en-US" b="1" dirty="0"/>
              <a:t>Input</a:t>
            </a:r>
            <a:r>
              <a:rPr lang="en-US" dirty="0"/>
              <a:t>: Gender, Age, Salary</a:t>
            </a:r>
          </a:p>
          <a:p>
            <a:pPr fontAlgn="base"/>
            <a:r>
              <a:rPr lang="en-US" b="1" dirty="0"/>
              <a:t>Output</a:t>
            </a:r>
            <a:r>
              <a:rPr lang="en-US" dirty="0"/>
              <a:t>: Purchased i.e. 0 or 1; 1 means yes the customer will purchase and 0 means that the customer won't purchase it.</a:t>
            </a:r>
          </a:p>
          <a:p>
            <a:pPr rtl="0" fontAlgn="base"/>
            <a:endParaRPr lang="en-US" b="1" dirty="0"/>
          </a:p>
          <a:p>
            <a:pPr rtl="0" fontAlgn="base"/>
            <a:r>
              <a:rPr lang="en-US" b="1" dirty="0"/>
              <a:t>Figure B: </a:t>
            </a:r>
            <a:r>
              <a:rPr lang="en-US" dirty="0"/>
              <a:t>It is a Meteorological dataset that serves the purpose of predicting wind speed based on different parameters.</a:t>
            </a:r>
          </a:p>
          <a:p>
            <a:pPr fontAlgn="base"/>
            <a:r>
              <a:rPr lang="en-US" b="1" dirty="0"/>
              <a:t>Input</a:t>
            </a:r>
            <a:r>
              <a:rPr lang="en-US" dirty="0"/>
              <a:t>: Dew Point, Temperature, Pressure, Relative Humidity, Wind Direction</a:t>
            </a:r>
          </a:p>
          <a:p>
            <a:pPr fontAlgn="base"/>
            <a:r>
              <a:rPr lang="en-US" b="1" dirty="0"/>
              <a:t>Output</a:t>
            </a:r>
            <a:r>
              <a:rPr lang="en-US" dirty="0"/>
              <a:t>: Wind Speed</a:t>
            </a:r>
          </a:p>
          <a:p>
            <a:endParaRPr lang="en-IN" dirty="0"/>
          </a:p>
        </p:txBody>
      </p:sp>
      <p:sp>
        <p:nvSpPr>
          <p:cNvPr id="4" name="Slide Number Placeholder 3">
            <a:extLst>
              <a:ext uri="{FF2B5EF4-FFF2-40B4-BE49-F238E27FC236}">
                <a16:creationId xmlns:a16="http://schemas.microsoft.com/office/drawing/2014/main" id="{ECC1A8CD-3303-CAF1-5CEB-8154A99CDCB7}"/>
              </a:ext>
            </a:extLst>
          </p:cNvPr>
          <p:cNvSpPr>
            <a:spLocks noGrp="1"/>
          </p:cNvSpPr>
          <p:nvPr>
            <p:ph type="sldNum" sz="quarter" idx="7"/>
          </p:nvPr>
        </p:nvSpPr>
        <p:spPr/>
        <p:txBody>
          <a:bodyPr/>
          <a:lstStyle/>
          <a:p>
            <a:pPr marL="38100">
              <a:lnSpc>
                <a:spcPts val="1240"/>
              </a:lnSpc>
            </a:pPr>
            <a:fld id="{81D60167-4931-47E6-BA6A-407CBD079E47}" type="slidenum">
              <a:rPr lang="en-IN" spc="-25" smtClean="0"/>
              <a:t>34</a:t>
            </a:fld>
            <a:endParaRPr lang="en-IN" spc="-25" dirty="0"/>
          </a:p>
        </p:txBody>
      </p:sp>
    </p:spTree>
    <p:extLst>
      <p:ext uri="{BB962C8B-B14F-4D97-AF65-F5344CB8AC3E}">
        <p14:creationId xmlns:p14="http://schemas.microsoft.com/office/powerpoint/2010/main" val="1216199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75C81-8D8B-38AB-D614-B68DA2F0B5C2}"/>
              </a:ext>
            </a:extLst>
          </p:cNvPr>
          <p:cNvSpPr>
            <a:spLocks noGrp="1"/>
          </p:cNvSpPr>
          <p:nvPr>
            <p:ph type="title"/>
          </p:nvPr>
        </p:nvSpPr>
        <p:spPr>
          <a:xfrm>
            <a:off x="916939" y="99441"/>
            <a:ext cx="9994900" cy="1354217"/>
          </a:xfrm>
        </p:spPr>
        <p:txBody>
          <a:bodyPr/>
          <a:lstStyle/>
          <a:p>
            <a:r>
              <a:rPr lang="en-US" b="1" dirty="0"/>
              <a:t>Working of Supervised Machine Learning</a:t>
            </a:r>
            <a:br>
              <a:rPr lang="en-US" b="1" dirty="0"/>
            </a:br>
            <a:endParaRPr lang="en-IN" dirty="0"/>
          </a:p>
        </p:txBody>
      </p:sp>
      <p:sp>
        <p:nvSpPr>
          <p:cNvPr id="3" name="Text Placeholder 2">
            <a:extLst>
              <a:ext uri="{FF2B5EF4-FFF2-40B4-BE49-F238E27FC236}">
                <a16:creationId xmlns:a16="http://schemas.microsoft.com/office/drawing/2014/main" id="{5F6D4040-74D2-8E0D-F209-5C2AE33B067A}"/>
              </a:ext>
            </a:extLst>
          </p:cNvPr>
          <p:cNvSpPr>
            <a:spLocks noGrp="1"/>
          </p:cNvSpPr>
          <p:nvPr>
            <p:ph type="body" idx="1"/>
          </p:nvPr>
        </p:nvSpPr>
        <p:spPr>
          <a:xfrm>
            <a:off x="915035" y="1718548"/>
            <a:ext cx="10361929" cy="3877985"/>
          </a:xfrm>
        </p:spPr>
        <p:txBody>
          <a:bodyPr/>
          <a:lstStyle/>
          <a:p>
            <a:pPr fontAlgn="base"/>
            <a:r>
              <a:rPr lang="en-US" b="1" dirty="0"/>
              <a:t>1. Collect Labeled Data</a:t>
            </a:r>
          </a:p>
          <a:p>
            <a:pPr fontAlgn="base"/>
            <a:r>
              <a:rPr lang="en-US" dirty="0"/>
              <a:t>Gather a dataset where each input has a known correct output (label).</a:t>
            </a:r>
          </a:p>
          <a:p>
            <a:pPr fontAlgn="base"/>
            <a:r>
              <a:rPr lang="en-US" b="1" dirty="0"/>
              <a:t>Example</a:t>
            </a:r>
            <a:r>
              <a:rPr lang="en-US" dirty="0"/>
              <a:t>: Images of handwritten digits with their actual numbers as labels.</a:t>
            </a:r>
          </a:p>
          <a:p>
            <a:pPr fontAlgn="base"/>
            <a:r>
              <a:rPr lang="en-US" b="1" dirty="0"/>
              <a:t>2. Split the Dataset</a:t>
            </a:r>
          </a:p>
          <a:p>
            <a:pPr fontAlgn="base"/>
            <a:r>
              <a:rPr lang="en-US" dirty="0"/>
              <a:t>Divide the data into training data (about 80%) and testing data (about 20%).</a:t>
            </a:r>
          </a:p>
          <a:p>
            <a:pPr fontAlgn="base"/>
            <a:r>
              <a:rPr lang="en-US" dirty="0"/>
              <a:t>The model will learn from the training data and be evaluated on the testing data.</a:t>
            </a:r>
            <a:endParaRPr lang="en-IN" dirty="0"/>
          </a:p>
        </p:txBody>
      </p:sp>
      <p:sp>
        <p:nvSpPr>
          <p:cNvPr id="4" name="Slide Number Placeholder 3">
            <a:extLst>
              <a:ext uri="{FF2B5EF4-FFF2-40B4-BE49-F238E27FC236}">
                <a16:creationId xmlns:a16="http://schemas.microsoft.com/office/drawing/2014/main" id="{5518C31B-2253-9435-061D-8B04AC604435}"/>
              </a:ext>
            </a:extLst>
          </p:cNvPr>
          <p:cNvSpPr>
            <a:spLocks noGrp="1"/>
          </p:cNvSpPr>
          <p:nvPr>
            <p:ph type="sldNum" sz="quarter" idx="7"/>
          </p:nvPr>
        </p:nvSpPr>
        <p:spPr/>
        <p:txBody>
          <a:bodyPr/>
          <a:lstStyle/>
          <a:p>
            <a:pPr marL="38100">
              <a:lnSpc>
                <a:spcPts val="1240"/>
              </a:lnSpc>
            </a:pPr>
            <a:fld id="{81D60167-4931-47E6-BA6A-407CBD079E47}" type="slidenum">
              <a:rPr lang="en-IN" spc="-25" smtClean="0"/>
              <a:t>35</a:t>
            </a:fld>
            <a:endParaRPr lang="en-IN" spc="-25" dirty="0"/>
          </a:p>
        </p:txBody>
      </p:sp>
    </p:spTree>
    <p:extLst>
      <p:ext uri="{BB962C8B-B14F-4D97-AF65-F5344CB8AC3E}">
        <p14:creationId xmlns:p14="http://schemas.microsoft.com/office/powerpoint/2010/main" val="6213547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830CCD6-E113-6C89-F956-AAB00E5D4378}"/>
              </a:ext>
            </a:extLst>
          </p:cNvPr>
          <p:cNvSpPr>
            <a:spLocks noGrp="1"/>
          </p:cNvSpPr>
          <p:nvPr>
            <p:ph type="body" idx="1"/>
          </p:nvPr>
        </p:nvSpPr>
        <p:spPr>
          <a:xfrm>
            <a:off x="951357" y="1301474"/>
            <a:ext cx="10361929" cy="5601533"/>
          </a:xfrm>
        </p:spPr>
        <p:txBody>
          <a:bodyPr/>
          <a:lstStyle/>
          <a:p>
            <a:pPr fontAlgn="base"/>
            <a:endParaRPr lang="en-US" dirty="0"/>
          </a:p>
          <a:p>
            <a:pPr fontAlgn="base"/>
            <a:r>
              <a:rPr lang="en-US" b="1" dirty="0"/>
              <a:t>3. Train the Model</a:t>
            </a:r>
          </a:p>
          <a:p>
            <a:pPr fontAlgn="base"/>
            <a:r>
              <a:rPr lang="en-US" dirty="0"/>
              <a:t>Feed the training data (inputs and their labels) to a suitable supervised learning algorithm (like Decision Trees, SVM or Linear Regression).</a:t>
            </a:r>
          </a:p>
          <a:p>
            <a:pPr fontAlgn="base"/>
            <a:r>
              <a:rPr lang="en-US" dirty="0"/>
              <a:t>The model tries to find patterns that map inputs to correct outputs.</a:t>
            </a:r>
          </a:p>
          <a:p>
            <a:pPr fontAlgn="base"/>
            <a:r>
              <a:rPr lang="en-US" b="1" dirty="0"/>
              <a:t>4. Validate and Test the Model</a:t>
            </a:r>
          </a:p>
          <a:p>
            <a:pPr fontAlgn="base"/>
            <a:r>
              <a:rPr lang="en-US" dirty="0"/>
              <a:t>Evaluate the model using testing data it has never seen before.</a:t>
            </a:r>
          </a:p>
          <a:p>
            <a:pPr fontAlgn="base"/>
            <a:r>
              <a:rPr lang="en-US" dirty="0"/>
              <a:t>The model predicts outputs and these predictions are compared with the actual labels to calculate accuracy or error.</a:t>
            </a:r>
          </a:p>
          <a:p>
            <a:pPr fontAlgn="base"/>
            <a:r>
              <a:rPr lang="en-US" b="1" dirty="0"/>
              <a:t>5. Deploy and Predict on New Data</a:t>
            </a:r>
          </a:p>
          <a:p>
            <a:pPr fontAlgn="base"/>
            <a:r>
              <a:rPr lang="en-US" dirty="0"/>
              <a:t>Once the model performs well, it can be used to predict outputs for completely new, unseen data.</a:t>
            </a:r>
          </a:p>
          <a:p>
            <a:endParaRPr lang="en-IN" dirty="0"/>
          </a:p>
        </p:txBody>
      </p:sp>
      <p:sp>
        <p:nvSpPr>
          <p:cNvPr id="4" name="Slide Number Placeholder 3">
            <a:extLst>
              <a:ext uri="{FF2B5EF4-FFF2-40B4-BE49-F238E27FC236}">
                <a16:creationId xmlns:a16="http://schemas.microsoft.com/office/drawing/2014/main" id="{F6A8DE50-2DFB-18B7-D248-AD52CE1AA561}"/>
              </a:ext>
            </a:extLst>
          </p:cNvPr>
          <p:cNvSpPr>
            <a:spLocks noGrp="1"/>
          </p:cNvSpPr>
          <p:nvPr>
            <p:ph type="sldNum" sz="quarter" idx="7"/>
          </p:nvPr>
        </p:nvSpPr>
        <p:spPr/>
        <p:txBody>
          <a:bodyPr/>
          <a:lstStyle/>
          <a:p>
            <a:pPr marL="38100">
              <a:lnSpc>
                <a:spcPts val="1240"/>
              </a:lnSpc>
            </a:pPr>
            <a:fld id="{81D60167-4931-47E6-BA6A-407CBD079E47}" type="slidenum">
              <a:rPr lang="en-IN" spc="-25" smtClean="0"/>
              <a:t>36</a:t>
            </a:fld>
            <a:endParaRPr lang="en-IN" spc="-25" dirty="0"/>
          </a:p>
        </p:txBody>
      </p:sp>
    </p:spTree>
    <p:extLst>
      <p:ext uri="{BB962C8B-B14F-4D97-AF65-F5344CB8AC3E}">
        <p14:creationId xmlns:p14="http://schemas.microsoft.com/office/powerpoint/2010/main" val="20467677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8D539-C5A9-474B-EE39-3B7581DCD154}"/>
              </a:ext>
            </a:extLst>
          </p:cNvPr>
          <p:cNvSpPr>
            <a:spLocks noGrp="1"/>
          </p:cNvSpPr>
          <p:nvPr>
            <p:ph type="title"/>
          </p:nvPr>
        </p:nvSpPr>
        <p:spPr>
          <a:xfrm>
            <a:off x="916939" y="99441"/>
            <a:ext cx="9994900" cy="1354217"/>
          </a:xfrm>
        </p:spPr>
        <p:txBody>
          <a:bodyPr/>
          <a:lstStyle/>
          <a:p>
            <a:r>
              <a:rPr lang="en-IN" b="1" dirty="0">
                <a:solidFill>
                  <a:srgbClr val="FF0000"/>
                </a:solidFill>
              </a:rPr>
              <a:t>Supervised Machine Learning Algorithms</a:t>
            </a:r>
            <a:br>
              <a:rPr lang="en-IN" b="1" dirty="0">
                <a:solidFill>
                  <a:srgbClr val="FF0000"/>
                </a:solidFill>
              </a:rPr>
            </a:br>
            <a:endParaRPr lang="en-IN" dirty="0">
              <a:solidFill>
                <a:srgbClr val="FF0000"/>
              </a:solidFill>
            </a:endParaRPr>
          </a:p>
        </p:txBody>
      </p:sp>
      <p:sp>
        <p:nvSpPr>
          <p:cNvPr id="3" name="Text Placeholder 2">
            <a:extLst>
              <a:ext uri="{FF2B5EF4-FFF2-40B4-BE49-F238E27FC236}">
                <a16:creationId xmlns:a16="http://schemas.microsoft.com/office/drawing/2014/main" id="{2AB918A1-483A-85E5-D06E-3E9DB607EC1E}"/>
              </a:ext>
            </a:extLst>
          </p:cNvPr>
          <p:cNvSpPr>
            <a:spLocks noGrp="1"/>
          </p:cNvSpPr>
          <p:nvPr>
            <p:ph type="body" idx="1"/>
          </p:nvPr>
        </p:nvSpPr>
        <p:spPr>
          <a:xfrm>
            <a:off x="951357" y="1319867"/>
            <a:ext cx="10361929" cy="5170646"/>
          </a:xfrm>
        </p:spPr>
        <p:txBody>
          <a:bodyPr/>
          <a:lstStyle/>
          <a:p>
            <a:pPr rtl="0" fontAlgn="base"/>
            <a:r>
              <a:rPr lang="en-US" dirty="0"/>
              <a:t>Here are some of the most common types of supervised learning algorithms:</a:t>
            </a:r>
          </a:p>
          <a:p>
            <a:pPr fontAlgn="base"/>
            <a:r>
              <a:rPr lang="en-US" b="1" u="sng" dirty="0">
                <a:hlinkClick r:id="rId2"/>
              </a:rPr>
              <a:t>Linear Regression</a:t>
            </a:r>
            <a:r>
              <a:rPr lang="en-US" b="1" dirty="0"/>
              <a:t>:</a:t>
            </a:r>
            <a:r>
              <a:rPr lang="en-US" dirty="0"/>
              <a:t> Linear regression is a type of supervised learning regression algorithm that is used to predict a continuous output value. It is one of the simplest and most widely used algorithms in supervised learning.</a:t>
            </a:r>
          </a:p>
          <a:p>
            <a:pPr fontAlgn="base"/>
            <a:r>
              <a:rPr lang="en-US" b="1" u="sng" dirty="0">
                <a:hlinkClick r:id="rId3"/>
              </a:rPr>
              <a:t>Logistic Regression</a:t>
            </a:r>
            <a:r>
              <a:rPr lang="en-US" dirty="0"/>
              <a:t>: Logistic regression is a type of supervised learning classification algorithm that is used to predict a binary output variable.</a:t>
            </a:r>
          </a:p>
          <a:p>
            <a:pPr fontAlgn="base"/>
            <a:r>
              <a:rPr lang="en-US" b="1" u="sng" dirty="0">
                <a:hlinkClick r:id="rId4"/>
              </a:rPr>
              <a:t>Decision Trees </a:t>
            </a:r>
            <a:r>
              <a:rPr lang="en-US" dirty="0"/>
              <a:t>: Decision tree is a tree-like structure that is used to model decisions and their possible consequences. Each internal node in the tree represents a decision, while each leaf node represents a possible outcome.</a:t>
            </a:r>
            <a:endParaRPr lang="en-IN" dirty="0"/>
          </a:p>
        </p:txBody>
      </p:sp>
      <p:sp>
        <p:nvSpPr>
          <p:cNvPr id="4" name="Slide Number Placeholder 3">
            <a:extLst>
              <a:ext uri="{FF2B5EF4-FFF2-40B4-BE49-F238E27FC236}">
                <a16:creationId xmlns:a16="http://schemas.microsoft.com/office/drawing/2014/main" id="{BF96430A-4AA2-2444-606B-384C3DF7D2AA}"/>
              </a:ext>
            </a:extLst>
          </p:cNvPr>
          <p:cNvSpPr>
            <a:spLocks noGrp="1"/>
          </p:cNvSpPr>
          <p:nvPr>
            <p:ph type="sldNum" sz="quarter" idx="7"/>
          </p:nvPr>
        </p:nvSpPr>
        <p:spPr/>
        <p:txBody>
          <a:bodyPr/>
          <a:lstStyle/>
          <a:p>
            <a:pPr marL="38100">
              <a:lnSpc>
                <a:spcPts val="1240"/>
              </a:lnSpc>
            </a:pPr>
            <a:fld id="{81D60167-4931-47E6-BA6A-407CBD079E47}" type="slidenum">
              <a:rPr lang="en-IN" spc="-25" smtClean="0"/>
              <a:t>37</a:t>
            </a:fld>
            <a:endParaRPr lang="en-IN" spc="-25" dirty="0"/>
          </a:p>
        </p:txBody>
      </p:sp>
    </p:spTree>
    <p:extLst>
      <p:ext uri="{BB962C8B-B14F-4D97-AF65-F5344CB8AC3E}">
        <p14:creationId xmlns:p14="http://schemas.microsoft.com/office/powerpoint/2010/main" val="1758528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CA27A78-3634-EB57-9480-30F59AE93878}"/>
              </a:ext>
            </a:extLst>
          </p:cNvPr>
          <p:cNvSpPr>
            <a:spLocks noGrp="1"/>
          </p:cNvSpPr>
          <p:nvPr>
            <p:ph type="body" idx="1"/>
          </p:nvPr>
        </p:nvSpPr>
        <p:spPr>
          <a:xfrm>
            <a:off x="951357" y="7883"/>
            <a:ext cx="10361929" cy="6894195"/>
          </a:xfrm>
        </p:spPr>
        <p:txBody>
          <a:bodyPr/>
          <a:lstStyle/>
          <a:p>
            <a:pPr fontAlgn="base"/>
            <a:endParaRPr lang="en-US" dirty="0"/>
          </a:p>
          <a:p>
            <a:pPr fontAlgn="base"/>
            <a:r>
              <a:rPr lang="en-US" b="1" u="sng" dirty="0">
                <a:hlinkClick r:id="rId2"/>
              </a:rPr>
              <a:t>Random Forests</a:t>
            </a:r>
            <a:r>
              <a:rPr lang="en-US" dirty="0"/>
              <a:t>: Random forests again are made up of multiple decision trees that work together to make predictions. Each tree in the forest is trained on a different subset of the input features and data. The final prediction is made by aggregating the predictions of all the trees in the forest.</a:t>
            </a:r>
            <a:br>
              <a:rPr lang="en-US" b="1" u="sng" dirty="0">
                <a:hlinkClick r:id="rId3"/>
              </a:rPr>
            </a:br>
            <a:r>
              <a:rPr lang="en-US" b="1" u="sng" dirty="0">
                <a:hlinkClick r:id="rId3"/>
              </a:rPr>
              <a:t>Support Vector Machine(SVM)</a:t>
            </a:r>
            <a:r>
              <a:rPr lang="en-US" b="1" dirty="0"/>
              <a:t>:</a:t>
            </a:r>
            <a:r>
              <a:rPr lang="en-US" dirty="0"/>
              <a:t> The SVM algorithm creates a hyperplane to segregate n-dimensional space into classes and identify the correct category of new data points. The extreme cases that help create the hyperplane are called support vectors, hence the name Support Vector Machine.</a:t>
            </a:r>
          </a:p>
          <a:p>
            <a:pPr fontAlgn="base"/>
            <a:r>
              <a:rPr lang="en-US" b="1" u="sng" dirty="0">
                <a:hlinkClick r:id="rId4"/>
              </a:rPr>
              <a:t>K-Nearest Neighbors</a:t>
            </a:r>
            <a:r>
              <a:rPr lang="en-US" b="1" dirty="0"/>
              <a:t>:</a:t>
            </a:r>
            <a:r>
              <a:rPr lang="en-US" dirty="0"/>
              <a:t> KNN works by finding k training examples closest to a given input and then predicts the class or value based on the majority class or average value of these neighbors. The performance of KNN can be influenced by the choice of k and the distance metric used to measure proximity.</a:t>
            </a:r>
            <a:endParaRPr lang="en-IN" dirty="0"/>
          </a:p>
        </p:txBody>
      </p:sp>
      <p:sp>
        <p:nvSpPr>
          <p:cNvPr id="4" name="Slide Number Placeholder 3">
            <a:extLst>
              <a:ext uri="{FF2B5EF4-FFF2-40B4-BE49-F238E27FC236}">
                <a16:creationId xmlns:a16="http://schemas.microsoft.com/office/drawing/2014/main" id="{6DC55F40-4D97-E18B-F060-192BEEEA9E29}"/>
              </a:ext>
            </a:extLst>
          </p:cNvPr>
          <p:cNvSpPr>
            <a:spLocks noGrp="1"/>
          </p:cNvSpPr>
          <p:nvPr>
            <p:ph type="sldNum" sz="quarter" idx="7"/>
          </p:nvPr>
        </p:nvSpPr>
        <p:spPr/>
        <p:txBody>
          <a:bodyPr/>
          <a:lstStyle/>
          <a:p>
            <a:pPr marL="38100">
              <a:lnSpc>
                <a:spcPts val="1240"/>
              </a:lnSpc>
            </a:pPr>
            <a:fld id="{81D60167-4931-47E6-BA6A-407CBD079E47}" type="slidenum">
              <a:rPr lang="en-IN" spc="-25" smtClean="0"/>
              <a:t>38</a:t>
            </a:fld>
            <a:endParaRPr lang="en-IN" spc="-25" dirty="0"/>
          </a:p>
        </p:txBody>
      </p:sp>
    </p:spTree>
    <p:extLst>
      <p:ext uri="{BB962C8B-B14F-4D97-AF65-F5344CB8AC3E}">
        <p14:creationId xmlns:p14="http://schemas.microsoft.com/office/powerpoint/2010/main" val="15668339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15568B-CB5B-FD0A-A6BA-E7ED69E3D3B3}"/>
              </a:ext>
            </a:extLst>
          </p:cNvPr>
          <p:cNvSpPr>
            <a:spLocks noGrp="1"/>
          </p:cNvSpPr>
          <p:nvPr>
            <p:ph type="body" idx="1"/>
          </p:nvPr>
        </p:nvSpPr>
        <p:spPr>
          <a:xfrm>
            <a:off x="915035" y="1718548"/>
            <a:ext cx="10361929" cy="4308872"/>
          </a:xfrm>
        </p:spPr>
        <p:txBody>
          <a:bodyPr/>
          <a:lstStyle/>
          <a:p>
            <a:pPr fontAlgn="base"/>
            <a:endParaRPr lang="en-US" dirty="0"/>
          </a:p>
          <a:p>
            <a:pPr fontAlgn="base"/>
            <a:r>
              <a:rPr lang="en-US" b="1" u="sng" dirty="0">
                <a:hlinkClick r:id="rId2"/>
              </a:rPr>
              <a:t>Gradient Boosting</a:t>
            </a:r>
            <a:r>
              <a:rPr lang="en-US" b="1" dirty="0"/>
              <a:t>:</a:t>
            </a:r>
            <a:r>
              <a:rPr lang="en-US" dirty="0"/>
              <a:t> Gradient Boosting combines weak learners, like decision trees, to create a strong model. It iteratively builds new models that correct errors made by previous ones.</a:t>
            </a:r>
          </a:p>
          <a:p>
            <a:pPr fontAlgn="base"/>
            <a:r>
              <a:rPr lang="en-US" b="1" u="sng" dirty="0">
                <a:hlinkClick r:id="rId3"/>
              </a:rPr>
              <a:t>Naive Bayes Algorithm</a:t>
            </a:r>
            <a:r>
              <a:rPr lang="en-US" b="1" dirty="0"/>
              <a:t>: </a:t>
            </a:r>
            <a:r>
              <a:rPr lang="en-US" dirty="0"/>
              <a:t>The Naive Bayes algorithm is a supervised machine learning algorithm based on applying Bayes' Theorem with the “naive” assumption that features are independent of each other given the class label.</a:t>
            </a:r>
          </a:p>
          <a:p>
            <a:pPr fontAlgn="base"/>
            <a:endParaRPr lang="en-US" dirty="0"/>
          </a:p>
          <a:p>
            <a:endParaRPr lang="en-IN" dirty="0"/>
          </a:p>
        </p:txBody>
      </p:sp>
      <p:sp>
        <p:nvSpPr>
          <p:cNvPr id="4" name="Slide Number Placeholder 3">
            <a:extLst>
              <a:ext uri="{FF2B5EF4-FFF2-40B4-BE49-F238E27FC236}">
                <a16:creationId xmlns:a16="http://schemas.microsoft.com/office/drawing/2014/main" id="{A5772636-D814-84E9-9C34-8DCE923DA07C}"/>
              </a:ext>
            </a:extLst>
          </p:cNvPr>
          <p:cNvSpPr>
            <a:spLocks noGrp="1"/>
          </p:cNvSpPr>
          <p:nvPr>
            <p:ph type="sldNum" sz="quarter" idx="7"/>
          </p:nvPr>
        </p:nvSpPr>
        <p:spPr/>
        <p:txBody>
          <a:bodyPr/>
          <a:lstStyle/>
          <a:p>
            <a:pPr marL="38100">
              <a:lnSpc>
                <a:spcPts val="1240"/>
              </a:lnSpc>
            </a:pPr>
            <a:fld id="{81D60167-4931-47E6-BA6A-407CBD079E47}" type="slidenum">
              <a:rPr lang="en-IN" spc="-25" smtClean="0"/>
              <a:t>39</a:t>
            </a:fld>
            <a:endParaRPr lang="en-IN" spc="-25" dirty="0"/>
          </a:p>
        </p:txBody>
      </p:sp>
    </p:spTree>
    <p:extLst>
      <p:ext uri="{BB962C8B-B14F-4D97-AF65-F5344CB8AC3E}">
        <p14:creationId xmlns:p14="http://schemas.microsoft.com/office/powerpoint/2010/main" val="26558471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6F69282-6967-68AF-1B68-00BE01EA6FE5}"/>
              </a:ext>
            </a:extLst>
          </p:cNvPr>
          <p:cNvSpPr>
            <a:spLocks noGrp="1"/>
          </p:cNvSpPr>
          <p:nvPr>
            <p:ph type="sldNum" sz="quarter" idx="7"/>
          </p:nvPr>
        </p:nvSpPr>
        <p:spPr/>
        <p:txBody>
          <a:bodyPr/>
          <a:lstStyle/>
          <a:p>
            <a:pPr marL="38100">
              <a:lnSpc>
                <a:spcPts val="1240"/>
              </a:lnSpc>
            </a:pPr>
            <a:fld id="{81D60167-4931-47E6-BA6A-407CBD079E47}" type="slidenum">
              <a:rPr lang="en-IN" spc="-25" smtClean="0"/>
              <a:t>40</a:t>
            </a:fld>
            <a:endParaRPr lang="en-IN" spc="-25" dirty="0"/>
          </a:p>
        </p:txBody>
      </p:sp>
      <p:pic>
        <p:nvPicPr>
          <p:cNvPr id="6" name="Picture 5">
            <a:extLst>
              <a:ext uri="{FF2B5EF4-FFF2-40B4-BE49-F238E27FC236}">
                <a16:creationId xmlns:a16="http://schemas.microsoft.com/office/drawing/2014/main" id="{F445E226-51FB-E988-F6A2-49FA25D7D648}"/>
              </a:ext>
            </a:extLst>
          </p:cNvPr>
          <p:cNvPicPr>
            <a:picLocks noChangeAspect="1"/>
          </p:cNvPicPr>
          <p:nvPr/>
        </p:nvPicPr>
        <p:blipFill>
          <a:blip r:embed="rId2"/>
          <a:stretch>
            <a:fillRect/>
          </a:stretch>
        </p:blipFill>
        <p:spPr>
          <a:xfrm>
            <a:off x="1447800" y="304800"/>
            <a:ext cx="9621011" cy="6159880"/>
          </a:xfrm>
          <a:prstGeom prst="rect">
            <a:avLst/>
          </a:prstGeom>
        </p:spPr>
      </p:pic>
    </p:spTree>
    <p:extLst>
      <p:ext uri="{BB962C8B-B14F-4D97-AF65-F5344CB8AC3E}">
        <p14:creationId xmlns:p14="http://schemas.microsoft.com/office/powerpoint/2010/main" val="16429624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907117-E0B6-9AF5-27D6-6758AB54B972}"/>
              </a:ext>
            </a:extLst>
          </p:cNvPr>
          <p:cNvSpPr>
            <a:spLocks noGrp="1"/>
          </p:cNvSpPr>
          <p:nvPr>
            <p:ph type="sldNum" sz="quarter" idx="7"/>
          </p:nvPr>
        </p:nvSpPr>
        <p:spPr/>
        <p:txBody>
          <a:bodyPr/>
          <a:lstStyle/>
          <a:p>
            <a:pPr marL="38100">
              <a:lnSpc>
                <a:spcPts val="1240"/>
              </a:lnSpc>
            </a:pPr>
            <a:fld id="{81D60167-4931-47E6-BA6A-407CBD079E47}" type="slidenum">
              <a:rPr lang="en-IN" spc="-25" smtClean="0"/>
              <a:t>41</a:t>
            </a:fld>
            <a:endParaRPr lang="en-IN" spc="-25" dirty="0"/>
          </a:p>
        </p:txBody>
      </p:sp>
      <p:pic>
        <p:nvPicPr>
          <p:cNvPr id="6" name="Picture 5">
            <a:extLst>
              <a:ext uri="{FF2B5EF4-FFF2-40B4-BE49-F238E27FC236}">
                <a16:creationId xmlns:a16="http://schemas.microsoft.com/office/drawing/2014/main" id="{2E22A160-1BDA-8F5A-59C2-0D7CB83055D1}"/>
              </a:ext>
            </a:extLst>
          </p:cNvPr>
          <p:cNvPicPr>
            <a:picLocks noChangeAspect="1"/>
          </p:cNvPicPr>
          <p:nvPr/>
        </p:nvPicPr>
        <p:blipFill>
          <a:blip r:embed="rId2"/>
          <a:stretch>
            <a:fillRect/>
          </a:stretch>
        </p:blipFill>
        <p:spPr>
          <a:xfrm>
            <a:off x="990599" y="381000"/>
            <a:ext cx="10078211" cy="5943599"/>
          </a:xfrm>
          <a:prstGeom prst="rect">
            <a:avLst/>
          </a:prstGeom>
        </p:spPr>
      </p:pic>
    </p:spTree>
    <p:extLst>
      <p:ext uri="{BB962C8B-B14F-4D97-AF65-F5344CB8AC3E}">
        <p14:creationId xmlns:p14="http://schemas.microsoft.com/office/powerpoint/2010/main" val="34954445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2614E7-7A1C-5CBC-79EF-60AD72751C07}"/>
              </a:ext>
            </a:extLst>
          </p:cNvPr>
          <p:cNvSpPr>
            <a:spLocks noGrp="1"/>
          </p:cNvSpPr>
          <p:nvPr>
            <p:ph type="sldNum" sz="quarter" idx="7"/>
          </p:nvPr>
        </p:nvSpPr>
        <p:spPr/>
        <p:txBody>
          <a:bodyPr/>
          <a:lstStyle/>
          <a:p>
            <a:pPr marL="38100">
              <a:lnSpc>
                <a:spcPts val="1240"/>
              </a:lnSpc>
            </a:pPr>
            <a:fld id="{81D60167-4931-47E6-BA6A-407CBD079E47}" type="slidenum">
              <a:rPr lang="en-IN" spc="-25" smtClean="0"/>
              <a:t>42</a:t>
            </a:fld>
            <a:endParaRPr lang="en-IN" spc="-25" dirty="0"/>
          </a:p>
        </p:txBody>
      </p:sp>
      <p:pic>
        <p:nvPicPr>
          <p:cNvPr id="6" name="Picture 5">
            <a:extLst>
              <a:ext uri="{FF2B5EF4-FFF2-40B4-BE49-F238E27FC236}">
                <a16:creationId xmlns:a16="http://schemas.microsoft.com/office/drawing/2014/main" id="{F81DF0DE-28A5-9199-B6C9-2D9810506D43}"/>
              </a:ext>
            </a:extLst>
          </p:cNvPr>
          <p:cNvPicPr>
            <a:picLocks noChangeAspect="1"/>
          </p:cNvPicPr>
          <p:nvPr/>
        </p:nvPicPr>
        <p:blipFill>
          <a:blip r:embed="rId2"/>
          <a:stretch>
            <a:fillRect/>
          </a:stretch>
        </p:blipFill>
        <p:spPr>
          <a:xfrm>
            <a:off x="990600" y="533400"/>
            <a:ext cx="10322686" cy="5562600"/>
          </a:xfrm>
          <a:prstGeom prst="rect">
            <a:avLst/>
          </a:prstGeom>
        </p:spPr>
      </p:pic>
    </p:spTree>
    <p:extLst>
      <p:ext uri="{BB962C8B-B14F-4D97-AF65-F5344CB8AC3E}">
        <p14:creationId xmlns:p14="http://schemas.microsoft.com/office/powerpoint/2010/main" val="41245563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02DAD03-951D-0111-C0ED-A997041471B9}"/>
              </a:ext>
            </a:extLst>
          </p:cNvPr>
          <p:cNvSpPr>
            <a:spLocks noGrp="1"/>
          </p:cNvSpPr>
          <p:nvPr>
            <p:ph type="sldNum" sz="quarter" idx="7"/>
          </p:nvPr>
        </p:nvSpPr>
        <p:spPr/>
        <p:txBody>
          <a:bodyPr/>
          <a:lstStyle/>
          <a:p>
            <a:pPr marL="38100">
              <a:lnSpc>
                <a:spcPts val="1240"/>
              </a:lnSpc>
            </a:pPr>
            <a:fld id="{81D60167-4931-47E6-BA6A-407CBD079E47}" type="slidenum">
              <a:rPr lang="en-IN" spc="-25" smtClean="0"/>
              <a:t>43</a:t>
            </a:fld>
            <a:endParaRPr lang="en-IN" spc="-25" dirty="0"/>
          </a:p>
        </p:txBody>
      </p:sp>
      <p:pic>
        <p:nvPicPr>
          <p:cNvPr id="6" name="Picture 5">
            <a:extLst>
              <a:ext uri="{FF2B5EF4-FFF2-40B4-BE49-F238E27FC236}">
                <a16:creationId xmlns:a16="http://schemas.microsoft.com/office/drawing/2014/main" id="{BDAA8CD6-6F92-6739-868A-0A03ED096EBB}"/>
              </a:ext>
            </a:extLst>
          </p:cNvPr>
          <p:cNvPicPr>
            <a:picLocks noChangeAspect="1"/>
          </p:cNvPicPr>
          <p:nvPr/>
        </p:nvPicPr>
        <p:blipFill>
          <a:blip r:embed="rId2"/>
          <a:stretch>
            <a:fillRect/>
          </a:stretch>
        </p:blipFill>
        <p:spPr>
          <a:xfrm>
            <a:off x="1066799" y="228600"/>
            <a:ext cx="10002011" cy="5867400"/>
          </a:xfrm>
          <a:prstGeom prst="rect">
            <a:avLst/>
          </a:prstGeom>
        </p:spPr>
      </p:pic>
    </p:spTree>
    <p:extLst>
      <p:ext uri="{BB962C8B-B14F-4D97-AF65-F5344CB8AC3E}">
        <p14:creationId xmlns:p14="http://schemas.microsoft.com/office/powerpoint/2010/main" val="29410557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B6DDB1-7902-AC66-71F4-58347DEE6854}"/>
              </a:ext>
            </a:extLst>
          </p:cNvPr>
          <p:cNvSpPr>
            <a:spLocks noGrp="1"/>
          </p:cNvSpPr>
          <p:nvPr>
            <p:ph type="sldNum" sz="quarter" idx="7"/>
          </p:nvPr>
        </p:nvSpPr>
        <p:spPr/>
        <p:txBody>
          <a:bodyPr/>
          <a:lstStyle/>
          <a:p>
            <a:pPr marL="38100">
              <a:lnSpc>
                <a:spcPts val="1240"/>
              </a:lnSpc>
            </a:pPr>
            <a:fld id="{81D60167-4931-47E6-BA6A-407CBD079E47}" type="slidenum">
              <a:rPr lang="en-IN" spc="-25" smtClean="0"/>
              <a:t>44</a:t>
            </a:fld>
            <a:endParaRPr lang="en-IN" spc="-25" dirty="0"/>
          </a:p>
        </p:txBody>
      </p:sp>
      <p:pic>
        <p:nvPicPr>
          <p:cNvPr id="6" name="Picture 5">
            <a:extLst>
              <a:ext uri="{FF2B5EF4-FFF2-40B4-BE49-F238E27FC236}">
                <a16:creationId xmlns:a16="http://schemas.microsoft.com/office/drawing/2014/main" id="{AFD918AA-743B-1180-1D30-1E8D3962B5F6}"/>
              </a:ext>
            </a:extLst>
          </p:cNvPr>
          <p:cNvPicPr>
            <a:picLocks noChangeAspect="1"/>
          </p:cNvPicPr>
          <p:nvPr/>
        </p:nvPicPr>
        <p:blipFill>
          <a:blip r:embed="rId2"/>
          <a:stretch>
            <a:fillRect/>
          </a:stretch>
        </p:blipFill>
        <p:spPr>
          <a:xfrm>
            <a:off x="1371600" y="533400"/>
            <a:ext cx="9296399" cy="5562600"/>
          </a:xfrm>
          <a:prstGeom prst="rect">
            <a:avLst/>
          </a:prstGeom>
        </p:spPr>
      </p:pic>
    </p:spTree>
    <p:extLst>
      <p:ext uri="{BB962C8B-B14F-4D97-AF65-F5344CB8AC3E}">
        <p14:creationId xmlns:p14="http://schemas.microsoft.com/office/powerpoint/2010/main" val="2256930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9A928-C5E1-D1C3-E0A2-732516928762}"/>
              </a:ext>
            </a:extLst>
          </p:cNvPr>
          <p:cNvSpPr>
            <a:spLocks noGrp="1"/>
          </p:cNvSpPr>
          <p:nvPr>
            <p:ph type="title"/>
          </p:nvPr>
        </p:nvSpPr>
        <p:spPr>
          <a:xfrm>
            <a:off x="916939" y="99441"/>
            <a:ext cx="9994900" cy="677108"/>
          </a:xfrm>
        </p:spPr>
        <p:txBody>
          <a:bodyPr/>
          <a:lstStyle/>
          <a:p>
            <a:r>
              <a:rPr lang="en-US" b="1" dirty="0"/>
              <a:t>UNSUPERVISED MACHINE LEARNING</a:t>
            </a:r>
            <a:endParaRPr lang="en-IN" b="1" dirty="0"/>
          </a:p>
        </p:txBody>
      </p:sp>
      <p:sp>
        <p:nvSpPr>
          <p:cNvPr id="3" name="Text Placeholder 2">
            <a:extLst>
              <a:ext uri="{FF2B5EF4-FFF2-40B4-BE49-F238E27FC236}">
                <a16:creationId xmlns:a16="http://schemas.microsoft.com/office/drawing/2014/main" id="{514402DC-6686-4D2F-8DF3-D7B70705FC75}"/>
              </a:ext>
            </a:extLst>
          </p:cNvPr>
          <p:cNvSpPr>
            <a:spLocks noGrp="1"/>
          </p:cNvSpPr>
          <p:nvPr>
            <p:ph type="body" idx="1"/>
          </p:nvPr>
        </p:nvSpPr>
        <p:spPr>
          <a:xfrm>
            <a:off x="915035" y="1718548"/>
            <a:ext cx="10361929" cy="3447098"/>
          </a:xfrm>
        </p:spPr>
        <p:txBody>
          <a:bodyPr/>
          <a:lstStyle/>
          <a:p>
            <a:pPr marL="457200" indent="-457200" algn="just">
              <a:buFont typeface="Arial" panose="020B0604020202020204" pitchFamily="34" charset="0"/>
              <a:buChar char="•"/>
            </a:pPr>
            <a:r>
              <a:rPr lang="en-US" dirty="0"/>
              <a:t>Unsupervised learning is a type of machine learning that analyzes and models data without labelled responses or predefined categories. </a:t>
            </a:r>
          </a:p>
          <a:p>
            <a:pPr marL="457200" indent="-457200" algn="just">
              <a:buFont typeface="Arial" panose="020B0604020202020204" pitchFamily="34" charset="0"/>
              <a:buChar char="•"/>
            </a:pPr>
            <a:r>
              <a:rPr lang="en-US" dirty="0"/>
              <a:t>Unlike supervised learning, where the algorithm learns from input-output pairs, unsupervised learning algorithms work solely with input data and aim to discover hidden patterns, structures or relationships within the dataset independently, without any human intervention or prior knowledge of the data's meaning.</a:t>
            </a:r>
            <a:endParaRPr lang="en-IN" dirty="0"/>
          </a:p>
        </p:txBody>
      </p:sp>
      <p:sp>
        <p:nvSpPr>
          <p:cNvPr id="4" name="Slide Number Placeholder 3">
            <a:extLst>
              <a:ext uri="{FF2B5EF4-FFF2-40B4-BE49-F238E27FC236}">
                <a16:creationId xmlns:a16="http://schemas.microsoft.com/office/drawing/2014/main" id="{1C0E2F80-07DE-56DB-2D04-596D0E26F3C5}"/>
              </a:ext>
            </a:extLst>
          </p:cNvPr>
          <p:cNvSpPr>
            <a:spLocks noGrp="1"/>
          </p:cNvSpPr>
          <p:nvPr>
            <p:ph type="sldNum" sz="quarter" idx="7"/>
          </p:nvPr>
        </p:nvSpPr>
        <p:spPr/>
        <p:txBody>
          <a:bodyPr/>
          <a:lstStyle/>
          <a:p>
            <a:pPr marL="38100">
              <a:lnSpc>
                <a:spcPts val="1240"/>
              </a:lnSpc>
            </a:pPr>
            <a:fld id="{81D60167-4931-47E6-BA6A-407CBD079E47}" type="slidenum">
              <a:rPr lang="en-IN" spc="-25" smtClean="0"/>
              <a:t>45</a:t>
            </a:fld>
            <a:endParaRPr lang="en-IN" spc="-25" dirty="0"/>
          </a:p>
        </p:txBody>
      </p:sp>
    </p:spTree>
    <p:extLst>
      <p:ext uri="{BB962C8B-B14F-4D97-AF65-F5344CB8AC3E}">
        <p14:creationId xmlns:p14="http://schemas.microsoft.com/office/powerpoint/2010/main" val="39585907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200310-8496-60A6-1450-6E10A60C9470}"/>
              </a:ext>
            </a:extLst>
          </p:cNvPr>
          <p:cNvSpPr>
            <a:spLocks noGrp="1"/>
          </p:cNvSpPr>
          <p:nvPr>
            <p:ph type="sldNum" sz="quarter" idx="7"/>
          </p:nvPr>
        </p:nvSpPr>
        <p:spPr/>
        <p:txBody>
          <a:bodyPr/>
          <a:lstStyle/>
          <a:p>
            <a:pPr marL="38100">
              <a:lnSpc>
                <a:spcPts val="1240"/>
              </a:lnSpc>
            </a:pPr>
            <a:fld id="{81D60167-4931-47E6-BA6A-407CBD079E47}" type="slidenum">
              <a:rPr lang="en-IN" spc="-25" smtClean="0"/>
              <a:t>46</a:t>
            </a:fld>
            <a:endParaRPr lang="en-IN" spc="-25" dirty="0"/>
          </a:p>
        </p:txBody>
      </p:sp>
      <p:pic>
        <p:nvPicPr>
          <p:cNvPr id="6" name="Picture 5">
            <a:extLst>
              <a:ext uri="{FF2B5EF4-FFF2-40B4-BE49-F238E27FC236}">
                <a16:creationId xmlns:a16="http://schemas.microsoft.com/office/drawing/2014/main" id="{C69061E1-161C-20E3-8834-4AF7AFA576DB}"/>
              </a:ext>
            </a:extLst>
          </p:cNvPr>
          <p:cNvPicPr>
            <a:picLocks noChangeAspect="1"/>
          </p:cNvPicPr>
          <p:nvPr/>
        </p:nvPicPr>
        <p:blipFill>
          <a:blip r:embed="rId2"/>
          <a:stretch>
            <a:fillRect/>
          </a:stretch>
        </p:blipFill>
        <p:spPr>
          <a:xfrm>
            <a:off x="381000" y="533400"/>
            <a:ext cx="11201400" cy="5486400"/>
          </a:xfrm>
          <a:prstGeom prst="rect">
            <a:avLst/>
          </a:prstGeom>
        </p:spPr>
      </p:pic>
    </p:spTree>
    <p:extLst>
      <p:ext uri="{BB962C8B-B14F-4D97-AF65-F5344CB8AC3E}">
        <p14:creationId xmlns:p14="http://schemas.microsoft.com/office/powerpoint/2010/main" val="31197509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D929645-1009-4146-A492-A784E852D23F}"/>
              </a:ext>
            </a:extLst>
          </p:cNvPr>
          <p:cNvSpPr>
            <a:spLocks noGrp="1"/>
          </p:cNvSpPr>
          <p:nvPr>
            <p:ph type="body" idx="1"/>
          </p:nvPr>
        </p:nvSpPr>
        <p:spPr>
          <a:xfrm>
            <a:off x="706882" y="393319"/>
            <a:ext cx="10606404" cy="6171088"/>
          </a:xfrm>
        </p:spPr>
        <p:txBody>
          <a:bodyPr/>
          <a:lstStyle/>
          <a:p>
            <a:pPr marL="457200" indent="-457200" algn="just" rtl="0" fontAlgn="base">
              <a:buFont typeface="Arial" panose="020B0604020202020204" pitchFamily="34" charset="0"/>
              <a:buChar char="•"/>
            </a:pPr>
            <a:r>
              <a:rPr lang="en-US" dirty="0"/>
              <a:t>The image shows set of animals like elephants, camels and cows that represents raw data that the unsupervised learning algorithm will process.</a:t>
            </a:r>
          </a:p>
          <a:p>
            <a:pPr marL="457200" indent="-457200" algn="just" fontAlgn="base">
              <a:buFont typeface="Arial" panose="020B0604020202020204" pitchFamily="34" charset="0"/>
              <a:buChar char="•"/>
            </a:pPr>
            <a:r>
              <a:rPr lang="en-US" dirty="0"/>
              <a:t>The "Interpretation" stage signifies that the algorithm doesn't have predefined labels or categories for the data. </a:t>
            </a:r>
          </a:p>
          <a:p>
            <a:pPr marL="457200" indent="-457200" algn="just" fontAlgn="base">
              <a:buFont typeface="Arial" panose="020B0604020202020204" pitchFamily="34" charset="0"/>
              <a:buChar char="•"/>
            </a:pPr>
            <a:r>
              <a:rPr lang="en-US" dirty="0"/>
              <a:t>It needs to figure out how to group or organize the data based on inherent patterns.</a:t>
            </a:r>
          </a:p>
          <a:p>
            <a:pPr marL="457200" indent="-457200" algn="just" fontAlgn="base">
              <a:buFont typeface="Arial" panose="020B0604020202020204" pitchFamily="34" charset="0"/>
              <a:buChar char="•"/>
            </a:pPr>
            <a:r>
              <a:rPr lang="en-US" dirty="0"/>
              <a:t>An algorithm represents unsupervised learning process which can be clustering, dimensionality reduction or anomaly detection to identify patterns in the data.</a:t>
            </a:r>
          </a:p>
          <a:p>
            <a:pPr marL="457200" indent="-457200" algn="just" fontAlgn="base">
              <a:buFont typeface="Arial" panose="020B0604020202020204" pitchFamily="34" charset="0"/>
              <a:buChar char="•"/>
            </a:pPr>
            <a:r>
              <a:rPr lang="en-US" dirty="0"/>
              <a:t>The processing stage shows the algorithm working on the data.</a:t>
            </a:r>
          </a:p>
          <a:p>
            <a:pPr marL="457200" indent="-457200" algn="just" rtl="0" fontAlgn="base">
              <a:buFont typeface="Arial" panose="020B0604020202020204" pitchFamily="34" charset="0"/>
              <a:buChar char="•"/>
            </a:pPr>
            <a:r>
              <a:rPr lang="en-US" dirty="0"/>
              <a:t>The output shows the results of the unsupervised learning process.</a:t>
            </a:r>
          </a:p>
          <a:p>
            <a:pPr marL="457200" indent="-457200" algn="just" rtl="0" fontAlgn="base">
              <a:buFont typeface="Arial" panose="020B0604020202020204" pitchFamily="34" charset="0"/>
              <a:buChar char="•"/>
            </a:pPr>
            <a:r>
              <a:rPr lang="en-US" dirty="0"/>
              <a:t> In this case, the algorithm might have grouped the animals into clusters based on their species (elephants, camels, cows).</a:t>
            </a:r>
          </a:p>
          <a:p>
            <a:pPr marL="457200" indent="-457200">
              <a:buFont typeface="Arial" panose="020B0604020202020204" pitchFamily="34" charset="0"/>
              <a:buChar char="•"/>
            </a:pPr>
            <a:endParaRPr lang="en-IN" dirty="0"/>
          </a:p>
        </p:txBody>
      </p:sp>
      <p:sp>
        <p:nvSpPr>
          <p:cNvPr id="4" name="Slide Number Placeholder 3">
            <a:extLst>
              <a:ext uri="{FF2B5EF4-FFF2-40B4-BE49-F238E27FC236}">
                <a16:creationId xmlns:a16="http://schemas.microsoft.com/office/drawing/2014/main" id="{C1FBD0EC-0683-0C6B-F0A4-69F691BD3EF1}"/>
              </a:ext>
            </a:extLst>
          </p:cNvPr>
          <p:cNvSpPr>
            <a:spLocks noGrp="1"/>
          </p:cNvSpPr>
          <p:nvPr>
            <p:ph type="sldNum" sz="quarter" idx="7"/>
          </p:nvPr>
        </p:nvSpPr>
        <p:spPr/>
        <p:txBody>
          <a:bodyPr/>
          <a:lstStyle/>
          <a:p>
            <a:pPr marL="38100">
              <a:lnSpc>
                <a:spcPts val="1240"/>
              </a:lnSpc>
            </a:pPr>
            <a:fld id="{81D60167-4931-47E6-BA6A-407CBD079E47}" type="slidenum">
              <a:rPr lang="en-IN" spc="-25" smtClean="0"/>
              <a:t>47</a:t>
            </a:fld>
            <a:endParaRPr lang="en-IN" spc="-25" dirty="0"/>
          </a:p>
        </p:txBody>
      </p:sp>
    </p:spTree>
    <p:extLst>
      <p:ext uri="{BB962C8B-B14F-4D97-AF65-F5344CB8AC3E}">
        <p14:creationId xmlns:p14="http://schemas.microsoft.com/office/powerpoint/2010/main" val="22758561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A12ABA8-8C8D-DD8B-61B7-294D70D0F0DC}"/>
              </a:ext>
            </a:extLst>
          </p:cNvPr>
          <p:cNvSpPr>
            <a:spLocks noGrp="1"/>
          </p:cNvSpPr>
          <p:nvPr>
            <p:ph type="title"/>
          </p:nvPr>
        </p:nvSpPr>
        <p:spPr>
          <a:xfrm>
            <a:off x="916939" y="99441"/>
            <a:ext cx="9994900" cy="1354217"/>
          </a:xfrm>
        </p:spPr>
        <p:txBody>
          <a:bodyPr/>
          <a:lstStyle/>
          <a:p>
            <a:r>
              <a:rPr lang="en-US" b="1" dirty="0"/>
              <a:t>WORKING OF UNSUPERVISED MACHINE LEARNING</a:t>
            </a:r>
            <a:endParaRPr lang="en-IN" b="1" dirty="0"/>
          </a:p>
        </p:txBody>
      </p:sp>
      <p:sp>
        <p:nvSpPr>
          <p:cNvPr id="3" name="Text Placeholder 2">
            <a:extLst>
              <a:ext uri="{FF2B5EF4-FFF2-40B4-BE49-F238E27FC236}">
                <a16:creationId xmlns:a16="http://schemas.microsoft.com/office/drawing/2014/main" id="{177810A7-4CF4-A89A-D279-C5470AFD78B1}"/>
              </a:ext>
            </a:extLst>
          </p:cNvPr>
          <p:cNvSpPr>
            <a:spLocks noGrp="1"/>
          </p:cNvSpPr>
          <p:nvPr>
            <p:ph type="body" idx="1"/>
          </p:nvPr>
        </p:nvSpPr>
        <p:spPr>
          <a:xfrm>
            <a:off x="915035" y="1447800"/>
            <a:ext cx="10361929" cy="5601533"/>
          </a:xfrm>
        </p:spPr>
        <p:txBody>
          <a:bodyPr/>
          <a:lstStyle/>
          <a:p>
            <a:pPr fontAlgn="base"/>
            <a:r>
              <a:rPr lang="en-US" b="1" dirty="0"/>
              <a:t>1. Collect Unlabeled Data</a:t>
            </a:r>
          </a:p>
          <a:p>
            <a:pPr fontAlgn="base"/>
            <a:r>
              <a:rPr lang="en-US" dirty="0"/>
              <a:t>Gather a dataset without predefined labels or categories.</a:t>
            </a:r>
          </a:p>
          <a:p>
            <a:pPr fontAlgn="base"/>
            <a:r>
              <a:rPr lang="en-US" b="1" dirty="0"/>
              <a:t>Example</a:t>
            </a:r>
            <a:r>
              <a:rPr lang="en-US" dirty="0"/>
              <a:t>: Images of various animals without any tags.</a:t>
            </a:r>
          </a:p>
          <a:p>
            <a:pPr fontAlgn="base"/>
            <a:r>
              <a:rPr lang="en-US" b="1" dirty="0"/>
              <a:t>2. Select an Algorithm</a:t>
            </a:r>
          </a:p>
          <a:p>
            <a:pPr fontAlgn="base"/>
            <a:r>
              <a:rPr lang="en-US" dirty="0"/>
              <a:t>Choose a suitable unsupervised algorithm such as clustering like K-Means, association rule learning like </a:t>
            </a:r>
            <a:r>
              <a:rPr lang="en-US" dirty="0" err="1"/>
              <a:t>Apriori</a:t>
            </a:r>
            <a:r>
              <a:rPr lang="en-US" dirty="0"/>
              <a:t> or dimensionality reduction like PCA based on the goal.</a:t>
            </a:r>
          </a:p>
          <a:p>
            <a:pPr fontAlgn="base"/>
            <a:r>
              <a:rPr lang="en-US" b="1" dirty="0"/>
              <a:t>3. Train the Model on Raw Data</a:t>
            </a:r>
          </a:p>
          <a:p>
            <a:pPr fontAlgn="base"/>
            <a:r>
              <a:rPr lang="en-US" dirty="0"/>
              <a:t>Feed the entire unlabeled dataset to the algorithm.</a:t>
            </a:r>
          </a:p>
          <a:p>
            <a:pPr fontAlgn="base"/>
            <a:r>
              <a:rPr lang="en-US" dirty="0"/>
              <a:t>The algorithm looks for similarities, relationships or hidden structures within the data. </a:t>
            </a:r>
            <a:r>
              <a:rPr lang="en-US" dirty="0" err="1"/>
              <a:t>ar</a:t>
            </a:r>
            <a:r>
              <a:rPr lang="en-US" dirty="0"/>
              <a:t> animals together or extract key patterns from large datasets.</a:t>
            </a:r>
          </a:p>
          <a:p>
            <a:endParaRPr lang="en-IN" dirty="0"/>
          </a:p>
        </p:txBody>
      </p:sp>
      <p:sp>
        <p:nvSpPr>
          <p:cNvPr id="4" name="Slide Number Placeholder 3">
            <a:extLst>
              <a:ext uri="{FF2B5EF4-FFF2-40B4-BE49-F238E27FC236}">
                <a16:creationId xmlns:a16="http://schemas.microsoft.com/office/drawing/2014/main" id="{940A97F5-9524-05C4-4696-031F5B7E4071}"/>
              </a:ext>
            </a:extLst>
          </p:cNvPr>
          <p:cNvSpPr>
            <a:spLocks noGrp="1"/>
          </p:cNvSpPr>
          <p:nvPr>
            <p:ph type="sldNum" sz="quarter" idx="7"/>
          </p:nvPr>
        </p:nvSpPr>
        <p:spPr/>
        <p:txBody>
          <a:bodyPr/>
          <a:lstStyle/>
          <a:p>
            <a:pPr marL="38100">
              <a:lnSpc>
                <a:spcPts val="1240"/>
              </a:lnSpc>
            </a:pPr>
            <a:fld id="{81D60167-4931-47E6-BA6A-407CBD079E47}" type="slidenum">
              <a:rPr lang="en-IN" spc="-25" smtClean="0"/>
              <a:t>48</a:t>
            </a:fld>
            <a:endParaRPr lang="en-IN" spc="-25" dirty="0"/>
          </a:p>
        </p:txBody>
      </p:sp>
    </p:spTree>
    <p:extLst>
      <p:ext uri="{BB962C8B-B14F-4D97-AF65-F5344CB8AC3E}">
        <p14:creationId xmlns:p14="http://schemas.microsoft.com/office/powerpoint/2010/main" val="18383805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972FA8-CBC6-3158-8B82-D30A5B1C7A1B}"/>
              </a:ext>
            </a:extLst>
          </p:cNvPr>
          <p:cNvSpPr>
            <a:spLocks noGrp="1"/>
          </p:cNvSpPr>
          <p:nvPr>
            <p:ph type="body" idx="1"/>
          </p:nvPr>
        </p:nvSpPr>
        <p:spPr>
          <a:xfrm>
            <a:off x="915035" y="214886"/>
            <a:ext cx="10361929" cy="4739759"/>
          </a:xfrm>
        </p:spPr>
        <p:txBody>
          <a:bodyPr/>
          <a:lstStyle/>
          <a:p>
            <a:pPr marL="457200" indent="-457200" fontAlgn="base">
              <a:buFont typeface="Arial" panose="020B0604020202020204" pitchFamily="34" charset="0"/>
              <a:buChar char="•"/>
            </a:pPr>
            <a:endParaRPr lang="en-US" dirty="0"/>
          </a:p>
          <a:p>
            <a:pPr fontAlgn="base"/>
            <a:r>
              <a:rPr lang="en-US" b="1" dirty="0"/>
              <a:t>4. Group or Transform Data</a:t>
            </a:r>
          </a:p>
          <a:p>
            <a:pPr marL="457200" indent="-457200" fontAlgn="base">
              <a:buFont typeface="Arial" panose="020B0604020202020204" pitchFamily="34" charset="0"/>
              <a:buChar char="•"/>
            </a:pPr>
            <a:r>
              <a:rPr lang="en-US" dirty="0"/>
              <a:t>The algorithm organizes data into groups (clusters), rules or lower-dimensional forms without human input.</a:t>
            </a:r>
          </a:p>
          <a:p>
            <a:pPr marL="457200" indent="-457200" fontAlgn="base">
              <a:buFont typeface="Arial" panose="020B0604020202020204" pitchFamily="34" charset="0"/>
              <a:buChar char="•"/>
            </a:pPr>
            <a:r>
              <a:rPr lang="en-US" dirty="0"/>
              <a:t>Example: It may group similar animals together or extract key patterns from large datasets.</a:t>
            </a:r>
          </a:p>
          <a:p>
            <a:pPr fontAlgn="base"/>
            <a:endParaRPr lang="en-US" dirty="0"/>
          </a:p>
          <a:p>
            <a:pPr fontAlgn="base"/>
            <a:r>
              <a:rPr lang="en-US" b="1" dirty="0"/>
              <a:t>5. Interpret and Use Results</a:t>
            </a:r>
          </a:p>
          <a:p>
            <a:pPr marL="457200" indent="-457200" fontAlgn="base">
              <a:buFont typeface="Arial" panose="020B0604020202020204" pitchFamily="34" charset="0"/>
              <a:buChar char="•"/>
            </a:pPr>
            <a:r>
              <a:rPr lang="en-US" dirty="0"/>
              <a:t>Analyze the discovered groups, rules or features to gain insights or use them for further tasks like visualization, anomaly detection or as input for other models.</a:t>
            </a:r>
          </a:p>
        </p:txBody>
      </p:sp>
      <p:sp>
        <p:nvSpPr>
          <p:cNvPr id="4" name="Slide Number Placeholder 3">
            <a:extLst>
              <a:ext uri="{FF2B5EF4-FFF2-40B4-BE49-F238E27FC236}">
                <a16:creationId xmlns:a16="http://schemas.microsoft.com/office/drawing/2014/main" id="{4DA7D267-539A-790E-D493-4785E0AB1F9F}"/>
              </a:ext>
            </a:extLst>
          </p:cNvPr>
          <p:cNvSpPr>
            <a:spLocks noGrp="1"/>
          </p:cNvSpPr>
          <p:nvPr>
            <p:ph type="sldNum" sz="quarter" idx="7"/>
          </p:nvPr>
        </p:nvSpPr>
        <p:spPr/>
        <p:txBody>
          <a:bodyPr/>
          <a:lstStyle/>
          <a:p>
            <a:pPr marL="38100">
              <a:lnSpc>
                <a:spcPts val="1240"/>
              </a:lnSpc>
            </a:pPr>
            <a:fld id="{81D60167-4931-47E6-BA6A-407CBD079E47}" type="slidenum">
              <a:rPr lang="en-IN" spc="-25" smtClean="0"/>
              <a:t>49</a:t>
            </a:fld>
            <a:endParaRPr lang="en-IN" spc="-25" dirty="0"/>
          </a:p>
        </p:txBody>
      </p:sp>
    </p:spTree>
    <p:extLst>
      <p:ext uri="{BB962C8B-B14F-4D97-AF65-F5344CB8AC3E}">
        <p14:creationId xmlns:p14="http://schemas.microsoft.com/office/powerpoint/2010/main" val="37907498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5488-F817-D47B-F1F0-612601A434D4}"/>
              </a:ext>
            </a:extLst>
          </p:cNvPr>
          <p:cNvSpPr>
            <a:spLocks noGrp="1"/>
          </p:cNvSpPr>
          <p:nvPr>
            <p:ph type="title"/>
          </p:nvPr>
        </p:nvSpPr>
        <p:spPr>
          <a:xfrm>
            <a:off x="228600" y="609600"/>
            <a:ext cx="11275061" cy="1354217"/>
          </a:xfrm>
        </p:spPr>
        <p:txBody>
          <a:bodyPr/>
          <a:lstStyle/>
          <a:p>
            <a:r>
              <a:rPr lang="en-US" b="1" dirty="0"/>
              <a:t>UNSUPERVISED MACHINE LEARNING ALGORITHMS</a:t>
            </a:r>
            <a:endParaRPr lang="en-IN" b="1" dirty="0"/>
          </a:p>
        </p:txBody>
      </p:sp>
      <p:sp>
        <p:nvSpPr>
          <p:cNvPr id="3" name="Text Placeholder 2">
            <a:extLst>
              <a:ext uri="{FF2B5EF4-FFF2-40B4-BE49-F238E27FC236}">
                <a16:creationId xmlns:a16="http://schemas.microsoft.com/office/drawing/2014/main" id="{FBA64F17-5B43-1695-2D57-1F57AD4906A6}"/>
              </a:ext>
            </a:extLst>
          </p:cNvPr>
          <p:cNvSpPr>
            <a:spLocks noGrp="1"/>
          </p:cNvSpPr>
          <p:nvPr>
            <p:ph type="body" idx="1"/>
          </p:nvPr>
        </p:nvSpPr>
        <p:spPr>
          <a:xfrm>
            <a:off x="915035" y="1718548"/>
            <a:ext cx="10361929" cy="2585323"/>
          </a:xfrm>
        </p:spPr>
        <p:txBody>
          <a:bodyPr/>
          <a:lstStyle/>
          <a:p>
            <a:r>
              <a:rPr lang="en-US" dirty="0"/>
              <a:t>There are mainly 3 types of Unsupervised Algorithms that are used:</a:t>
            </a:r>
          </a:p>
          <a:p>
            <a:r>
              <a:rPr lang="en-IN" b="1" dirty="0"/>
              <a:t>1. Clustering Algorithms</a:t>
            </a:r>
          </a:p>
          <a:p>
            <a:r>
              <a:rPr lang="en-IN" b="1" dirty="0"/>
              <a:t>2. Association Rule Learning</a:t>
            </a:r>
          </a:p>
          <a:p>
            <a:r>
              <a:rPr lang="en-IN" b="1" dirty="0"/>
              <a:t>3. Dimensionality Reduction</a:t>
            </a:r>
          </a:p>
          <a:p>
            <a:endParaRPr lang="en-US" dirty="0"/>
          </a:p>
          <a:p>
            <a:endParaRPr lang="en-IN" dirty="0"/>
          </a:p>
        </p:txBody>
      </p:sp>
      <p:sp>
        <p:nvSpPr>
          <p:cNvPr id="4" name="Slide Number Placeholder 3">
            <a:extLst>
              <a:ext uri="{FF2B5EF4-FFF2-40B4-BE49-F238E27FC236}">
                <a16:creationId xmlns:a16="http://schemas.microsoft.com/office/drawing/2014/main" id="{6EBB0F4C-6C4E-0F1C-4F6C-056003C50295}"/>
              </a:ext>
            </a:extLst>
          </p:cNvPr>
          <p:cNvSpPr>
            <a:spLocks noGrp="1"/>
          </p:cNvSpPr>
          <p:nvPr>
            <p:ph type="sldNum" sz="quarter" idx="7"/>
          </p:nvPr>
        </p:nvSpPr>
        <p:spPr/>
        <p:txBody>
          <a:bodyPr/>
          <a:lstStyle/>
          <a:p>
            <a:pPr marL="38100">
              <a:lnSpc>
                <a:spcPts val="1240"/>
              </a:lnSpc>
            </a:pPr>
            <a:fld id="{81D60167-4931-47E6-BA6A-407CBD079E47}" type="slidenum">
              <a:rPr lang="en-IN" spc="-25" smtClean="0"/>
              <a:t>50</a:t>
            </a:fld>
            <a:endParaRPr lang="en-IN" spc="-25" dirty="0"/>
          </a:p>
        </p:txBody>
      </p:sp>
    </p:spTree>
    <p:extLst>
      <p:ext uri="{BB962C8B-B14F-4D97-AF65-F5344CB8AC3E}">
        <p14:creationId xmlns:p14="http://schemas.microsoft.com/office/powerpoint/2010/main" val="4395436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D9637-62CD-84A7-F438-B6A75CEAE17B}"/>
              </a:ext>
            </a:extLst>
          </p:cNvPr>
          <p:cNvSpPr>
            <a:spLocks noGrp="1"/>
          </p:cNvSpPr>
          <p:nvPr>
            <p:ph type="title"/>
          </p:nvPr>
        </p:nvSpPr>
        <p:spPr>
          <a:xfrm>
            <a:off x="916939" y="99441"/>
            <a:ext cx="9994900" cy="677108"/>
          </a:xfrm>
        </p:spPr>
        <p:txBody>
          <a:bodyPr/>
          <a:lstStyle/>
          <a:p>
            <a:r>
              <a:rPr lang="en-IN" b="1" dirty="0"/>
              <a:t>Clustering Algorithms</a:t>
            </a:r>
            <a:endParaRPr lang="en-IN" dirty="0"/>
          </a:p>
        </p:txBody>
      </p:sp>
      <p:sp>
        <p:nvSpPr>
          <p:cNvPr id="3" name="Text Placeholder 2">
            <a:extLst>
              <a:ext uri="{FF2B5EF4-FFF2-40B4-BE49-F238E27FC236}">
                <a16:creationId xmlns:a16="http://schemas.microsoft.com/office/drawing/2014/main" id="{8F784F12-A0F0-0114-C58D-1A494A60293A}"/>
              </a:ext>
            </a:extLst>
          </p:cNvPr>
          <p:cNvSpPr>
            <a:spLocks noGrp="1"/>
          </p:cNvSpPr>
          <p:nvPr>
            <p:ph type="body" idx="1"/>
          </p:nvPr>
        </p:nvSpPr>
        <p:spPr>
          <a:xfrm>
            <a:off x="829119" y="990600"/>
            <a:ext cx="10361929" cy="5170646"/>
          </a:xfrm>
        </p:spPr>
        <p:txBody>
          <a:bodyPr/>
          <a:lstStyle/>
          <a:p>
            <a:pPr marL="457200" indent="-457200" rtl="0" fontAlgn="base">
              <a:buFont typeface="Arial" panose="020B0604020202020204" pitchFamily="34" charset="0"/>
              <a:buChar char="•"/>
            </a:pPr>
            <a:r>
              <a:rPr lang="en-US" dirty="0"/>
              <a:t>It is an unsupervised machine learning technique that groups unlabeled data into clusters based on similarity. Its goal is to discover patterns or relationships within the data without any prior knowledge of categories or labels.</a:t>
            </a:r>
          </a:p>
          <a:p>
            <a:pPr marL="457200" indent="-457200" fontAlgn="base">
              <a:buFont typeface="Arial" panose="020B0604020202020204" pitchFamily="34" charset="0"/>
              <a:buChar char="•"/>
            </a:pPr>
            <a:r>
              <a:rPr lang="en-US" dirty="0"/>
              <a:t>Groups data points that share similar features or characteristics.</a:t>
            </a:r>
          </a:p>
          <a:p>
            <a:pPr marL="457200" indent="-457200" fontAlgn="base">
              <a:buFont typeface="Arial" panose="020B0604020202020204" pitchFamily="34" charset="0"/>
              <a:buChar char="•"/>
            </a:pPr>
            <a:r>
              <a:rPr lang="en-US" dirty="0"/>
              <a:t>Helps find natural groupings in raw, unclassified data.</a:t>
            </a:r>
          </a:p>
          <a:p>
            <a:pPr marL="457200" indent="-457200" fontAlgn="base">
              <a:buFont typeface="Arial" panose="020B0604020202020204" pitchFamily="34" charset="0"/>
              <a:buChar char="•"/>
            </a:pPr>
            <a:r>
              <a:rPr lang="en-US" dirty="0"/>
              <a:t>Commonly used for customer segmentation, anomaly detection and data organization.</a:t>
            </a:r>
          </a:p>
          <a:p>
            <a:pPr marL="457200" indent="-457200" fontAlgn="base">
              <a:buFont typeface="Arial" panose="020B0604020202020204" pitchFamily="34" charset="0"/>
              <a:buChar char="•"/>
            </a:pPr>
            <a:r>
              <a:rPr lang="en-US" dirty="0"/>
              <a:t>Works purely from the input data without any output labels.</a:t>
            </a:r>
          </a:p>
          <a:p>
            <a:pPr marL="457200" indent="-457200" fontAlgn="base">
              <a:buFont typeface="Arial" panose="020B0604020202020204" pitchFamily="34" charset="0"/>
              <a:buChar char="•"/>
            </a:pPr>
            <a:r>
              <a:rPr lang="en-US" dirty="0"/>
              <a:t>Enables understanding of data structure for further analysis or decision-making.</a:t>
            </a:r>
          </a:p>
          <a:p>
            <a:pPr marL="457200" indent="-457200">
              <a:buFont typeface="Arial" panose="020B0604020202020204" pitchFamily="34" charset="0"/>
              <a:buChar char="•"/>
            </a:pPr>
            <a:endParaRPr lang="en-IN" dirty="0"/>
          </a:p>
        </p:txBody>
      </p:sp>
      <p:sp>
        <p:nvSpPr>
          <p:cNvPr id="4" name="Slide Number Placeholder 3">
            <a:extLst>
              <a:ext uri="{FF2B5EF4-FFF2-40B4-BE49-F238E27FC236}">
                <a16:creationId xmlns:a16="http://schemas.microsoft.com/office/drawing/2014/main" id="{5DB61784-35CB-B03E-8EE0-70C02303F7F3}"/>
              </a:ext>
            </a:extLst>
          </p:cNvPr>
          <p:cNvSpPr>
            <a:spLocks noGrp="1"/>
          </p:cNvSpPr>
          <p:nvPr>
            <p:ph type="sldNum" sz="quarter" idx="7"/>
          </p:nvPr>
        </p:nvSpPr>
        <p:spPr/>
        <p:txBody>
          <a:bodyPr/>
          <a:lstStyle/>
          <a:p>
            <a:pPr marL="38100">
              <a:lnSpc>
                <a:spcPts val="1240"/>
              </a:lnSpc>
            </a:pPr>
            <a:fld id="{81D60167-4931-47E6-BA6A-407CBD079E47}" type="slidenum">
              <a:rPr lang="en-IN" spc="-25" smtClean="0"/>
              <a:t>51</a:t>
            </a:fld>
            <a:endParaRPr lang="en-IN" spc="-25" dirty="0"/>
          </a:p>
        </p:txBody>
      </p:sp>
    </p:spTree>
    <p:extLst>
      <p:ext uri="{BB962C8B-B14F-4D97-AF65-F5344CB8AC3E}">
        <p14:creationId xmlns:p14="http://schemas.microsoft.com/office/powerpoint/2010/main" val="34641501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3F045BD-FFD1-7EE1-2809-E5E672F93EE1}"/>
              </a:ext>
            </a:extLst>
          </p:cNvPr>
          <p:cNvSpPr>
            <a:spLocks noGrp="1"/>
          </p:cNvSpPr>
          <p:nvPr>
            <p:ph type="body" idx="1"/>
          </p:nvPr>
        </p:nvSpPr>
        <p:spPr>
          <a:xfrm>
            <a:off x="915035" y="609600"/>
            <a:ext cx="10361929" cy="5334000"/>
          </a:xfrm>
        </p:spPr>
        <p:txBody>
          <a:bodyPr/>
          <a:lstStyle/>
          <a:p>
            <a:pPr rtl="0" fontAlgn="base"/>
            <a:r>
              <a:rPr lang="en-US" i="1" dirty="0"/>
              <a:t>Some common clustering algorithms: </a:t>
            </a:r>
          </a:p>
          <a:p>
            <a:pPr fontAlgn="base"/>
            <a:r>
              <a:rPr lang="en-US" b="1" i="1" u="sng" dirty="0">
                <a:hlinkClick r:id="rId2"/>
              </a:rPr>
              <a:t>K-means Clustering</a:t>
            </a:r>
            <a:r>
              <a:rPr lang="en-US" b="1" i="1" dirty="0"/>
              <a:t>:</a:t>
            </a:r>
            <a:r>
              <a:rPr lang="en-US" i="1" dirty="0"/>
              <a:t> Groups data into K clusters based on how close the points are to each other.</a:t>
            </a:r>
          </a:p>
          <a:p>
            <a:pPr fontAlgn="base"/>
            <a:r>
              <a:rPr lang="en-US" b="1" i="1" u="sng" dirty="0">
                <a:hlinkClick r:id="rId3"/>
              </a:rPr>
              <a:t>Hierarchical Clustering</a:t>
            </a:r>
            <a:r>
              <a:rPr lang="en-US" b="1" i="1" dirty="0"/>
              <a:t>:</a:t>
            </a:r>
            <a:r>
              <a:rPr lang="en-US" i="1" dirty="0"/>
              <a:t> Creates clusters by building a tree step-by-step, either merging or splitting groups.</a:t>
            </a:r>
          </a:p>
          <a:p>
            <a:pPr fontAlgn="base"/>
            <a:r>
              <a:rPr lang="en-US" b="1" i="1" u="sng" dirty="0">
                <a:hlinkClick r:id="rId4"/>
              </a:rPr>
              <a:t>Density-Based Clustering (DBSCAN)</a:t>
            </a:r>
            <a:r>
              <a:rPr lang="en-US" b="1" i="1" dirty="0"/>
              <a:t>:</a:t>
            </a:r>
            <a:r>
              <a:rPr lang="en-US" i="1" dirty="0"/>
              <a:t> Finds clusters in dense areas and treats scattered points as noise.</a:t>
            </a:r>
          </a:p>
          <a:p>
            <a:pPr fontAlgn="base"/>
            <a:r>
              <a:rPr lang="en-US" b="1" i="1" u="sng" dirty="0">
                <a:hlinkClick r:id="rId5"/>
              </a:rPr>
              <a:t>Mean-Shift Clustering</a:t>
            </a:r>
            <a:r>
              <a:rPr lang="en-US" b="1" i="1" dirty="0"/>
              <a:t>:</a:t>
            </a:r>
            <a:r>
              <a:rPr lang="en-US" i="1" dirty="0"/>
              <a:t> Discovers clusters by moving points toward the most crowded areas.</a:t>
            </a:r>
          </a:p>
          <a:p>
            <a:pPr fontAlgn="base"/>
            <a:r>
              <a:rPr lang="en-US" b="1" i="1" u="sng" dirty="0">
                <a:hlinkClick r:id="rId6"/>
              </a:rPr>
              <a:t>Spectral Clustering</a:t>
            </a:r>
            <a:r>
              <a:rPr lang="en-US" b="1" i="1" dirty="0"/>
              <a:t>:</a:t>
            </a:r>
            <a:r>
              <a:rPr lang="en-US" i="1" dirty="0"/>
              <a:t> Groups data by analyzing connections between points using graphs.</a:t>
            </a:r>
          </a:p>
          <a:p>
            <a:endParaRPr lang="en-IN" dirty="0"/>
          </a:p>
        </p:txBody>
      </p:sp>
      <p:sp>
        <p:nvSpPr>
          <p:cNvPr id="4" name="Slide Number Placeholder 3">
            <a:extLst>
              <a:ext uri="{FF2B5EF4-FFF2-40B4-BE49-F238E27FC236}">
                <a16:creationId xmlns:a16="http://schemas.microsoft.com/office/drawing/2014/main" id="{33833355-8857-B50D-6C62-D522D77E3294}"/>
              </a:ext>
            </a:extLst>
          </p:cNvPr>
          <p:cNvSpPr>
            <a:spLocks noGrp="1"/>
          </p:cNvSpPr>
          <p:nvPr>
            <p:ph type="sldNum" sz="quarter" idx="7"/>
          </p:nvPr>
        </p:nvSpPr>
        <p:spPr/>
        <p:txBody>
          <a:bodyPr/>
          <a:lstStyle/>
          <a:p>
            <a:pPr marL="38100">
              <a:lnSpc>
                <a:spcPts val="1240"/>
              </a:lnSpc>
            </a:pPr>
            <a:fld id="{81D60167-4931-47E6-BA6A-407CBD079E47}" type="slidenum">
              <a:rPr lang="en-IN" spc="-25" smtClean="0"/>
              <a:t>52</a:t>
            </a:fld>
            <a:endParaRPr lang="en-IN" spc="-25" dirty="0"/>
          </a:p>
        </p:txBody>
      </p:sp>
    </p:spTree>
    <p:extLst>
      <p:ext uri="{BB962C8B-B14F-4D97-AF65-F5344CB8AC3E}">
        <p14:creationId xmlns:p14="http://schemas.microsoft.com/office/powerpoint/2010/main" val="32984319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39FC6-E45C-E586-C5A9-D55BBB704177}"/>
              </a:ext>
            </a:extLst>
          </p:cNvPr>
          <p:cNvSpPr>
            <a:spLocks noGrp="1"/>
          </p:cNvSpPr>
          <p:nvPr>
            <p:ph type="title"/>
          </p:nvPr>
        </p:nvSpPr>
        <p:spPr>
          <a:xfrm>
            <a:off x="916939" y="99441"/>
            <a:ext cx="9994900" cy="677108"/>
          </a:xfrm>
        </p:spPr>
        <p:txBody>
          <a:bodyPr/>
          <a:lstStyle/>
          <a:p>
            <a:r>
              <a:rPr lang="en-IN" b="1" dirty="0"/>
              <a:t>Association Rule Learning</a:t>
            </a:r>
            <a:endParaRPr lang="en-IN" dirty="0"/>
          </a:p>
        </p:txBody>
      </p:sp>
      <p:sp>
        <p:nvSpPr>
          <p:cNvPr id="3" name="Text Placeholder 2">
            <a:extLst>
              <a:ext uri="{FF2B5EF4-FFF2-40B4-BE49-F238E27FC236}">
                <a16:creationId xmlns:a16="http://schemas.microsoft.com/office/drawing/2014/main" id="{F44D41E6-01CF-8C44-2534-1BD2F7F6CCA9}"/>
              </a:ext>
            </a:extLst>
          </p:cNvPr>
          <p:cNvSpPr>
            <a:spLocks noGrp="1"/>
          </p:cNvSpPr>
          <p:nvPr>
            <p:ph type="body" idx="1"/>
          </p:nvPr>
        </p:nvSpPr>
        <p:spPr>
          <a:xfrm>
            <a:off x="915035" y="1066800"/>
            <a:ext cx="10361929" cy="4529733"/>
          </a:xfrm>
        </p:spPr>
        <p:txBody>
          <a:bodyPr/>
          <a:lstStyle/>
          <a:p>
            <a:pPr marL="457200" indent="-457200" rtl="0" fontAlgn="base">
              <a:buFont typeface="Arial" panose="020B0604020202020204" pitchFamily="34" charset="0"/>
              <a:buChar char="•"/>
            </a:pPr>
            <a:r>
              <a:rPr lang="en-US" dirty="0"/>
              <a:t>It is a rule-based unsupervised learning technique used to discover interesting relationships between variables in large datasets.</a:t>
            </a:r>
          </a:p>
          <a:p>
            <a:pPr marL="457200" indent="-457200" rtl="0" fontAlgn="base">
              <a:buFont typeface="Arial" panose="020B0604020202020204" pitchFamily="34" charset="0"/>
              <a:buChar char="•"/>
            </a:pPr>
            <a:r>
              <a:rPr lang="en-US" dirty="0"/>
              <a:t>It identifies patterns in the form of “if-then” rules, showing how the presence of some items in the data implies the presence of others.</a:t>
            </a:r>
          </a:p>
          <a:p>
            <a:pPr marL="457200" indent="-457200" fontAlgn="base">
              <a:buFont typeface="Arial" panose="020B0604020202020204" pitchFamily="34" charset="0"/>
              <a:buChar char="•"/>
            </a:pPr>
            <a:r>
              <a:rPr lang="en-US" dirty="0"/>
              <a:t>Finds frequent item combinations and the rules connecting them.</a:t>
            </a:r>
          </a:p>
          <a:p>
            <a:pPr marL="457200" indent="-457200" fontAlgn="base">
              <a:buFont typeface="Arial" panose="020B0604020202020204" pitchFamily="34" charset="0"/>
              <a:buChar char="•"/>
            </a:pPr>
            <a:r>
              <a:rPr lang="en-US" dirty="0"/>
              <a:t>Commonly used in market basket analysis to understand product purchase relationships.</a:t>
            </a:r>
          </a:p>
          <a:p>
            <a:pPr marL="457200" indent="-457200" fontAlgn="base">
              <a:buFont typeface="Arial" panose="020B0604020202020204" pitchFamily="34" charset="0"/>
              <a:buChar char="•"/>
            </a:pPr>
            <a:r>
              <a:rPr lang="en-US" dirty="0"/>
              <a:t>Helps retailers design promotions and cross-selling strategies.</a:t>
            </a:r>
          </a:p>
          <a:p>
            <a:pPr marL="457200" indent="-457200">
              <a:buFont typeface="Arial" panose="020B0604020202020204" pitchFamily="34" charset="0"/>
              <a:buChar char="•"/>
            </a:pPr>
            <a:endParaRPr lang="en-IN" dirty="0"/>
          </a:p>
        </p:txBody>
      </p:sp>
      <p:sp>
        <p:nvSpPr>
          <p:cNvPr id="4" name="Slide Number Placeholder 3">
            <a:extLst>
              <a:ext uri="{FF2B5EF4-FFF2-40B4-BE49-F238E27FC236}">
                <a16:creationId xmlns:a16="http://schemas.microsoft.com/office/drawing/2014/main" id="{3F941C16-E827-39A5-CDD3-22759E5EBD75}"/>
              </a:ext>
            </a:extLst>
          </p:cNvPr>
          <p:cNvSpPr>
            <a:spLocks noGrp="1"/>
          </p:cNvSpPr>
          <p:nvPr>
            <p:ph type="sldNum" sz="quarter" idx="7"/>
          </p:nvPr>
        </p:nvSpPr>
        <p:spPr/>
        <p:txBody>
          <a:bodyPr/>
          <a:lstStyle/>
          <a:p>
            <a:pPr marL="38100">
              <a:lnSpc>
                <a:spcPts val="1240"/>
              </a:lnSpc>
            </a:pPr>
            <a:fld id="{81D60167-4931-47E6-BA6A-407CBD079E47}" type="slidenum">
              <a:rPr lang="en-IN" spc="-25" smtClean="0"/>
              <a:t>53</a:t>
            </a:fld>
            <a:endParaRPr lang="en-IN" spc="-25" dirty="0"/>
          </a:p>
        </p:txBody>
      </p:sp>
    </p:spTree>
    <p:extLst>
      <p:ext uri="{BB962C8B-B14F-4D97-AF65-F5344CB8AC3E}">
        <p14:creationId xmlns:p14="http://schemas.microsoft.com/office/powerpoint/2010/main" val="31436710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741A5F9-1AF5-06A0-5983-300277502867}"/>
              </a:ext>
            </a:extLst>
          </p:cNvPr>
          <p:cNvSpPr>
            <a:spLocks noGrp="1"/>
          </p:cNvSpPr>
          <p:nvPr>
            <p:ph type="body" idx="1"/>
          </p:nvPr>
        </p:nvSpPr>
        <p:spPr>
          <a:xfrm>
            <a:off x="915035" y="685800"/>
            <a:ext cx="10361929" cy="4308872"/>
          </a:xfrm>
        </p:spPr>
        <p:txBody>
          <a:bodyPr/>
          <a:lstStyle/>
          <a:p>
            <a:pPr algn="just" rtl="0" fontAlgn="base"/>
            <a:r>
              <a:rPr lang="en-US" i="1" dirty="0"/>
              <a:t>Some common Association Rule Learning algorithms: </a:t>
            </a:r>
          </a:p>
          <a:p>
            <a:pPr algn="just" fontAlgn="base"/>
            <a:r>
              <a:rPr lang="en-US" b="1" i="1" u="sng" dirty="0" err="1">
                <a:hlinkClick r:id="rId2"/>
              </a:rPr>
              <a:t>Apriori</a:t>
            </a:r>
            <a:r>
              <a:rPr lang="en-US" b="1" i="1" u="sng" dirty="0">
                <a:hlinkClick r:id="rId2"/>
              </a:rPr>
              <a:t> Algorithm</a:t>
            </a:r>
            <a:r>
              <a:rPr lang="en-US" b="1" i="1" dirty="0"/>
              <a:t>:</a:t>
            </a:r>
            <a:r>
              <a:rPr lang="en-US" i="1" dirty="0"/>
              <a:t> Finds patterns by exploring frequent item combinations step-by-step.</a:t>
            </a:r>
          </a:p>
          <a:p>
            <a:pPr algn="just" fontAlgn="base"/>
            <a:r>
              <a:rPr lang="en-US" b="1" i="1" u="sng" dirty="0">
                <a:hlinkClick r:id="rId3"/>
              </a:rPr>
              <a:t>FP-Growth Algorithm</a:t>
            </a:r>
            <a:r>
              <a:rPr lang="en-US" b="1" i="1" dirty="0"/>
              <a:t>:</a:t>
            </a:r>
            <a:r>
              <a:rPr lang="en-US" i="1" dirty="0"/>
              <a:t> An Efficient Alternative to </a:t>
            </a:r>
            <a:r>
              <a:rPr lang="en-US" i="1" dirty="0" err="1"/>
              <a:t>Apriori</a:t>
            </a:r>
            <a:r>
              <a:rPr lang="en-US" i="1" dirty="0"/>
              <a:t>. It quickly identifies frequent patterns without generating candidate sets.</a:t>
            </a:r>
          </a:p>
          <a:p>
            <a:pPr algn="just" fontAlgn="base"/>
            <a:r>
              <a:rPr lang="en-US" b="1" i="1" u="sng" dirty="0">
                <a:hlinkClick r:id="rId4"/>
              </a:rPr>
              <a:t>Eclat Algorithm</a:t>
            </a:r>
            <a:r>
              <a:rPr lang="en-US" b="1" i="1" dirty="0"/>
              <a:t>:</a:t>
            </a:r>
            <a:r>
              <a:rPr lang="en-US" i="1" dirty="0"/>
              <a:t> Uses intersections of </a:t>
            </a:r>
            <a:r>
              <a:rPr lang="en-US" i="1" dirty="0" err="1"/>
              <a:t>itemsets</a:t>
            </a:r>
            <a:r>
              <a:rPr lang="en-US" i="1" dirty="0"/>
              <a:t> to efficiently find frequent patterns.</a:t>
            </a:r>
          </a:p>
          <a:p>
            <a:pPr algn="just" fontAlgn="base"/>
            <a:r>
              <a:rPr lang="en-US" b="1" i="1" u="sng" dirty="0">
                <a:hlinkClick r:id="rId5"/>
              </a:rPr>
              <a:t>Efficient Tree-based Algorithms</a:t>
            </a:r>
            <a:r>
              <a:rPr lang="en-US" b="1" i="1" dirty="0"/>
              <a:t>:</a:t>
            </a:r>
            <a:r>
              <a:rPr lang="en-US" i="1" dirty="0"/>
              <a:t> Scales to handle large datasets by organizing data in tree structures.</a:t>
            </a:r>
          </a:p>
          <a:p>
            <a:pPr algn="just"/>
            <a:endParaRPr lang="en-IN" dirty="0"/>
          </a:p>
        </p:txBody>
      </p:sp>
      <p:sp>
        <p:nvSpPr>
          <p:cNvPr id="4" name="Slide Number Placeholder 3">
            <a:extLst>
              <a:ext uri="{FF2B5EF4-FFF2-40B4-BE49-F238E27FC236}">
                <a16:creationId xmlns:a16="http://schemas.microsoft.com/office/drawing/2014/main" id="{DA1B33B8-E654-AF85-9854-2C2B7AE12EA4}"/>
              </a:ext>
            </a:extLst>
          </p:cNvPr>
          <p:cNvSpPr>
            <a:spLocks noGrp="1"/>
          </p:cNvSpPr>
          <p:nvPr>
            <p:ph type="sldNum" sz="quarter" idx="7"/>
          </p:nvPr>
        </p:nvSpPr>
        <p:spPr/>
        <p:txBody>
          <a:bodyPr/>
          <a:lstStyle/>
          <a:p>
            <a:pPr marL="38100">
              <a:lnSpc>
                <a:spcPts val="1240"/>
              </a:lnSpc>
            </a:pPr>
            <a:fld id="{81D60167-4931-47E6-BA6A-407CBD079E47}" type="slidenum">
              <a:rPr lang="en-IN" spc="-25" smtClean="0"/>
              <a:t>54</a:t>
            </a:fld>
            <a:endParaRPr lang="en-IN" spc="-25" dirty="0"/>
          </a:p>
        </p:txBody>
      </p:sp>
    </p:spTree>
    <p:extLst>
      <p:ext uri="{BB962C8B-B14F-4D97-AF65-F5344CB8AC3E}">
        <p14:creationId xmlns:p14="http://schemas.microsoft.com/office/powerpoint/2010/main" val="1180914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6847F-372C-DD64-17A5-ACC44263C809}"/>
              </a:ext>
            </a:extLst>
          </p:cNvPr>
          <p:cNvSpPr>
            <a:spLocks noGrp="1"/>
          </p:cNvSpPr>
          <p:nvPr>
            <p:ph type="title"/>
          </p:nvPr>
        </p:nvSpPr>
        <p:spPr>
          <a:xfrm>
            <a:off x="916939" y="99441"/>
            <a:ext cx="9994900" cy="1354217"/>
          </a:xfrm>
        </p:spPr>
        <p:txBody>
          <a:bodyPr/>
          <a:lstStyle/>
          <a:p>
            <a:r>
              <a:rPr lang="en-IN" b="1" dirty="0"/>
              <a:t>Dimensionality Reduction</a:t>
            </a:r>
            <a:br>
              <a:rPr lang="en-IN" b="1" dirty="0"/>
            </a:br>
            <a:endParaRPr lang="en-IN" dirty="0"/>
          </a:p>
        </p:txBody>
      </p:sp>
      <p:sp>
        <p:nvSpPr>
          <p:cNvPr id="3" name="Text Placeholder 2">
            <a:extLst>
              <a:ext uri="{FF2B5EF4-FFF2-40B4-BE49-F238E27FC236}">
                <a16:creationId xmlns:a16="http://schemas.microsoft.com/office/drawing/2014/main" id="{E458275E-DC21-2A1E-6B13-16C6B76D7854}"/>
              </a:ext>
            </a:extLst>
          </p:cNvPr>
          <p:cNvSpPr>
            <a:spLocks noGrp="1"/>
          </p:cNvSpPr>
          <p:nvPr>
            <p:ph type="body" idx="1"/>
          </p:nvPr>
        </p:nvSpPr>
        <p:spPr>
          <a:xfrm>
            <a:off x="878714" y="1118868"/>
            <a:ext cx="10361929" cy="5408753"/>
          </a:xfrm>
        </p:spPr>
        <p:txBody>
          <a:bodyPr/>
          <a:lstStyle/>
          <a:p>
            <a:pPr marL="457200" indent="-457200" rtl="0" fontAlgn="base">
              <a:buFont typeface="Arial" panose="020B0604020202020204" pitchFamily="34" charset="0"/>
              <a:buChar char="•"/>
            </a:pPr>
            <a:r>
              <a:rPr lang="en-US" dirty="0"/>
              <a:t>It is the process of decreasing the number of features or variables in a dataset while retaining as much of the original information as possible. </a:t>
            </a:r>
          </a:p>
          <a:p>
            <a:pPr marL="457200" indent="-457200" rtl="0" fontAlgn="base">
              <a:buFont typeface="Arial" panose="020B0604020202020204" pitchFamily="34" charset="0"/>
              <a:buChar char="•"/>
            </a:pPr>
            <a:r>
              <a:rPr lang="en-US" dirty="0"/>
              <a:t>This technique helps simplify complex data making it easier to analyze and visualize. It also improves the efficiency and performance of machine learning algorithms by reducing noise and computational cost.</a:t>
            </a:r>
          </a:p>
          <a:p>
            <a:pPr marL="457200" indent="-457200" fontAlgn="base">
              <a:buFont typeface="Arial" panose="020B0604020202020204" pitchFamily="34" charset="0"/>
              <a:buChar char="•"/>
            </a:pPr>
            <a:r>
              <a:rPr lang="en-US" dirty="0"/>
              <a:t>It reduces the dataset’s feature space from many dimensions to fewer, more meaningful ones.</a:t>
            </a:r>
          </a:p>
          <a:p>
            <a:pPr marL="457200" indent="-457200" fontAlgn="base">
              <a:buFont typeface="Arial" panose="020B0604020202020204" pitchFamily="34" charset="0"/>
              <a:buChar char="•"/>
            </a:pPr>
            <a:r>
              <a:rPr lang="en-US" dirty="0"/>
              <a:t>Helps focus on the most important traits or patterns in the data.</a:t>
            </a:r>
          </a:p>
          <a:p>
            <a:pPr marL="457200" indent="-457200" fontAlgn="base">
              <a:buFont typeface="Arial" panose="020B0604020202020204" pitchFamily="34" charset="0"/>
              <a:buChar char="•"/>
            </a:pPr>
            <a:r>
              <a:rPr lang="en-US" dirty="0"/>
              <a:t>Commonly used to improve model speed and reduce overfitting.</a:t>
            </a:r>
          </a:p>
          <a:p>
            <a:pPr marL="457200" indent="-457200">
              <a:buFont typeface="Arial" panose="020B0604020202020204" pitchFamily="34" charset="0"/>
              <a:buChar char="•"/>
            </a:pPr>
            <a:endParaRPr lang="en-IN" dirty="0"/>
          </a:p>
        </p:txBody>
      </p:sp>
      <p:sp>
        <p:nvSpPr>
          <p:cNvPr id="4" name="Slide Number Placeholder 3">
            <a:extLst>
              <a:ext uri="{FF2B5EF4-FFF2-40B4-BE49-F238E27FC236}">
                <a16:creationId xmlns:a16="http://schemas.microsoft.com/office/drawing/2014/main" id="{71348E7A-C292-EADD-F4EA-06A364B4120C}"/>
              </a:ext>
            </a:extLst>
          </p:cNvPr>
          <p:cNvSpPr>
            <a:spLocks noGrp="1"/>
          </p:cNvSpPr>
          <p:nvPr>
            <p:ph type="sldNum" sz="quarter" idx="7"/>
          </p:nvPr>
        </p:nvSpPr>
        <p:spPr/>
        <p:txBody>
          <a:bodyPr/>
          <a:lstStyle/>
          <a:p>
            <a:pPr marL="38100">
              <a:lnSpc>
                <a:spcPts val="1240"/>
              </a:lnSpc>
            </a:pPr>
            <a:fld id="{81D60167-4931-47E6-BA6A-407CBD079E47}" type="slidenum">
              <a:rPr lang="en-IN" spc="-25" smtClean="0"/>
              <a:t>55</a:t>
            </a:fld>
            <a:endParaRPr lang="en-IN" spc="-25" dirty="0"/>
          </a:p>
        </p:txBody>
      </p:sp>
    </p:spTree>
    <p:extLst>
      <p:ext uri="{BB962C8B-B14F-4D97-AF65-F5344CB8AC3E}">
        <p14:creationId xmlns:p14="http://schemas.microsoft.com/office/powerpoint/2010/main" val="24375396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AE50AB-A2AF-5BB9-8D79-7493CDFE07FA}"/>
              </a:ext>
            </a:extLst>
          </p:cNvPr>
          <p:cNvSpPr>
            <a:spLocks noGrp="1"/>
          </p:cNvSpPr>
          <p:nvPr>
            <p:ph type="body" idx="1"/>
          </p:nvPr>
        </p:nvSpPr>
        <p:spPr>
          <a:xfrm>
            <a:off x="915035" y="609600"/>
            <a:ext cx="10361929" cy="5715000"/>
          </a:xfrm>
        </p:spPr>
        <p:txBody>
          <a:bodyPr/>
          <a:lstStyle/>
          <a:p>
            <a:pPr rtl="0" fontAlgn="base"/>
            <a:r>
              <a:rPr lang="en-IN" i="1" dirty="0"/>
              <a:t>Here are some popular Dimensionality Reduction algorithms:</a:t>
            </a:r>
          </a:p>
          <a:p>
            <a:pPr algn="just" fontAlgn="base"/>
            <a:r>
              <a:rPr lang="en-IN" b="1" i="1" u="sng" dirty="0">
                <a:hlinkClick r:id="rId2"/>
              </a:rPr>
              <a:t>Principal Component Analysis (PCA)</a:t>
            </a:r>
            <a:r>
              <a:rPr lang="en-IN" b="1" i="1" dirty="0"/>
              <a:t>: </a:t>
            </a:r>
            <a:r>
              <a:rPr lang="en-IN" i="1" dirty="0"/>
              <a:t>Reduces dimensions by transforming data into uncorrelated principal components.</a:t>
            </a:r>
          </a:p>
          <a:p>
            <a:pPr algn="just" fontAlgn="base"/>
            <a:r>
              <a:rPr lang="en-IN" b="1" i="1" u="sng" dirty="0">
                <a:hlinkClick r:id="rId3"/>
              </a:rPr>
              <a:t>Linear Discriminant Analysis (LDA)</a:t>
            </a:r>
            <a:r>
              <a:rPr lang="en-IN" b="1" i="1" dirty="0"/>
              <a:t>:</a:t>
            </a:r>
            <a:r>
              <a:rPr lang="en-IN" i="1" dirty="0"/>
              <a:t> Reduces dimensions while maximizing class separability for classification tasks.</a:t>
            </a:r>
          </a:p>
          <a:p>
            <a:pPr algn="just" fontAlgn="base"/>
            <a:r>
              <a:rPr lang="en-IN" b="1" i="1" u="sng" dirty="0">
                <a:hlinkClick r:id="rId4"/>
              </a:rPr>
              <a:t>Non-negative Matrix Factorization (NMF)</a:t>
            </a:r>
            <a:r>
              <a:rPr lang="en-IN" b="1" i="1" dirty="0"/>
              <a:t>:</a:t>
            </a:r>
            <a:r>
              <a:rPr lang="en-IN" i="1" dirty="0"/>
              <a:t> Breaks data into non-negative parts to simplify representation.</a:t>
            </a:r>
          </a:p>
          <a:p>
            <a:pPr algn="just" fontAlgn="base"/>
            <a:r>
              <a:rPr lang="en-IN" b="1" i="1" u="sng" dirty="0">
                <a:hlinkClick r:id="rId5"/>
              </a:rPr>
              <a:t>Locally Linear Embedding (LLE)</a:t>
            </a:r>
            <a:r>
              <a:rPr lang="en-IN" i="1" dirty="0"/>
              <a:t>: Reduces dimensions while preserving the relationships between nearby points.</a:t>
            </a:r>
          </a:p>
          <a:p>
            <a:pPr algn="just" fontAlgn="base"/>
            <a:r>
              <a:rPr lang="en-IN" b="1" i="1" u="sng" dirty="0" err="1">
                <a:hlinkClick r:id="rId6"/>
              </a:rPr>
              <a:t>Isomap</a:t>
            </a:r>
            <a:r>
              <a:rPr lang="en-IN" i="1" dirty="0"/>
              <a:t>: Captures global data structure by preserving distances along a manifold.</a:t>
            </a:r>
          </a:p>
          <a:p>
            <a:endParaRPr lang="en-IN" dirty="0"/>
          </a:p>
        </p:txBody>
      </p:sp>
      <p:sp>
        <p:nvSpPr>
          <p:cNvPr id="4" name="Slide Number Placeholder 3">
            <a:extLst>
              <a:ext uri="{FF2B5EF4-FFF2-40B4-BE49-F238E27FC236}">
                <a16:creationId xmlns:a16="http://schemas.microsoft.com/office/drawing/2014/main" id="{A33EB39B-42F1-731C-AAEE-F648E24533B7}"/>
              </a:ext>
            </a:extLst>
          </p:cNvPr>
          <p:cNvSpPr>
            <a:spLocks noGrp="1"/>
          </p:cNvSpPr>
          <p:nvPr>
            <p:ph type="sldNum" sz="quarter" idx="7"/>
          </p:nvPr>
        </p:nvSpPr>
        <p:spPr/>
        <p:txBody>
          <a:bodyPr/>
          <a:lstStyle/>
          <a:p>
            <a:pPr marL="38100">
              <a:lnSpc>
                <a:spcPts val="1240"/>
              </a:lnSpc>
            </a:pPr>
            <a:fld id="{81D60167-4931-47E6-BA6A-407CBD079E47}" type="slidenum">
              <a:rPr lang="en-IN" spc="-25" smtClean="0"/>
              <a:t>56</a:t>
            </a:fld>
            <a:endParaRPr lang="en-IN" spc="-25" dirty="0"/>
          </a:p>
        </p:txBody>
      </p:sp>
    </p:spTree>
    <p:extLst>
      <p:ext uri="{BB962C8B-B14F-4D97-AF65-F5344CB8AC3E}">
        <p14:creationId xmlns:p14="http://schemas.microsoft.com/office/powerpoint/2010/main" val="4082317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596222A-AD15-9E67-2BBC-E91103433F4C}"/>
              </a:ext>
            </a:extLst>
          </p:cNvPr>
          <p:cNvSpPr>
            <a:spLocks noGrp="1"/>
          </p:cNvSpPr>
          <p:nvPr>
            <p:ph type="sldNum" sz="quarter" idx="7"/>
          </p:nvPr>
        </p:nvSpPr>
        <p:spPr/>
        <p:txBody>
          <a:bodyPr/>
          <a:lstStyle/>
          <a:p>
            <a:pPr marL="38100">
              <a:lnSpc>
                <a:spcPts val="1240"/>
              </a:lnSpc>
            </a:pPr>
            <a:fld id="{81D60167-4931-47E6-BA6A-407CBD079E47}" type="slidenum">
              <a:rPr lang="en-IN" spc="-25" smtClean="0"/>
              <a:t>57</a:t>
            </a:fld>
            <a:endParaRPr lang="en-IN" spc="-25" dirty="0"/>
          </a:p>
        </p:txBody>
      </p:sp>
      <p:pic>
        <p:nvPicPr>
          <p:cNvPr id="6" name="Picture 5">
            <a:extLst>
              <a:ext uri="{FF2B5EF4-FFF2-40B4-BE49-F238E27FC236}">
                <a16:creationId xmlns:a16="http://schemas.microsoft.com/office/drawing/2014/main" id="{58860817-AA8B-EFB6-9EF3-4AAAE2BDDBA1}"/>
              </a:ext>
            </a:extLst>
          </p:cNvPr>
          <p:cNvPicPr>
            <a:picLocks noChangeAspect="1"/>
          </p:cNvPicPr>
          <p:nvPr/>
        </p:nvPicPr>
        <p:blipFill>
          <a:blip r:embed="rId2"/>
          <a:stretch>
            <a:fillRect/>
          </a:stretch>
        </p:blipFill>
        <p:spPr>
          <a:xfrm>
            <a:off x="990600" y="609600"/>
            <a:ext cx="10322686" cy="5715000"/>
          </a:xfrm>
          <a:prstGeom prst="rect">
            <a:avLst/>
          </a:prstGeom>
        </p:spPr>
      </p:pic>
    </p:spTree>
    <p:extLst>
      <p:ext uri="{BB962C8B-B14F-4D97-AF65-F5344CB8AC3E}">
        <p14:creationId xmlns:p14="http://schemas.microsoft.com/office/powerpoint/2010/main" val="3173521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0961F8-90E6-84B4-BFDF-F8DCDF3F3965}"/>
              </a:ext>
            </a:extLst>
          </p:cNvPr>
          <p:cNvSpPr>
            <a:spLocks noGrp="1"/>
          </p:cNvSpPr>
          <p:nvPr>
            <p:ph type="sldNum" sz="quarter" idx="7"/>
          </p:nvPr>
        </p:nvSpPr>
        <p:spPr/>
        <p:txBody>
          <a:bodyPr/>
          <a:lstStyle/>
          <a:p>
            <a:pPr marL="38100">
              <a:lnSpc>
                <a:spcPts val="1240"/>
              </a:lnSpc>
            </a:pPr>
            <a:fld id="{81D60167-4931-47E6-BA6A-407CBD079E47}" type="slidenum">
              <a:rPr lang="en-IN" spc="-25" smtClean="0"/>
              <a:t>58</a:t>
            </a:fld>
            <a:endParaRPr lang="en-IN" spc="-25" dirty="0"/>
          </a:p>
        </p:txBody>
      </p:sp>
      <p:pic>
        <p:nvPicPr>
          <p:cNvPr id="6" name="Picture 5">
            <a:extLst>
              <a:ext uri="{FF2B5EF4-FFF2-40B4-BE49-F238E27FC236}">
                <a16:creationId xmlns:a16="http://schemas.microsoft.com/office/drawing/2014/main" id="{F2F34FD1-D676-13C0-9BE8-B481C364A00D}"/>
              </a:ext>
            </a:extLst>
          </p:cNvPr>
          <p:cNvPicPr>
            <a:picLocks noChangeAspect="1"/>
          </p:cNvPicPr>
          <p:nvPr/>
        </p:nvPicPr>
        <p:blipFill>
          <a:blip r:embed="rId2"/>
          <a:stretch>
            <a:fillRect/>
          </a:stretch>
        </p:blipFill>
        <p:spPr>
          <a:xfrm>
            <a:off x="838200" y="838200"/>
            <a:ext cx="10475086" cy="5105400"/>
          </a:xfrm>
          <a:prstGeom prst="rect">
            <a:avLst/>
          </a:prstGeom>
        </p:spPr>
      </p:pic>
    </p:spTree>
    <p:extLst>
      <p:ext uri="{BB962C8B-B14F-4D97-AF65-F5344CB8AC3E}">
        <p14:creationId xmlns:p14="http://schemas.microsoft.com/office/powerpoint/2010/main" val="28637312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3669AD-767E-08FC-29A6-9B3F921C07A6}"/>
              </a:ext>
            </a:extLst>
          </p:cNvPr>
          <p:cNvSpPr>
            <a:spLocks noGrp="1"/>
          </p:cNvSpPr>
          <p:nvPr>
            <p:ph type="sldNum" sz="quarter" idx="7"/>
          </p:nvPr>
        </p:nvSpPr>
        <p:spPr/>
        <p:txBody>
          <a:bodyPr/>
          <a:lstStyle/>
          <a:p>
            <a:pPr marL="38100">
              <a:lnSpc>
                <a:spcPts val="1240"/>
              </a:lnSpc>
            </a:pPr>
            <a:fld id="{81D60167-4931-47E6-BA6A-407CBD079E47}" type="slidenum">
              <a:rPr lang="en-IN" spc="-25" smtClean="0"/>
              <a:t>59</a:t>
            </a:fld>
            <a:endParaRPr lang="en-IN" spc="-25" dirty="0"/>
          </a:p>
        </p:txBody>
      </p:sp>
      <p:pic>
        <p:nvPicPr>
          <p:cNvPr id="6" name="Picture 5">
            <a:extLst>
              <a:ext uri="{FF2B5EF4-FFF2-40B4-BE49-F238E27FC236}">
                <a16:creationId xmlns:a16="http://schemas.microsoft.com/office/drawing/2014/main" id="{D94FC569-3931-E3FD-567E-C6F9F19D29E4}"/>
              </a:ext>
            </a:extLst>
          </p:cNvPr>
          <p:cNvPicPr>
            <a:picLocks noChangeAspect="1"/>
          </p:cNvPicPr>
          <p:nvPr/>
        </p:nvPicPr>
        <p:blipFill>
          <a:blip r:embed="rId2"/>
          <a:stretch>
            <a:fillRect/>
          </a:stretch>
        </p:blipFill>
        <p:spPr>
          <a:xfrm>
            <a:off x="838199" y="609600"/>
            <a:ext cx="10230611" cy="5855080"/>
          </a:xfrm>
          <a:prstGeom prst="rect">
            <a:avLst/>
          </a:prstGeom>
        </p:spPr>
      </p:pic>
    </p:spTree>
    <p:extLst>
      <p:ext uri="{BB962C8B-B14F-4D97-AF65-F5344CB8AC3E}">
        <p14:creationId xmlns:p14="http://schemas.microsoft.com/office/powerpoint/2010/main" val="18792864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99746" y="104029"/>
            <a:ext cx="10804117" cy="6721958"/>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t>60</a:t>
            </a:fld>
            <a:endParaRPr spc="-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BF2A534-5CA7-00D0-8895-9C69782C4D14}"/>
              </a:ext>
            </a:extLst>
          </p:cNvPr>
          <p:cNvSpPr>
            <a:spLocks noGrp="1"/>
          </p:cNvSpPr>
          <p:nvPr>
            <p:ph type="title"/>
          </p:nvPr>
        </p:nvSpPr>
        <p:spPr>
          <a:xfrm>
            <a:off x="916939" y="99440"/>
            <a:ext cx="9994900" cy="1272159"/>
          </a:xfrm>
        </p:spPr>
        <p:txBody>
          <a:bodyPr/>
          <a:lstStyle/>
          <a:p>
            <a:r>
              <a:rPr lang="en-US" b="1" dirty="0"/>
              <a:t>REINFORCEMENT LEARNING</a:t>
            </a:r>
            <a:endParaRPr lang="en-IN" b="1" dirty="0"/>
          </a:p>
        </p:txBody>
      </p:sp>
      <p:sp>
        <p:nvSpPr>
          <p:cNvPr id="2" name="Slide Number Placeholder 1">
            <a:extLst>
              <a:ext uri="{FF2B5EF4-FFF2-40B4-BE49-F238E27FC236}">
                <a16:creationId xmlns:a16="http://schemas.microsoft.com/office/drawing/2014/main" id="{F694F407-1163-5DA7-FE85-75E553B9556A}"/>
              </a:ext>
            </a:extLst>
          </p:cNvPr>
          <p:cNvSpPr>
            <a:spLocks noGrp="1"/>
          </p:cNvSpPr>
          <p:nvPr>
            <p:ph type="sldNum" sz="quarter" idx="7"/>
          </p:nvPr>
        </p:nvSpPr>
        <p:spPr/>
        <p:txBody>
          <a:bodyPr/>
          <a:lstStyle/>
          <a:p>
            <a:pPr marL="38100">
              <a:lnSpc>
                <a:spcPts val="1240"/>
              </a:lnSpc>
            </a:pPr>
            <a:fld id="{81D60167-4931-47E6-BA6A-407CBD079E47}" type="slidenum">
              <a:rPr lang="en-IN" spc="-25" smtClean="0"/>
              <a:t>61</a:t>
            </a:fld>
            <a:endParaRPr lang="en-IN" spc="-25" dirty="0"/>
          </a:p>
        </p:txBody>
      </p:sp>
      <p:pic>
        <p:nvPicPr>
          <p:cNvPr id="6" name="Picture 5">
            <a:extLst>
              <a:ext uri="{FF2B5EF4-FFF2-40B4-BE49-F238E27FC236}">
                <a16:creationId xmlns:a16="http://schemas.microsoft.com/office/drawing/2014/main" id="{8B3E9412-3A2B-4939-490F-91BDA80B79C1}"/>
              </a:ext>
            </a:extLst>
          </p:cNvPr>
          <p:cNvPicPr>
            <a:picLocks noChangeAspect="1"/>
          </p:cNvPicPr>
          <p:nvPr/>
        </p:nvPicPr>
        <p:blipFill>
          <a:blip r:embed="rId2"/>
          <a:stretch>
            <a:fillRect/>
          </a:stretch>
        </p:blipFill>
        <p:spPr>
          <a:xfrm>
            <a:off x="916938" y="1219200"/>
            <a:ext cx="9994899" cy="5423914"/>
          </a:xfrm>
          <a:prstGeom prst="rect">
            <a:avLst/>
          </a:prstGeom>
        </p:spPr>
      </p:pic>
    </p:spTree>
    <p:extLst>
      <p:ext uri="{BB962C8B-B14F-4D97-AF65-F5344CB8AC3E}">
        <p14:creationId xmlns:p14="http://schemas.microsoft.com/office/powerpoint/2010/main" val="1438699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4AE207-B765-013E-9206-1D3EA390FB91}"/>
              </a:ext>
            </a:extLst>
          </p:cNvPr>
          <p:cNvSpPr>
            <a:spLocks noGrp="1"/>
          </p:cNvSpPr>
          <p:nvPr>
            <p:ph type="sldNum" sz="quarter" idx="7"/>
          </p:nvPr>
        </p:nvSpPr>
        <p:spPr/>
        <p:txBody>
          <a:bodyPr/>
          <a:lstStyle/>
          <a:p>
            <a:pPr marL="38100">
              <a:lnSpc>
                <a:spcPts val="1240"/>
              </a:lnSpc>
            </a:pPr>
            <a:fld id="{81D60167-4931-47E6-BA6A-407CBD079E47}" type="slidenum">
              <a:rPr lang="en-IN" spc="-25" smtClean="0"/>
              <a:t>62</a:t>
            </a:fld>
            <a:endParaRPr lang="en-IN" spc="-25" dirty="0"/>
          </a:p>
        </p:txBody>
      </p:sp>
      <p:pic>
        <p:nvPicPr>
          <p:cNvPr id="6" name="Picture 5">
            <a:extLst>
              <a:ext uri="{FF2B5EF4-FFF2-40B4-BE49-F238E27FC236}">
                <a16:creationId xmlns:a16="http://schemas.microsoft.com/office/drawing/2014/main" id="{7B3B8364-FCA4-FF34-FEBA-5A53AB1FEDC4}"/>
              </a:ext>
            </a:extLst>
          </p:cNvPr>
          <p:cNvPicPr>
            <a:picLocks noChangeAspect="1"/>
          </p:cNvPicPr>
          <p:nvPr/>
        </p:nvPicPr>
        <p:blipFill>
          <a:blip r:embed="rId2"/>
          <a:stretch>
            <a:fillRect/>
          </a:stretch>
        </p:blipFill>
        <p:spPr>
          <a:xfrm>
            <a:off x="1066800" y="381000"/>
            <a:ext cx="10002011" cy="5714999"/>
          </a:xfrm>
          <a:prstGeom prst="rect">
            <a:avLst/>
          </a:prstGeom>
        </p:spPr>
      </p:pic>
    </p:spTree>
    <p:extLst>
      <p:ext uri="{BB962C8B-B14F-4D97-AF65-F5344CB8AC3E}">
        <p14:creationId xmlns:p14="http://schemas.microsoft.com/office/powerpoint/2010/main" val="9064770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575D1F-8C8F-7C8E-4D6C-53B95F1B1785}"/>
              </a:ext>
            </a:extLst>
          </p:cNvPr>
          <p:cNvSpPr>
            <a:spLocks noGrp="1"/>
          </p:cNvSpPr>
          <p:nvPr>
            <p:ph type="sldNum" sz="quarter" idx="7"/>
          </p:nvPr>
        </p:nvSpPr>
        <p:spPr/>
        <p:txBody>
          <a:bodyPr/>
          <a:lstStyle/>
          <a:p>
            <a:pPr marL="38100">
              <a:lnSpc>
                <a:spcPts val="1240"/>
              </a:lnSpc>
            </a:pPr>
            <a:fld id="{81D60167-4931-47E6-BA6A-407CBD079E47}" type="slidenum">
              <a:rPr lang="en-IN" spc="-25" smtClean="0"/>
              <a:t>63</a:t>
            </a:fld>
            <a:endParaRPr lang="en-IN" spc="-25" dirty="0"/>
          </a:p>
        </p:txBody>
      </p:sp>
      <p:pic>
        <p:nvPicPr>
          <p:cNvPr id="6" name="Picture 5">
            <a:extLst>
              <a:ext uri="{FF2B5EF4-FFF2-40B4-BE49-F238E27FC236}">
                <a16:creationId xmlns:a16="http://schemas.microsoft.com/office/drawing/2014/main" id="{4CDCFEC3-613A-D354-671B-5018B9CCF81D}"/>
              </a:ext>
            </a:extLst>
          </p:cNvPr>
          <p:cNvPicPr>
            <a:picLocks noChangeAspect="1"/>
          </p:cNvPicPr>
          <p:nvPr/>
        </p:nvPicPr>
        <p:blipFill>
          <a:blip r:embed="rId2"/>
          <a:stretch>
            <a:fillRect/>
          </a:stretch>
        </p:blipFill>
        <p:spPr>
          <a:xfrm>
            <a:off x="1295400" y="533400"/>
            <a:ext cx="9448800" cy="5791200"/>
          </a:xfrm>
          <a:prstGeom prst="rect">
            <a:avLst/>
          </a:prstGeom>
        </p:spPr>
      </p:pic>
    </p:spTree>
    <p:extLst>
      <p:ext uri="{BB962C8B-B14F-4D97-AF65-F5344CB8AC3E}">
        <p14:creationId xmlns:p14="http://schemas.microsoft.com/office/powerpoint/2010/main" val="12314208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64C499-2999-CCA0-5EF1-A146748B8C30}"/>
              </a:ext>
            </a:extLst>
          </p:cNvPr>
          <p:cNvSpPr>
            <a:spLocks noGrp="1"/>
          </p:cNvSpPr>
          <p:nvPr>
            <p:ph type="sldNum" sz="quarter" idx="7"/>
          </p:nvPr>
        </p:nvSpPr>
        <p:spPr/>
        <p:txBody>
          <a:bodyPr/>
          <a:lstStyle/>
          <a:p>
            <a:pPr marL="38100">
              <a:lnSpc>
                <a:spcPts val="1240"/>
              </a:lnSpc>
            </a:pPr>
            <a:fld id="{81D60167-4931-47E6-BA6A-407CBD079E47}" type="slidenum">
              <a:rPr lang="en-IN" spc="-25" smtClean="0"/>
              <a:t>64</a:t>
            </a:fld>
            <a:endParaRPr lang="en-IN" spc="-25" dirty="0"/>
          </a:p>
        </p:txBody>
      </p:sp>
      <p:pic>
        <p:nvPicPr>
          <p:cNvPr id="6" name="Picture 5">
            <a:extLst>
              <a:ext uri="{FF2B5EF4-FFF2-40B4-BE49-F238E27FC236}">
                <a16:creationId xmlns:a16="http://schemas.microsoft.com/office/drawing/2014/main" id="{F76B7926-1781-E1E1-FF19-21C1ED2C597D}"/>
              </a:ext>
            </a:extLst>
          </p:cNvPr>
          <p:cNvPicPr>
            <a:picLocks noChangeAspect="1"/>
          </p:cNvPicPr>
          <p:nvPr/>
        </p:nvPicPr>
        <p:blipFill>
          <a:blip r:embed="rId2"/>
          <a:stretch>
            <a:fillRect/>
          </a:stretch>
        </p:blipFill>
        <p:spPr>
          <a:xfrm>
            <a:off x="685800" y="533400"/>
            <a:ext cx="10627486" cy="5791200"/>
          </a:xfrm>
          <a:prstGeom prst="rect">
            <a:avLst/>
          </a:prstGeom>
        </p:spPr>
      </p:pic>
    </p:spTree>
    <p:extLst>
      <p:ext uri="{BB962C8B-B14F-4D97-AF65-F5344CB8AC3E}">
        <p14:creationId xmlns:p14="http://schemas.microsoft.com/office/powerpoint/2010/main" val="2135126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353C9A-3E29-42A9-686B-E3DFD3F5DA95}"/>
              </a:ext>
            </a:extLst>
          </p:cNvPr>
          <p:cNvSpPr>
            <a:spLocks noGrp="1"/>
          </p:cNvSpPr>
          <p:nvPr>
            <p:ph type="sldNum" sz="quarter" idx="7"/>
          </p:nvPr>
        </p:nvSpPr>
        <p:spPr/>
        <p:txBody>
          <a:bodyPr/>
          <a:lstStyle/>
          <a:p>
            <a:pPr marL="38100">
              <a:lnSpc>
                <a:spcPts val="1240"/>
              </a:lnSpc>
            </a:pPr>
            <a:fld id="{81D60167-4931-47E6-BA6A-407CBD079E47}" type="slidenum">
              <a:rPr lang="en-IN" spc="-25" smtClean="0"/>
              <a:t>65</a:t>
            </a:fld>
            <a:endParaRPr lang="en-IN" spc="-25" dirty="0"/>
          </a:p>
        </p:txBody>
      </p:sp>
      <p:pic>
        <p:nvPicPr>
          <p:cNvPr id="6" name="Picture 5">
            <a:extLst>
              <a:ext uri="{FF2B5EF4-FFF2-40B4-BE49-F238E27FC236}">
                <a16:creationId xmlns:a16="http://schemas.microsoft.com/office/drawing/2014/main" id="{EB681054-4D43-FED8-7551-0499C313B840}"/>
              </a:ext>
            </a:extLst>
          </p:cNvPr>
          <p:cNvPicPr>
            <a:picLocks noChangeAspect="1"/>
          </p:cNvPicPr>
          <p:nvPr/>
        </p:nvPicPr>
        <p:blipFill>
          <a:blip r:embed="rId2"/>
          <a:stretch>
            <a:fillRect/>
          </a:stretch>
        </p:blipFill>
        <p:spPr>
          <a:xfrm>
            <a:off x="990600" y="457200"/>
            <a:ext cx="9753600" cy="5791199"/>
          </a:xfrm>
          <a:prstGeom prst="rect">
            <a:avLst/>
          </a:prstGeom>
        </p:spPr>
      </p:pic>
    </p:spTree>
    <p:extLst>
      <p:ext uri="{BB962C8B-B14F-4D97-AF65-F5344CB8AC3E}">
        <p14:creationId xmlns:p14="http://schemas.microsoft.com/office/powerpoint/2010/main" val="7238728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A523025-B100-7402-D3F8-4A93B3E94B77}"/>
              </a:ext>
            </a:extLst>
          </p:cNvPr>
          <p:cNvSpPr>
            <a:spLocks noGrp="1"/>
          </p:cNvSpPr>
          <p:nvPr>
            <p:ph type="sldNum" sz="quarter" idx="7"/>
          </p:nvPr>
        </p:nvSpPr>
        <p:spPr/>
        <p:txBody>
          <a:bodyPr/>
          <a:lstStyle/>
          <a:p>
            <a:pPr marL="38100">
              <a:lnSpc>
                <a:spcPts val="1240"/>
              </a:lnSpc>
            </a:pPr>
            <a:fld id="{81D60167-4931-47E6-BA6A-407CBD079E47}" type="slidenum">
              <a:rPr lang="en-IN" spc="-25" smtClean="0"/>
              <a:t>66</a:t>
            </a:fld>
            <a:endParaRPr lang="en-IN" spc="-25" dirty="0"/>
          </a:p>
        </p:txBody>
      </p:sp>
      <p:pic>
        <p:nvPicPr>
          <p:cNvPr id="6" name="Picture 5">
            <a:extLst>
              <a:ext uri="{FF2B5EF4-FFF2-40B4-BE49-F238E27FC236}">
                <a16:creationId xmlns:a16="http://schemas.microsoft.com/office/drawing/2014/main" id="{D9E0D698-6D5F-FE20-B49C-650B3E1F2B7E}"/>
              </a:ext>
            </a:extLst>
          </p:cNvPr>
          <p:cNvPicPr>
            <a:picLocks noChangeAspect="1"/>
          </p:cNvPicPr>
          <p:nvPr/>
        </p:nvPicPr>
        <p:blipFill>
          <a:blip r:embed="rId2"/>
          <a:stretch>
            <a:fillRect/>
          </a:stretch>
        </p:blipFill>
        <p:spPr>
          <a:xfrm>
            <a:off x="533400" y="381000"/>
            <a:ext cx="10779886" cy="5765166"/>
          </a:xfrm>
          <a:prstGeom prst="rect">
            <a:avLst/>
          </a:prstGeom>
        </p:spPr>
      </p:pic>
    </p:spTree>
    <p:extLst>
      <p:ext uri="{BB962C8B-B14F-4D97-AF65-F5344CB8AC3E}">
        <p14:creationId xmlns:p14="http://schemas.microsoft.com/office/powerpoint/2010/main" val="983217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42505C-CC61-25E1-A3B2-8263A2A407CE}"/>
              </a:ext>
            </a:extLst>
          </p:cNvPr>
          <p:cNvSpPr>
            <a:spLocks noGrp="1"/>
          </p:cNvSpPr>
          <p:nvPr>
            <p:ph type="sldNum" sz="quarter" idx="7"/>
          </p:nvPr>
        </p:nvSpPr>
        <p:spPr/>
        <p:txBody>
          <a:bodyPr/>
          <a:lstStyle/>
          <a:p>
            <a:pPr marL="38100">
              <a:lnSpc>
                <a:spcPts val="1240"/>
              </a:lnSpc>
            </a:pPr>
            <a:fld id="{81D60167-4931-47E6-BA6A-407CBD079E47}" type="slidenum">
              <a:rPr lang="en-IN" spc="-25" smtClean="0"/>
              <a:t>67</a:t>
            </a:fld>
            <a:endParaRPr lang="en-IN" spc="-25" dirty="0"/>
          </a:p>
        </p:txBody>
      </p:sp>
      <p:pic>
        <p:nvPicPr>
          <p:cNvPr id="6" name="Picture 5">
            <a:extLst>
              <a:ext uri="{FF2B5EF4-FFF2-40B4-BE49-F238E27FC236}">
                <a16:creationId xmlns:a16="http://schemas.microsoft.com/office/drawing/2014/main" id="{4729AFE7-275C-2216-99B3-F08ABBBD4FB7}"/>
              </a:ext>
            </a:extLst>
          </p:cNvPr>
          <p:cNvPicPr>
            <a:picLocks noChangeAspect="1"/>
          </p:cNvPicPr>
          <p:nvPr/>
        </p:nvPicPr>
        <p:blipFill>
          <a:blip r:embed="rId2"/>
          <a:stretch>
            <a:fillRect/>
          </a:stretch>
        </p:blipFill>
        <p:spPr>
          <a:xfrm>
            <a:off x="990601" y="457200"/>
            <a:ext cx="10078210" cy="6185914"/>
          </a:xfrm>
          <a:prstGeom prst="rect">
            <a:avLst/>
          </a:prstGeom>
        </p:spPr>
      </p:pic>
    </p:spTree>
    <p:extLst>
      <p:ext uri="{BB962C8B-B14F-4D97-AF65-F5344CB8AC3E}">
        <p14:creationId xmlns:p14="http://schemas.microsoft.com/office/powerpoint/2010/main" val="17407227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A26FEA0-D4C6-2B2A-4843-872222D2EB84}"/>
              </a:ext>
            </a:extLst>
          </p:cNvPr>
          <p:cNvSpPr>
            <a:spLocks noGrp="1"/>
          </p:cNvSpPr>
          <p:nvPr>
            <p:ph type="sldNum" sz="quarter" idx="7"/>
          </p:nvPr>
        </p:nvSpPr>
        <p:spPr/>
        <p:txBody>
          <a:bodyPr/>
          <a:lstStyle/>
          <a:p>
            <a:pPr marL="38100">
              <a:lnSpc>
                <a:spcPts val="1240"/>
              </a:lnSpc>
            </a:pPr>
            <a:fld id="{81D60167-4931-47E6-BA6A-407CBD079E47}" type="slidenum">
              <a:rPr lang="en-IN" spc="-25" smtClean="0"/>
              <a:t>68</a:t>
            </a:fld>
            <a:endParaRPr lang="en-IN" spc="-25" dirty="0"/>
          </a:p>
        </p:txBody>
      </p:sp>
      <p:pic>
        <p:nvPicPr>
          <p:cNvPr id="6" name="Picture 5">
            <a:extLst>
              <a:ext uri="{FF2B5EF4-FFF2-40B4-BE49-F238E27FC236}">
                <a16:creationId xmlns:a16="http://schemas.microsoft.com/office/drawing/2014/main" id="{FB9EE201-D434-F1B8-EACA-6C5E7633E3FD}"/>
              </a:ext>
            </a:extLst>
          </p:cNvPr>
          <p:cNvPicPr>
            <a:picLocks noChangeAspect="1"/>
          </p:cNvPicPr>
          <p:nvPr/>
        </p:nvPicPr>
        <p:blipFill>
          <a:blip r:embed="rId2"/>
          <a:stretch>
            <a:fillRect/>
          </a:stretch>
        </p:blipFill>
        <p:spPr>
          <a:xfrm>
            <a:off x="838200" y="228600"/>
            <a:ext cx="10058400" cy="6414514"/>
          </a:xfrm>
          <a:prstGeom prst="rect">
            <a:avLst/>
          </a:prstGeom>
        </p:spPr>
      </p:pic>
    </p:spTree>
    <p:extLst>
      <p:ext uri="{BB962C8B-B14F-4D97-AF65-F5344CB8AC3E}">
        <p14:creationId xmlns:p14="http://schemas.microsoft.com/office/powerpoint/2010/main" val="8351699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D4A52-CA41-A805-C6F4-6A01804BC798}"/>
              </a:ext>
            </a:extLst>
          </p:cNvPr>
          <p:cNvSpPr>
            <a:spLocks noGrp="1"/>
          </p:cNvSpPr>
          <p:nvPr>
            <p:ph type="title"/>
          </p:nvPr>
        </p:nvSpPr>
        <p:spPr>
          <a:xfrm>
            <a:off x="381000" y="99441"/>
            <a:ext cx="11277599" cy="1354217"/>
          </a:xfrm>
        </p:spPr>
        <p:txBody>
          <a:bodyPr/>
          <a:lstStyle/>
          <a:p>
            <a:r>
              <a:rPr lang="en-US" b="1" dirty="0"/>
              <a:t>PERFORMANCE METRICS IN MACHINE LEARNING</a:t>
            </a:r>
            <a:endParaRPr lang="en-IN" b="1" dirty="0"/>
          </a:p>
        </p:txBody>
      </p:sp>
      <p:sp>
        <p:nvSpPr>
          <p:cNvPr id="3" name="Text Placeholder 2">
            <a:extLst>
              <a:ext uri="{FF2B5EF4-FFF2-40B4-BE49-F238E27FC236}">
                <a16:creationId xmlns:a16="http://schemas.microsoft.com/office/drawing/2014/main" id="{F67DB152-AF1D-F56B-BDBD-1E2E83DF369A}"/>
              </a:ext>
            </a:extLst>
          </p:cNvPr>
          <p:cNvSpPr>
            <a:spLocks noGrp="1"/>
          </p:cNvSpPr>
          <p:nvPr>
            <p:ph type="body" idx="1"/>
          </p:nvPr>
        </p:nvSpPr>
        <p:spPr>
          <a:xfrm>
            <a:off x="381001" y="762000"/>
            <a:ext cx="10895964" cy="4739759"/>
          </a:xfrm>
        </p:spPr>
        <p:txBody>
          <a:bodyPr/>
          <a:lstStyle/>
          <a:p>
            <a:pPr marL="457200" indent="-457200">
              <a:buFont typeface="Arial" panose="020B0604020202020204" pitchFamily="34" charset="0"/>
              <a:buChar char="•"/>
            </a:pPr>
            <a:r>
              <a:rPr lang="en-US" dirty="0"/>
              <a:t>When building machine learning models, it’s important to understand how well they perform. </a:t>
            </a:r>
          </a:p>
          <a:p>
            <a:pPr marL="457200" indent="-457200">
              <a:buFont typeface="Arial" panose="020B0604020202020204" pitchFamily="34" charset="0"/>
              <a:buChar char="•"/>
            </a:pPr>
            <a:r>
              <a:rPr lang="en-US" dirty="0"/>
              <a:t>Evaluation metrics help us to measure the effectiveness of our models. </a:t>
            </a:r>
          </a:p>
          <a:p>
            <a:pPr marL="457200" indent="-457200">
              <a:buFont typeface="Arial" panose="020B0604020202020204" pitchFamily="34" charset="0"/>
              <a:buChar char="•"/>
            </a:pPr>
            <a:r>
              <a:rPr lang="en-US" dirty="0"/>
              <a:t>Whether we are solving a classification problem, predicting continuous values or clustering data, selecting the right evaluation metric allows us to assess how well the model meets our goals. </a:t>
            </a:r>
          </a:p>
          <a:p>
            <a:pPr marL="457200" indent="-457200">
              <a:buFont typeface="Arial" panose="020B0604020202020204" pitchFamily="34" charset="0"/>
              <a:buChar char="•"/>
            </a:pPr>
            <a:r>
              <a:rPr lang="en-US" dirty="0"/>
              <a:t>We will see commonly used evaluation metrics and discuss how to choose the right metric for our model.</a:t>
            </a:r>
          </a:p>
          <a:p>
            <a:pPr marL="457200" indent="-457200">
              <a:buFont typeface="Arial" panose="020B0604020202020204" pitchFamily="34" charset="0"/>
              <a:buChar char="•"/>
            </a:pPr>
            <a:r>
              <a:rPr lang="en-US" dirty="0"/>
              <a:t>Classification metrics</a:t>
            </a:r>
          </a:p>
          <a:p>
            <a:pPr marL="457200" indent="-457200">
              <a:buFont typeface="Arial" panose="020B0604020202020204" pitchFamily="34" charset="0"/>
              <a:buChar char="•"/>
            </a:pPr>
            <a:r>
              <a:rPr lang="en-US" dirty="0"/>
              <a:t>Regression Metrics</a:t>
            </a:r>
          </a:p>
          <a:p>
            <a:pPr marL="457200" indent="-457200">
              <a:buFont typeface="Arial" panose="020B0604020202020204" pitchFamily="34" charset="0"/>
              <a:buChar char="•"/>
            </a:pPr>
            <a:r>
              <a:rPr lang="en-US" dirty="0"/>
              <a:t>Clustering Metrics</a:t>
            </a:r>
            <a:endParaRPr lang="en-IN" dirty="0"/>
          </a:p>
        </p:txBody>
      </p:sp>
      <p:sp>
        <p:nvSpPr>
          <p:cNvPr id="4" name="Slide Number Placeholder 3">
            <a:extLst>
              <a:ext uri="{FF2B5EF4-FFF2-40B4-BE49-F238E27FC236}">
                <a16:creationId xmlns:a16="http://schemas.microsoft.com/office/drawing/2014/main" id="{63D8D1AC-4CBB-36FE-4011-3A9A4121CFA0}"/>
              </a:ext>
            </a:extLst>
          </p:cNvPr>
          <p:cNvSpPr>
            <a:spLocks noGrp="1"/>
          </p:cNvSpPr>
          <p:nvPr>
            <p:ph type="sldNum" sz="quarter" idx="7"/>
          </p:nvPr>
        </p:nvSpPr>
        <p:spPr/>
        <p:txBody>
          <a:bodyPr/>
          <a:lstStyle/>
          <a:p>
            <a:pPr marL="38100">
              <a:lnSpc>
                <a:spcPts val="1240"/>
              </a:lnSpc>
            </a:pPr>
            <a:fld id="{81D60167-4931-47E6-BA6A-407CBD079E47}" type="slidenum">
              <a:rPr lang="en-IN" spc="-25" smtClean="0"/>
              <a:t>69</a:t>
            </a:fld>
            <a:endParaRPr lang="en-IN" spc="-25" dirty="0"/>
          </a:p>
        </p:txBody>
      </p:sp>
    </p:spTree>
    <p:extLst>
      <p:ext uri="{BB962C8B-B14F-4D97-AF65-F5344CB8AC3E}">
        <p14:creationId xmlns:p14="http://schemas.microsoft.com/office/powerpoint/2010/main" val="25168970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17F6DB-433E-9181-B40E-A0CAC865B723}"/>
              </a:ext>
            </a:extLst>
          </p:cNvPr>
          <p:cNvSpPr>
            <a:spLocks noGrp="1"/>
          </p:cNvSpPr>
          <p:nvPr>
            <p:ph type="title"/>
          </p:nvPr>
        </p:nvSpPr>
        <p:spPr>
          <a:xfrm>
            <a:off x="916939" y="99440"/>
            <a:ext cx="9994900" cy="1119759"/>
          </a:xfrm>
        </p:spPr>
        <p:txBody>
          <a:bodyPr/>
          <a:lstStyle/>
          <a:p>
            <a:r>
              <a:rPr lang="en-US" b="1" dirty="0"/>
              <a:t>CLASSIFICATION METRICS</a:t>
            </a:r>
            <a:endParaRPr lang="en-IN" b="1" dirty="0"/>
          </a:p>
        </p:txBody>
      </p:sp>
      <p:sp>
        <p:nvSpPr>
          <p:cNvPr id="4" name="Slide Number Placeholder 3">
            <a:extLst>
              <a:ext uri="{FF2B5EF4-FFF2-40B4-BE49-F238E27FC236}">
                <a16:creationId xmlns:a16="http://schemas.microsoft.com/office/drawing/2014/main" id="{E3B143E3-B3A6-A2C7-D118-2C7EB8D54519}"/>
              </a:ext>
            </a:extLst>
          </p:cNvPr>
          <p:cNvSpPr>
            <a:spLocks noGrp="1"/>
          </p:cNvSpPr>
          <p:nvPr>
            <p:ph type="sldNum" sz="quarter" idx="7"/>
          </p:nvPr>
        </p:nvSpPr>
        <p:spPr/>
        <p:txBody>
          <a:bodyPr/>
          <a:lstStyle/>
          <a:p>
            <a:pPr marL="38100">
              <a:lnSpc>
                <a:spcPts val="1240"/>
              </a:lnSpc>
            </a:pPr>
            <a:fld id="{81D60167-4931-47E6-BA6A-407CBD079E47}" type="slidenum">
              <a:rPr lang="en-IN" spc="-25" smtClean="0"/>
              <a:t>70</a:t>
            </a:fld>
            <a:endParaRPr lang="en-IN" spc="-25" dirty="0"/>
          </a:p>
        </p:txBody>
      </p:sp>
      <p:pic>
        <p:nvPicPr>
          <p:cNvPr id="6" name="Picture 5">
            <a:extLst>
              <a:ext uri="{FF2B5EF4-FFF2-40B4-BE49-F238E27FC236}">
                <a16:creationId xmlns:a16="http://schemas.microsoft.com/office/drawing/2014/main" id="{D180E1AD-1852-3432-C33A-1F0989575258}"/>
              </a:ext>
            </a:extLst>
          </p:cNvPr>
          <p:cNvPicPr>
            <a:picLocks noChangeAspect="1"/>
          </p:cNvPicPr>
          <p:nvPr/>
        </p:nvPicPr>
        <p:blipFill>
          <a:blip r:embed="rId2"/>
          <a:stretch>
            <a:fillRect/>
          </a:stretch>
        </p:blipFill>
        <p:spPr>
          <a:xfrm>
            <a:off x="914310" y="659319"/>
            <a:ext cx="9753689" cy="3303081"/>
          </a:xfrm>
          <a:prstGeom prst="rect">
            <a:avLst/>
          </a:prstGeom>
        </p:spPr>
      </p:pic>
      <p:pic>
        <p:nvPicPr>
          <p:cNvPr id="10" name="Picture 9">
            <a:extLst>
              <a:ext uri="{FF2B5EF4-FFF2-40B4-BE49-F238E27FC236}">
                <a16:creationId xmlns:a16="http://schemas.microsoft.com/office/drawing/2014/main" id="{591DF55C-BEA8-0480-839F-74B86B522CD5}"/>
              </a:ext>
            </a:extLst>
          </p:cNvPr>
          <p:cNvPicPr>
            <a:picLocks noChangeAspect="1"/>
          </p:cNvPicPr>
          <p:nvPr/>
        </p:nvPicPr>
        <p:blipFill>
          <a:blip r:embed="rId3"/>
          <a:stretch>
            <a:fillRect/>
          </a:stretch>
        </p:blipFill>
        <p:spPr>
          <a:xfrm>
            <a:off x="914310" y="3962401"/>
            <a:ext cx="9753689" cy="2895600"/>
          </a:xfrm>
          <a:prstGeom prst="rect">
            <a:avLst/>
          </a:prstGeom>
        </p:spPr>
      </p:pic>
    </p:spTree>
    <p:extLst>
      <p:ext uri="{BB962C8B-B14F-4D97-AF65-F5344CB8AC3E}">
        <p14:creationId xmlns:p14="http://schemas.microsoft.com/office/powerpoint/2010/main" val="20120145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9BB262-D520-6786-964E-EA39B13BF72A}"/>
              </a:ext>
            </a:extLst>
          </p:cNvPr>
          <p:cNvSpPr>
            <a:spLocks noGrp="1"/>
          </p:cNvSpPr>
          <p:nvPr>
            <p:ph type="sldNum" sz="quarter" idx="7"/>
          </p:nvPr>
        </p:nvSpPr>
        <p:spPr/>
        <p:txBody>
          <a:bodyPr/>
          <a:lstStyle/>
          <a:p>
            <a:pPr marL="38100">
              <a:lnSpc>
                <a:spcPts val="1240"/>
              </a:lnSpc>
            </a:pPr>
            <a:fld id="{81D60167-4931-47E6-BA6A-407CBD079E47}" type="slidenum">
              <a:rPr lang="en-IN" spc="-25" smtClean="0"/>
              <a:t>71</a:t>
            </a:fld>
            <a:endParaRPr lang="en-IN" spc="-25" dirty="0"/>
          </a:p>
        </p:txBody>
      </p:sp>
      <p:pic>
        <p:nvPicPr>
          <p:cNvPr id="6" name="Picture 5">
            <a:extLst>
              <a:ext uri="{FF2B5EF4-FFF2-40B4-BE49-F238E27FC236}">
                <a16:creationId xmlns:a16="http://schemas.microsoft.com/office/drawing/2014/main" id="{F755C110-CCA1-FA20-714D-FFED7614D2CB}"/>
              </a:ext>
            </a:extLst>
          </p:cNvPr>
          <p:cNvPicPr>
            <a:picLocks noChangeAspect="1"/>
          </p:cNvPicPr>
          <p:nvPr/>
        </p:nvPicPr>
        <p:blipFill>
          <a:blip r:embed="rId2"/>
          <a:stretch>
            <a:fillRect/>
          </a:stretch>
        </p:blipFill>
        <p:spPr>
          <a:xfrm>
            <a:off x="838200" y="457200"/>
            <a:ext cx="10591799" cy="6007480"/>
          </a:xfrm>
          <a:prstGeom prst="rect">
            <a:avLst/>
          </a:prstGeom>
        </p:spPr>
      </p:pic>
    </p:spTree>
    <p:extLst>
      <p:ext uri="{BB962C8B-B14F-4D97-AF65-F5344CB8AC3E}">
        <p14:creationId xmlns:p14="http://schemas.microsoft.com/office/powerpoint/2010/main" val="34631898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C06BEFD-2AE0-04A4-2575-405526762FEB}"/>
              </a:ext>
            </a:extLst>
          </p:cNvPr>
          <p:cNvSpPr>
            <a:spLocks noGrp="1"/>
          </p:cNvSpPr>
          <p:nvPr>
            <p:ph type="sldNum" sz="quarter" idx="7"/>
          </p:nvPr>
        </p:nvSpPr>
        <p:spPr/>
        <p:txBody>
          <a:bodyPr/>
          <a:lstStyle/>
          <a:p>
            <a:pPr marL="38100">
              <a:lnSpc>
                <a:spcPts val="1240"/>
              </a:lnSpc>
            </a:pPr>
            <a:fld id="{81D60167-4931-47E6-BA6A-407CBD079E47}" type="slidenum">
              <a:rPr lang="en-IN" spc="-25" smtClean="0"/>
              <a:t>72</a:t>
            </a:fld>
            <a:endParaRPr lang="en-IN" spc="-25" dirty="0"/>
          </a:p>
        </p:txBody>
      </p:sp>
      <p:pic>
        <p:nvPicPr>
          <p:cNvPr id="6" name="Picture 5">
            <a:extLst>
              <a:ext uri="{FF2B5EF4-FFF2-40B4-BE49-F238E27FC236}">
                <a16:creationId xmlns:a16="http://schemas.microsoft.com/office/drawing/2014/main" id="{E67E5AC5-E974-B67B-B9CB-23D21841033E}"/>
              </a:ext>
            </a:extLst>
          </p:cNvPr>
          <p:cNvPicPr>
            <a:picLocks noChangeAspect="1"/>
          </p:cNvPicPr>
          <p:nvPr/>
        </p:nvPicPr>
        <p:blipFill>
          <a:blip r:embed="rId2"/>
          <a:stretch>
            <a:fillRect/>
          </a:stretch>
        </p:blipFill>
        <p:spPr>
          <a:xfrm>
            <a:off x="990600" y="381000"/>
            <a:ext cx="9829800" cy="6083680"/>
          </a:xfrm>
          <a:prstGeom prst="rect">
            <a:avLst/>
          </a:prstGeom>
        </p:spPr>
      </p:pic>
    </p:spTree>
    <p:extLst>
      <p:ext uri="{BB962C8B-B14F-4D97-AF65-F5344CB8AC3E}">
        <p14:creationId xmlns:p14="http://schemas.microsoft.com/office/powerpoint/2010/main" val="19347043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8FA468-74C5-9731-620D-A18359A39803}"/>
              </a:ext>
            </a:extLst>
          </p:cNvPr>
          <p:cNvSpPr>
            <a:spLocks noGrp="1"/>
          </p:cNvSpPr>
          <p:nvPr>
            <p:ph type="sldNum" sz="quarter" idx="7"/>
          </p:nvPr>
        </p:nvSpPr>
        <p:spPr/>
        <p:txBody>
          <a:bodyPr/>
          <a:lstStyle/>
          <a:p>
            <a:pPr marL="38100">
              <a:lnSpc>
                <a:spcPts val="1240"/>
              </a:lnSpc>
            </a:pPr>
            <a:fld id="{81D60167-4931-47E6-BA6A-407CBD079E47}" type="slidenum">
              <a:rPr lang="en-IN" spc="-25" smtClean="0"/>
              <a:t>73</a:t>
            </a:fld>
            <a:endParaRPr lang="en-IN" spc="-25" dirty="0"/>
          </a:p>
        </p:txBody>
      </p:sp>
      <p:pic>
        <p:nvPicPr>
          <p:cNvPr id="6" name="Picture 5">
            <a:extLst>
              <a:ext uri="{FF2B5EF4-FFF2-40B4-BE49-F238E27FC236}">
                <a16:creationId xmlns:a16="http://schemas.microsoft.com/office/drawing/2014/main" id="{2990538E-3D88-3E1C-CF9F-B639723BC43A}"/>
              </a:ext>
            </a:extLst>
          </p:cNvPr>
          <p:cNvPicPr>
            <a:picLocks noChangeAspect="1"/>
          </p:cNvPicPr>
          <p:nvPr/>
        </p:nvPicPr>
        <p:blipFill>
          <a:blip r:embed="rId2"/>
          <a:stretch>
            <a:fillRect/>
          </a:stretch>
        </p:blipFill>
        <p:spPr>
          <a:xfrm>
            <a:off x="1295400" y="533400"/>
            <a:ext cx="9601200" cy="5638799"/>
          </a:xfrm>
          <a:prstGeom prst="rect">
            <a:avLst/>
          </a:prstGeom>
        </p:spPr>
      </p:pic>
    </p:spTree>
    <p:extLst>
      <p:ext uri="{BB962C8B-B14F-4D97-AF65-F5344CB8AC3E}">
        <p14:creationId xmlns:p14="http://schemas.microsoft.com/office/powerpoint/2010/main" val="22136875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F49D91F-AA8A-2EBE-A3CF-C6EBB8E53882}"/>
              </a:ext>
            </a:extLst>
          </p:cNvPr>
          <p:cNvSpPr>
            <a:spLocks noGrp="1"/>
          </p:cNvSpPr>
          <p:nvPr>
            <p:ph type="sldNum" sz="quarter" idx="7"/>
          </p:nvPr>
        </p:nvSpPr>
        <p:spPr/>
        <p:txBody>
          <a:bodyPr/>
          <a:lstStyle/>
          <a:p>
            <a:pPr marL="38100">
              <a:lnSpc>
                <a:spcPts val="1240"/>
              </a:lnSpc>
            </a:pPr>
            <a:fld id="{81D60167-4931-47E6-BA6A-407CBD079E47}" type="slidenum">
              <a:rPr lang="en-IN" spc="-25" smtClean="0"/>
              <a:t>74</a:t>
            </a:fld>
            <a:endParaRPr lang="en-IN" spc="-25" dirty="0"/>
          </a:p>
        </p:txBody>
      </p:sp>
      <p:pic>
        <p:nvPicPr>
          <p:cNvPr id="6" name="Picture 5">
            <a:extLst>
              <a:ext uri="{FF2B5EF4-FFF2-40B4-BE49-F238E27FC236}">
                <a16:creationId xmlns:a16="http://schemas.microsoft.com/office/drawing/2014/main" id="{24D0E727-BB02-308E-0AE9-18564F62DF19}"/>
              </a:ext>
            </a:extLst>
          </p:cNvPr>
          <p:cNvPicPr>
            <a:picLocks noChangeAspect="1"/>
          </p:cNvPicPr>
          <p:nvPr/>
        </p:nvPicPr>
        <p:blipFill>
          <a:blip r:embed="rId2"/>
          <a:stretch>
            <a:fillRect/>
          </a:stretch>
        </p:blipFill>
        <p:spPr>
          <a:xfrm>
            <a:off x="685800" y="609600"/>
            <a:ext cx="9982200" cy="5410200"/>
          </a:xfrm>
          <a:prstGeom prst="rect">
            <a:avLst/>
          </a:prstGeom>
        </p:spPr>
      </p:pic>
    </p:spTree>
    <p:extLst>
      <p:ext uri="{BB962C8B-B14F-4D97-AF65-F5344CB8AC3E}">
        <p14:creationId xmlns:p14="http://schemas.microsoft.com/office/powerpoint/2010/main" val="34755637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9F7A3C9-7BA0-56EC-7F1B-3EF523BA7AC8}"/>
              </a:ext>
            </a:extLst>
          </p:cNvPr>
          <p:cNvSpPr>
            <a:spLocks noGrp="1"/>
          </p:cNvSpPr>
          <p:nvPr>
            <p:ph type="sldNum" sz="quarter" idx="7"/>
          </p:nvPr>
        </p:nvSpPr>
        <p:spPr/>
        <p:txBody>
          <a:bodyPr/>
          <a:lstStyle/>
          <a:p>
            <a:pPr marL="38100">
              <a:lnSpc>
                <a:spcPts val="1240"/>
              </a:lnSpc>
            </a:pPr>
            <a:fld id="{81D60167-4931-47E6-BA6A-407CBD079E47}" type="slidenum">
              <a:rPr lang="en-IN" spc="-25" smtClean="0"/>
              <a:t>75</a:t>
            </a:fld>
            <a:endParaRPr lang="en-IN" spc="-25" dirty="0"/>
          </a:p>
        </p:txBody>
      </p:sp>
      <p:pic>
        <p:nvPicPr>
          <p:cNvPr id="6" name="Picture 5">
            <a:extLst>
              <a:ext uri="{FF2B5EF4-FFF2-40B4-BE49-F238E27FC236}">
                <a16:creationId xmlns:a16="http://schemas.microsoft.com/office/drawing/2014/main" id="{D23BAAE8-15B0-F1EB-2610-FE95E04CAC18}"/>
              </a:ext>
            </a:extLst>
          </p:cNvPr>
          <p:cNvPicPr>
            <a:picLocks noChangeAspect="1"/>
          </p:cNvPicPr>
          <p:nvPr/>
        </p:nvPicPr>
        <p:blipFill>
          <a:blip r:embed="rId2"/>
          <a:stretch>
            <a:fillRect/>
          </a:stretch>
        </p:blipFill>
        <p:spPr>
          <a:xfrm>
            <a:off x="990600" y="685800"/>
            <a:ext cx="9906000" cy="4953000"/>
          </a:xfrm>
          <a:prstGeom prst="rect">
            <a:avLst/>
          </a:prstGeom>
        </p:spPr>
      </p:pic>
    </p:spTree>
    <p:extLst>
      <p:ext uri="{BB962C8B-B14F-4D97-AF65-F5344CB8AC3E}">
        <p14:creationId xmlns:p14="http://schemas.microsoft.com/office/powerpoint/2010/main" val="34735419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E69B60-274A-7EB5-2058-DC88F4550E59}"/>
              </a:ext>
            </a:extLst>
          </p:cNvPr>
          <p:cNvSpPr>
            <a:spLocks noGrp="1"/>
          </p:cNvSpPr>
          <p:nvPr>
            <p:ph type="sldNum" sz="quarter" idx="7"/>
          </p:nvPr>
        </p:nvSpPr>
        <p:spPr/>
        <p:txBody>
          <a:bodyPr/>
          <a:lstStyle/>
          <a:p>
            <a:pPr marL="38100">
              <a:lnSpc>
                <a:spcPts val="1240"/>
              </a:lnSpc>
            </a:pPr>
            <a:fld id="{81D60167-4931-47E6-BA6A-407CBD079E47}" type="slidenum">
              <a:rPr lang="en-IN" spc="-25" smtClean="0"/>
              <a:t>76</a:t>
            </a:fld>
            <a:endParaRPr lang="en-IN" spc="-25" dirty="0"/>
          </a:p>
        </p:txBody>
      </p:sp>
      <p:pic>
        <p:nvPicPr>
          <p:cNvPr id="6" name="Picture 5">
            <a:extLst>
              <a:ext uri="{FF2B5EF4-FFF2-40B4-BE49-F238E27FC236}">
                <a16:creationId xmlns:a16="http://schemas.microsoft.com/office/drawing/2014/main" id="{825B48EC-3F0B-F15C-B5A5-6B67238B6D24}"/>
              </a:ext>
            </a:extLst>
          </p:cNvPr>
          <p:cNvPicPr>
            <a:picLocks noChangeAspect="1"/>
          </p:cNvPicPr>
          <p:nvPr/>
        </p:nvPicPr>
        <p:blipFill>
          <a:blip r:embed="rId2"/>
          <a:stretch>
            <a:fillRect/>
          </a:stretch>
        </p:blipFill>
        <p:spPr>
          <a:xfrm>
            <a:off x="990600" y="533400"/>
            <a:ext cx="10591800" cy="5334000"/>
          </a:xfrm>
          <a:prstGeom prst="rect">
            <a:avLst/>
          </a:prstGeom>
        </p:spPr>
      </p:pic>
    </p:spTree>
    <p:extLst>
      <p:ext uri="{BB962C8B-B14F-4D97-AF65-F5344CB8AC3E}">
        <p14:creationId xmlns:p14="http://schemas.microsoft.com/office/powerpoint/2010/main" val="23952309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03DF45-EA3C-1567-F5FD-5D4BE2C205D1}"/>
              </a:ext>
            </a:extLst>
          </p:cNvPr>
          <p:cNvSpPr>
            <a:spLocks noGrp="1"/>
          </p:cNvSpPr>
          <p:nvPr>
            <p:ph type="sldNum" sz="quarter" idx="7"/>
          </p:nvPr>
        </p:nvSpPr>
        <p:spPr/>
        <p:txBody>
          <a:bodyPr/>
          <a:lstStyle/>
          <a:p>
            <a:pPr marL="38100">
              <a:lnSpc>
                <a:spcPts val="1240"/>
              </a:lnSpc>
            </a:pPr>
            <a:fld id="{81D60167-4931-47E6-BA6A-407CBD079E47}" type="slidenum">
              <a:rPr lang="en-IN" spc="-25" smtClean="0"/>
              <a:t>77</a:t>
            </a:fld>
            <a:endParaRPr lang="en-IN" spc="-25" dirty="0"/>
          </a:p>
        </p:txBody>
      </p:sp>
      <p:pic>
        <p:nvPicPr>
          <p:cNvPr id="6" name="Picture 5">
            <a:extLst>
              <a:ext uri="{FF2B5EF4-FFF2-40B4-BE49-F238E27FC236}">
                <a16:creationId xmlns:a16="http://schemas.microsoft.com/office/drawing/2014/main" id="{9EFFA0A7-F6C1-1FBB-A898-0C04AE0A77F2}"/>
              </a:ext>
            </a:extLst>
          </p:cNvPr>
          <p:cNvPicPr>
            <a:picLocks noChangeAspect="1"/>
          </p:cNvPicPr>
          <p:nvPr/>
        </p:nvPicPr>
        <p:blipFill>
          <a:blip r:embed="rId2"/>
          <a:stretch>
            <a:fillRect/>
          </a:stretch>
        </p:blipFill>
        <p:spPr>
          <a:xfrm>
            <a:off x="914400" y="381000"/>
            <a:ext cx="9906000" cy="5943600"/>
          </a:xfrm>
          <a:prstGeom prst="rect">
            <a:avLst/>
          </a:prstGeom>
        </p:spPr>
      </p:pic>
    </p:spTree>
    <p:extLst>
      <p:ext uri="{BB962C8B-B14F-4D97-AF65-F5344CB8AC3E}">
        <p14:creationId xmlns:p14="http://schemas.microsoft.com/office/powerpoint/2010/main" val="30132995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694D17-7D58-6CC0-0482-E2A08388DF5D}"/>
              </a:ext>
            </a:extLst>
          </p:cNvPr>
          <p:cNvSpPr>
            <a:spLocks noGrp="1"/>
          </p:cNvSpPr>
          <p:nvPr>
            <p:ph type="sldNum" sz="quarter" idx="7"/>
          </p:nvPr>
        </p:nvSpPr>
        <p:spPr/>
        <p:txBody>
          <a:bodyPr/>
          <a:lstStyle/>
          <a:p>
            <a:pPr marL="38100">
              <a:lnSpc>
                <a:spcPts val="1240"/>
              </a:lnSpc>
            </a:pPr>
            <a:fld id="{81D60167-4931-47E6-BA6A-407CBD079E47}" type="slidenum">
              <a:rPr lang="en-IN" spc="-25" smtClean="0"/>
              <a:t>78</a:t>
            </a:fld>
            <a:endParaRPr lang="en-IN" spc="-25" dirty="0"/>
          </a:p>
        </p:txBody>
      </p:sp>
      <p:pic>
        <p:nvPicPr>
          <p:cNvPr id="6" name="Picture 5">
            <a:extLst>
              <a:ext uri="{FF2B5EF4-FFF2-40B4-BE49-F238E27FC236}">
                <a16:creationId xmlns:a16="http://schemas.microsoft.com/office/drawing/2014/main" id="{9D013F63-896F-6892-6DFC-09BBBF4B488C}"/>
              </a:ext>
            </a:extLst>
          </p:cNvPr>
          <p:cNvPicPr>
            <a:picLocks noChangeAspect="1"/>
          </p:cNvPicPr>
          <p:nvPr/>
        </p:nvPicPr>
        <p:blipFill>
          <a:blip r:embed="rId2"/>
          <a:stretch>
            <a:fillRect/>
          </a:stretch>
        </p:blipFill>
        <p:spPr>
          <a:xfrm>
            <a:off x="914400" y="685800"/>
            <a:ext cx="10286999" cy="5486400"/>
          </a:xfrm>
          <a:prstGeom prst="rect">
            <a:avLst/>
          </a:prstGeom>
        </p:spPr>
      </p:pic>
    </p:spTree>
    <p:extLst>
      <p:ext uri="{BB962C8B-B14F-4D97-AF65-F5344CB8AC3E}">
        <p14:creationId xmlns:p14="http://schemas.microsoft.com/office/powerpoint/2010/main" val="29751490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1661</TotalTime>
  <Words>3846</Words>
  <Application>Microsoft Office PowerPoint</Application>
  <PresentationFormat>Widescreen</PresentationFormat>
  <Paragraphs>468</Paragraphs>
  <Slides>78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78</vt:i4>
      </vt:variant>
    </vt:vector>
  </HeadingPairs>
  <TitlesOfParts>
    <vt:vector size="84" baseType="lpstr">
      <vt:lpstr>Arial</vt:lpstr>
      <vt:lpstr>Arial MT</vt:lpstr>
      <vt:lpstr>Calibri</vt:lpstr>
      <vt:lpstr>Calibri Light</vt:lpstr>
      <vt:lpstr>Google Sans</vt:lpstr>
      <vt:lpstr>Office Theme</vt:lpstr>
      <vt:lpstr>Unit-4 MACHINE LEARNING: 6 Hours</vt:lpstr>
      <vt:lpstr>What is Machine Learning</vt:lpstr>
      <vt:lpstr>PowerPoint Presentation</vt:lpstr>
      <vt:lpstr>PowerPoint Presentation</vt:lpstr>
      <vt:lpstr>PowerPoint Presentation</vt:lpstr>
      <vt:lpstr>PowerPoint Presentation</vt:lpstr>
      <vt:lpstr>PowerPoint Presentation</vt:lpstr>
      <vt:lpstr>PowerPoint Presentation</vt:lpstr>
      <vt:lpstr>MACHINE LEARNING TERMINOLOGY</vt:lpstr>
      <vt:lpstr>PowerPoint Presentation</vt:lpstr>
      <vt:lpstr>PowerPoint Presentation</vt:lpstr>
      <vt:lpstr>PowerPoint Presentation</vt:lpstr>
      <vt:lpstr>Supervised Machine Learning </vt:lpstr>
      <vt:lpstr>Unsupervised Machine Learning</vt:lpstr>
      <vt:lpstr>PowerPoint Presentation</vt:lpstr>
      <vt:lpstr>Features of Machine Learning</vt:lpstr>
      <vt:lpstr>PowerPoint Presentation</vt:lpstr>
      <vt:lpstr>Need for Machine Learning</vt:lpstr>
      <vt:lpstr>PowerPoint Presentation</vt:lpstr>
      <vt:lpstr>Machine learning Life cycle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SUPERVISED MACHINE LEARNING</vt:lpstr>
      <vt:lpstr>PowerPoint Presentation</vt:lpstr>
      <vt:lpstr>PowerPoint Presentation</vt:lpstr>
      <vt:lpstr>PowerPoint Presentation</vt:lpstr>
      <vt:lpstr>Let's first understand the classification and regression data through the table below:</vt:lpstr>
      <vt:lpstr>PowerPoint Presentation</vt:lpstr>
      <vt:lpstr>Working of Supervised Machine Learning </vt:lpstr>
      <vt:lpstr>PowerPoint Presentation</vt:lpstr>
      <vt:lpstr>Supervised Machine Learning Algorithms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UNSUPERVISED MACHINE LEARNING</vt:lpstr>
      <vt:lpstr>PowerPoint Presentation</vt:lpstr>
      <vt:lpstr>PowerPoint Presentation</vt:lpstr>
      <vt:lpstr>WORKING OF UNSUPERVISED MACHINE LEARNING</vt:lpstr>
      <vt:lpstr>PowerPoint Presentation</vt:lpstr>
      <vt:lpstr>UNSUPERVISED MACHINE LEARNING ALGORITHMS</vt:lpstr>
      <vt:lpstr>Clustering Algorithms</vt:lpstr>
      <vt:lpstr>PowerPoint Presentation</vt:lpstr>
      <vt:lpstr>Association Rule Learning</vt:lpstr>
      <vt:lpstr>PowerPoint Presentation</vt:lpstr>
      <vt:lpstr>Dimensionality Reduction </vt:lpstr>
      <vt:lpstr>PowerPoint Presentation</vt:lpstr>
      <vt:lpstr>PowerPoint Presentation</vt:lpstr>
      <vt:lpstr>PowerPoint Presentation</vt:lpstr>
      <vt:lpstr>PowerPoint Presentation</vt:lpstr>
      <vt:lpstr>PowerPoint Presentation</vt:lpstr>
      <vt:lpstr>REINFORCEMENT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PERFORMANCE METRICS IN MACHINE LEARNING</vt:lpstr>
      <vt:lpstr>CLASSIFICATION METRICS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Jahida Khan</cp:lastModifiedBy>
  <cp:revision>31</cp:revision>
  <dcterms:created xsi:type="dcterms:W3CDTF">2025-03-26T08:53:06Z</dcterms:created>
  <dcterms:modified xsi:type="dcterms:W3CDTF">2025-10-28T05:19:03Z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2024-10-10T00:00:00Z</vt:filetime>
  </property>
  <property fmtid="{D5CDD505-2E9C-101B-9397-08002B2CF9AE}" pid="3" name="Creator">
    <vt:lpwstr>Microsoft® PowerPoint® 2019</vt:lpwstr>
  </property>
  <property fmtid="{D5CDD505-2E9C-101B-9397-08002B2CF9AE}" pid="4" name="LastSaved">
    <vt:filetime>2025-03-26T00:00:00Z</vt:filetime>
  </property>
  <property fmtid="{D5CDD505-2E9C-101B-9397-08002B2CF9AE}" pid="5" name="Producer">
    <vt:lpwstr>Microsoft® PowerPoint® 2019</vt:lpwstr>
  </property>
</Properties>
</file>